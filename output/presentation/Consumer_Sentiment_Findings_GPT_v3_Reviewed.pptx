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2.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3.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4.xml" ContentType="application/vnd.openxmlformats-officedocument.drawingml.chart+xml"/>
  <Override PartName="/ppt/slides/charts/chart5.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6.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7.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8.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8c67eab4a8ac4b9c" /><Relationship Type="http://schemas.openxmlformats.org/officeDocument/2006/relationships/extended-properties" Target="/docProps/app.xml" Id="R602099a914b3493d" /><Relationship Type="http://schemas.openxmlformats.org/officeDocument/2006/relationships/officeDocument" Target="/ppt/presentation.xml" Id="Rf0c45d0d593e4f2c" /></Relationships>
</file>

<file path=ppt/presentation.xml><?xml version="1.0" encoding="utf-8"?>
<p:presentation xmlns:p="http://schemas.openxmlformats.org/presentationml/2006/main">
  <p:sldMasterIdLst>
    <p:sldMasterId xmlns:r="http://schemas.openxmlformats.org/officeDocument/2006/relationships" id="2147483648" r:id="R0ca398cf5886442f"/>
  </p:sldMasterIdLst>
  <p:notesMasterIdLst>
    <p:notesMasterId xmlns:r="http://schemas.openxmlformats.org/officeDocument/2006/relationships" r:id="Rb58c7711e34b42d9"/>
  </p:notesMasterIdLst>
  <p:sldIdLst>
    <p:sldId xmlns:r="http://schemas.openxmlformats.org/officeDocument/2006/relationships" id="256" r:id="Rb36d4054ac7c4f0b"/>
    <p:sldId xmlns:r="http://schemas.openxmlformats.org/officeDocument/2006/relationships" id="257" r:id="Rabdc025649bc40e1"/>
    <p:sldId xmlns:r="http://schemas.openxmlformats.org/officeDocument/2006/relationships" id="258" r:id="R4303e403f2ca48ff"/>
    <p:sldId xmlns:r="http://schemas.openxmlformats.org/officeDocument/2006/relationships" id="259" r:id="Rfcafcf9d3506427e"/>
    <p:sldId xmlns:r="http://schemas.openxmlformats.org/officeDocument/2006/relationships" id="260" r:id="Ra10d45eec3e246fc"/>
    <p:sldId xmlns:r="http://schemas.openxmlformats.org/officeDocument/2006/relationships" id="261" r:id="R368b663504f34e8f"/>
    <p:sldId xmlns:r="http://schemas.openxmlformats.org/officeDocument/2006/relationships" id="262" r:id="Rdbd1a6b7ec574e76"/>
    <p:sldId xmlns:r="http://schemas.openxmlformats.org/officeDocument/2006/relationships" id="263" r:id="R47b0e006028e4361"/>
    <p:sldId xmlns:r="http://schemas.openxmlformats.org/officeDocument/2006/relationships" id="264" r:id="R19f8201f5fa6462a"/>
    <p:sldId xmlns:r="http://schemas.openxmlformats.org/officeDocument/2006/relationships" id="265" r:id="R3b0ef5e360754e5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a8b0da3788d4097" /><Relationship Type="http://schemas.openxmlformats.org/officeDocument/2006/relationships/slideMaster" Target="/ppt/slideMasters/slideMaster1.xml" Id="R0ca398cf5886442f" /><Relationship Type="http://schemas.openxmlformats.org/officeDocument/2006/relationships/notesMaster" Target="/ppt/notesMasters/notesMaster1.xml" Id="Rb58c7711e34b42d9" /><Relationship Type="http://schemas.openxmlformats.org/officeDocument/2006/relationships/presProps" Target="/ppt/presProps.xml" Id="R40ef69fb6cc64ec8" /><Relationship Type="http://schemas.openxmlformats.org/officeDocument/2006/relationships/tableStyles" Target="/ppt/tableStyles.xml" Id="R2f362f81c5434541" /><Relationship Type="http://schemas.openxmlformats.org/officeDocument/2006/relationships/slide" Target="/ppt/slides/slide1.xml" Id="Rb36d4054ac7c4f0b" /><Relationship Type="http://schemas.openxmlformats.org/officeDocument/2006/relationships/slide" Target="/ppt/slides/slide2.xml" Id="Rabdc025649bc40e1" /><Relationship Type="http://schemas.openxmlformats.org/officeDocument/2006/relationships/slide" Target="/ppt/slides/slide3.xml" Id="R4303e403f2ca48ff" /><Relationship Type="http://schemas.openxmlformats.org/officeDocument/2006/relationships/slide" Target="/ppt/slides/slide4.xml" Id="Rfcafcf9d3506427e" /><Relationship Type="http://schemas.openxmlformats.org/officeDocument/2006/relationships/slide" Target="/ppt/slides/slide5.xml" Id="Ra10d45eec3e246fc" /><Relationship Type="http://schemas.openxmlformats.org/officeDocument/2006/relationships/slide" Target="/ppt/slides/slide6.xml" Id="R368b663504f34e8f" /><Relationship Type="http://schemas.openxmlformats.org/officeDocument/2006/relationships/slide" Target="/ppt/slides/slide7.xml" Id="Rdbd1a6b7ec574e76" /><Relationship Type="http://schemas.openxmlformats.org/officeDocument/2006/relationships/slide" Target="/ppt/slides/slide8.xml" Id="R47b0e006028e4361" /><Relationship Type="http://schemas.openxmlformats.org/officeDocument/2006/relationships/slide" Target="/ppt/slides/slide9.xml" Id="R19f8201f5fa6462a" /><Relationship Type="http://schemas.openxmlformats.org/officeDocument/2006/relationships/slide" Target="/ppt/slides/slide10.xml" Id="R3b0ef5e360754e5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50c4bfb3150462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e096990966347d8" /><Relationship Type="http://schemas.openxmlformats.org/officeDocument/2006/relationships/notesMaster" Target="/ppt/notesMasters/notesMaster1.xml" Id="Red2a030ab9a6494f" /></Relationships>
</file>

<file path=ppt/notesSlides/_rels/notesSlide2.xml.rels>&#65279;<?xml version="1.0" encoding="utf-8"?><Relationships xmlns="http://schemas.openxmlformats.org/package/2006/relationships"><Relationship Type="http://schemas.openxmlformats.org/officeDocument/2006/relationships/slide" Target="/ppt/slides/slide2.xml" Id="Rb89b1722437a4353" /><Relationship Type="http://schemas.openxmlformats.org/officeDocument/2006/relationships/notesMaster" Target="/ppt/notesMasters/notesMaster1.xml" Id="R1e99dee1890248ff" /></Relationships>
</file>

<file path=ppt/notesSlides/_rels/notesSlide3.xml.rels>&#65279;<?xml version="1.0" encoding="utf-8"?><Relationships xmlns="http://schemas.openxmlformats.org/package/2006/relationships"><Relationship Type="http://schemas.openxmlformats.org/officeDocument/2006/relationships/slide" Target="/ppt/slides/slide3.xml" Id="R5ffc092905794cda" /><Relationship Type="http://schemas.openxmlformats.org/officeDocument/2006/relationships/notesMaster" Target="/ppt/notesMasters/notesMaster1.xml" Id="Re20adb6400f74562" /></Relationships>
</file>

<file path=ppt/notesSlides/_rels/notesSlide4.xml.rels>&#65279;<?xml version="1.0" encoding="utf-8"?><Relationships xmlns="http://schemas.openxmlformats.org/package/2006/relationships"><Relationship Type="http://schemas.openxmlformats.org/officeDocument/2006/relationships/slide" Target="/ppt/slides/slide4.xml" Id="Rcc05b95a16414a1a" /><Relationship Type="http://schemas.openxmlformats.org/officeDocument/2006/relationships/notesMaster" Target="/ppt/notesMasters/notesMaster1.xml" Id="Rcf185f96767744b1" /></Relationships>
</file>

<file path=ppt/notesSlides/_rels/notesSlide5.xml.rels>&#65279;<?xml version="1.0" encoding="utf-8"?><Relationships xmlns="http://schemas.openxmlformats.org/package/2006/relationships"><Relationship Type="http://schemas.openxmlformats.org/officeDocument/2006/relationships/slide" Target="/ppt/slides/slide5.xml" Id="R2093661b2bf54415" /><Relationship Type="http://schemas.openxmlformats.org/officeDocument/2006/relationships/notesMaster" Target="/ppt/notesMasters/notesMaster1.xml" Id="Rf50dd7a3ef8f452c" /></Relationships>
</file>

<file path=ppt/notesSlides/_rels/notesSlide6.xml.rels>&#65279;<?xml version="1.0" encoding="utf-8"?><Relationships xmlns="http://schemas.openxmlformats.org/package/2006/relationships"><Relationship Type="http://schemas.openxmlformats.org/officeDocument/2006/relationships/slide" Target="/ppt/slides/slide6.xml" Id="R6e80a35fe0754a82" /><Relationship Type="http://schemas.openxmlformats.org/officeDocument/2006/relationships/notesMaster" Target="/ppt/notesMasters/notesMaster1.xml" Id="R24fdccd9a7f449f2" /></Relationships>
</file>

<file path=ppt/notesSlides/_rels/notesSlide7.xml.rels>&#65279;<?xml version="1.0" encoding="utf-8"?><Relationships xmlns="http://schemas.openxmlformats.org/package/2006/relationships"><Relationship Type="http://schemas.openxmlformats.org/officeDocument/2006/relationships/slide" Target="/ppt/slides/slide7.xml" Id="R1fec0ebb84c34c21" /><Relationship Type="http://schemas.openxmlformats.org/officeDocument/2006/relationships/notesMaster" Target="/ppt/notesMasters/notesMaster1.xml" Id="Rd36f21e467694f35" /></Relationships>
</file>

<file path=ppt/notesSlides/_rels/notesSlide8.xml.rels>&#65279;<?xml version="1.0" encoding="utf-8"?><Relationships xmlns="http://schemas.openxmlformats.org/package/2006/relationships"><Relationship Type="http://schemas.openxmlformats.org/officeDocument/2006/relationships/slide" Target="/ppt/slides/slide8.xml" Id="Rc62e6adeb0134bae" /><Relationship Type="http://schemas.openxmlformats.org/officeDocument/2006/relationships/notesMaster" Target="/ppt/notesMasters/notesMaster1.xml" Id="Rcc0940d39dfb4e2f" /></Relationships>
</file>

<file path=ppt/notesSlides/_rels/notesSlide9.xml.rels>&#65279;<?xml version="1.0" encoding="utf-8"?><Relationships xmlns="http://schemas.openxmlformats.org/package/2006/relationships"><Relationship Type="http://schemas.openxmlformats.org/officeDocument/2006/relationships/slide" Target="/ppt/slides/slide9.xml" Id="Rb92c7ada648c46d3" /><Relationship Type="http://schemas.openxmlformats.org/officeDocument/2006/relationships/notesMaster" Target="/ppt/notesMasters/notesMaster1.xml" Id="R4e98cb7b06cc43e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927551ca0144392" /><Relationship Type="http://schemas.openxmlformats.org/officeDocument/2006/relationships/notesMaster" Target="/ppt/notesMasters/notesMaster1.xml" Id="R7b6604ebdc6846a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Inflation can slow down while your shopping bill still feels expensive. That difference became central to this project.</a:t>
            </a:r>
          </a:p>
          <a:p xmlns:a="http://schemas.openxmlformats.org/drawingml/2006/main">
            <a:r>
              <a:t/>
            </a:r>
          </a:p>
          <a:p xmlns:a="http://schemas.openxmlformats.org/drawingml/2006/main">
            <a:r>
              <a:t>I studied six questions about media bias and U.S. consumer sentiment before the 2026 midterms. I will focus on what we found, what changed when we looked more closely, and which explanations the evidence can support.</a:t>
            </a:r>
          </a:p>
          <a:p xmlns:a="http://schemas.openxmlformats.org/drawingml/2006/main">
            <a:r>
              <a:t/>
            </a:r>
          </a:p>
          <a:p xmlns:a="http://schemas.openxmlformats.org/drawingml/2006/main">
            <a:r>
              <a:t>Sources</a:t>
            </a:r>
          </a:p>
          <a:p xmlns:a="http://schemas.openxmlformats.org/drawingml/2006/main">
            <a:r>
              <a:t>Project study gpt_core_v3; reports/final_gpt_v3/RESEARCH_REPORT.md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Michigan index combines five survey answers. Two describe current conditions: family finances compared with a year ago, and buying major household items. Three describe expectations for family finances and national business conditions.</a:t>
            </a:r>
          </a:p>
          <a:p xmlns:a="http://schemas.openxmlformats.org/drawingml/2006/main">
            <a:r>
              <a:t/>
            </a:r>
          </a:p>
          <a:p xmlns:a="http://schemas.openxmlformats.org/drawingml/2006/main">
            <a:r>
              <a:t>For each question, the relative score is one hundred plus the favorable percentage minus the unfavorable percentage. The formula combines those five scores.</a:t>
            </a:r>
          </a:p>
          <a:p xmlns:a="http://schemas.openxmlformats.org/drawingml/2006/main">
            <a:r>
              <a:t/>
            </a:r>
          </a:p>
          <a:p xmlns:a="http://schemas.openxmlformats.org/drawingml/2006/main">
            <a:r>
              <a:t>So the index captures how people experience the economy and what they expect next. That matters when we compare it with national economic statistics.</a:t>
            </a:r>
          </a:p>
          <a:p xmlns:a="http://schemas.openxmlformats.org/drawingml/2006/main">
            <a:r>
              <a:t/>
            </a:r>
          </a:p>
          <a:p xmlns:a="http://schemas.openxmlformats.org/drawingml/2006/main">
            <a:r>
              <a:t>Sources</a:t>
            </a:r>
          </a:p>
          <a:p xmlns:a="http://schemas.openxmlformats.org/drawingml/2006/main">
            <a:r>
              <a:t>https://data.sca.isr.umich.edu/fetchdoc.php?docid=75432</a:t>
            </a:r>
          </a:p>
          <a:p xmlns:a="http://schemas.openxmlformats.org/drawingml/2006/main">
            <a:r>
              <a:t>https://data.sca.isr.umich.edu/faq.php</a:t>
            </a:r>
          </a:p>
          <a:p xmlns:a="http://schemas.openxmlformats.org/drawingml/2006/main">
            <a:r>
              <a:t>Report page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biggest difference in our sample is emotional or mixed language. It appears in eighty-six percent of X posts and twenty-four percent of news headlines. Political blame is also more common on X.</a:t>
            </a:r>
          </a:p>
          <a:p xmlns:a="http://schemas.openxmlformats.org/drawingml/2006/main">
            <a:r>
              <a:t/>
            </a:r>
          </a:p>
          <a:p xmlns:a="http://schemas.openxmlformats.org/drawingml/2006/main">
            <a:r>
              <a:t>But look at negative economic tone. The difference is much smaller: fifty-three percent against forty-five percent. More emotional language does not automatically mean more negative economic information.</a:t>
            </a:r>
          </a:p>
          <a:p xmlns:a="http://schemas.openxmlformats.org/drawingml/2006/main">
            <a:r>
              <a:t/>
            </a:r>
          </a:p>
          <a:p xmlns:a="http://schemas.openxmlformats.org/drawingml/2006/main">
            <a:r>
              <a:t>This is why we measure tone, topic salience, framing, and political blame separately. Establishing bias also needs a benchmark, such as different coverage of the same economic release.</a:t>
            </a:r>
          </a:p>
          <a:p xmlns:a="http://schemas.openxmlformats.org/drawingml/2006/main">
            <a:r>
              <a:t/>
            </a:r>
          </a:p>
          <a:p xmlns:a="http://schemas.openxmlformats.org/drawingml/2006/main">
            <a:r>
              <a:t>These results use two hundred and thirty eligible headlines and eight hundred and twenty-nine posts, across October 2019 to July 2026.</a:t>
            </a:r>
          </a:p>
          <a:p xmlns:a="http://schemas.openxmlformats.org/drawingml/2006/main">
            <a:r>
              <a:t/>
            </a:r>
          </a:p>
          <a:p xmlns:a="http://schemas.openxmlformats.org/drawingml/2006/main">
            <a:r>
              <a:t>Sources</a:t>
            </a:r>
          </a:p>
          <a:p xmlns:a="http://schemas.openxmlformats.org/drawingml/2006/main">
            <a:r>
              <a:t>Report page 3</a:t>
            </a:r>
          </a:p>
          <a:p xmlns:a="http://schemas.openxmlformats.org/drawingml/2006/main">
            <a:r>
              <a:t>reports/gpt_core_v3/descriptive.json</a:t>
            </a:r>
          </a:p>
          <a:p xmlns:a="http://schemas.openxmlformats.org/drawingml/2006/main">
            <a:r>
              <a:t>Political blame includes texts assigning both credit and blame. Sample content differences do not establish a platform causal effect.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the last month we can evaluate, August 2026. Actual sentiment was fifty-one point seven. The economy-only prediction was about sixty-six. Adding media brought it closer to sixty-one. Simply carrying forward the previous sentiment reading gave fifty-five point two.</a:t>
            </a:r>
          </a:p>
          <a:p xmlns:a="http://schemas.openxmlformats.org/drawingml/2006/main">
            <a:r>
              <a:t/>
            </a:r>
          </a:p>
          <a:p xmlns:a="http://schemas.openxmlformats.org/drawingml/2006/main">
            <a:r>
              <a:t>The apparent gap changes substantially with the benchmark. We cannot call that gap the effect of media. Economic shocks could influence both coverage and consumers, and we do not know which respondents saw the sampled content.</a:t>
            </a:r>
          </a:p>
          <a:p xmlns:a="http://schemas.openxmlformats.org/drawingml/2006/main">
            <a:r>
              <a:t/>
            </a:r>
          </a:p>
          <a:p xmlns:a="http://schemas.openxmlformats.org/drawingml/2006/main">
            <a:r>
              <a:t>July media predicts August sentiment here. The final weeks before the November election are outside our sample.</a:t>
            </a:r>
          </a:p>
          <a:p xmlns:a="http://schemas.openxmlformats.org/drawingml/2006/main">
            <a:r>
              <a:t/>
            </a:r>
          </a:p>
          <a:p xmlns:a="http://schemas.openxmlformats.org/drawingml/2006/main">
            <a:r>
              <a:t>Sources</a:t>
            </a:r>
          </a:p>
          <a:p xmlns:a="http://schemas.openxmlformats.org/drawingml/2006/main">
            <a:r>
              <a:t>Report page 4</a:t>
            </a:r>
          </a:p>
          <a:p xmlns:a="http://schemas.openxmlformats.org/drawingml/2006/main">
            <a:r>
              <a:t>data/processed/gpt_core_v3/predictions.csv</a:t>
            </a:r>
          </a:p>
          <a:p xmlns:a="http://schemas.openxmlformats.org/drawingml/2006/main">
            <a:r>
              <a:t>Single-month illustration; whole-sample errors appear on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sentiment trend shows why this question matters. The average was about ninety-seven before the pandemic, compared with fifty-two in the latest three months. That is a decline of almost forty-five points.</a:t>
            </a:r>
          </a:p>
          <a:p xmlns:a="http://schemas.openxmlformats.org/drawingml/2006/main">
            <a:r>
              <a:t/>
            </a:r>
          </a:p>
          <a:p xmlns:a="http://schemas.openxmlformats.org/drawingml/2006/main">
            <a:r>
              <a:t>Our descriptive model associates changes in unemployment, inflation and GDP growth with about seventeen points of that decline. Inflation accounts for most of that model-associated change.</a:t>
            </a:r>
          </a:p>
          <a:p xmlns:a="http://schemas.openxmlformats.org/drawingml/2006/main">
            <a:r>
              <a:t/>
            </a:r>
          </a:p>
          <a:p xmlns:a="http://schemas.openxmlformats.org/drawingml/2006/main">
            <a:r>
              <a:t>Then we added accumulated price increases. The residual gap fell from about twenty-eight points to seven. A simple time trend left a larger gap of eighteen points.</a:t>
            </a:r>
          </a:p>
          <a:p xmlns:a="http://schemas.openxmlformats.org/drawingml/2006/main">
            <a:r>
              <a:t/>
            </a:r>
          </a:p>
          <a:p xmlns:a="http://schemas.openxmlformats.org/drawingml/2006/main">
            <a:r>
              <a:t>The economic benchmark was missing something useful. That gives us a concrete alternative to assigning the unexplained difference to media.</a:t>
            </a:r>
          </a:p>
          <a:p xmlns:a="http://schemas.openxmlformats.org/drawingml/2006/main">
            <a:r>
              <a:t/>
            </a:r>
          </a:p>
          <a:p xmlns:a="http://schemas.openxmlformats.org/drawingml/2006/main">
            <a:r>
              <a:t>Sources</a:t>
            </a:r>
          </a:p>
          <a:p xmlns:a="http://schemas.openxmlformats.org/drawingml/2006/main">
            <a:r>
              <a:t>Report page 5</a:t>
            </a:r>
          </a:p>
          <a:p xmlns:a="http://schemas.openxmlformats.org/drawingml/2006/main">
            <a:r>
              <a:t>reports/gpt_core_v3/analysis.json: macro_accounting</a:t>
            </a:r>
          </a:p>
          <a:p xmlns:a="http://schemas.openxmlformats.org/drawingml/2006/main">
            <a:r>
              <a:t>Monthly series averaged by calendar year solely for display. Decomposition compares 2017–2019 with June–August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top chart shows the accumulated price increase. By our latest forecast date, prices were almost twenty-eight percent above December 2018.</a:t>
            </a:r>
          </a:p>
          <a:p xmlns:a="http://schemas.openxmlformats.org/drawingml/2006/main">
            <a:r>
              <a:t/>
            </a:r>
          </a:p>
          <a:p xmlns:a="http://schemas.openxmlformats.org/drawingml/2006/main">
            <a:r>
              <a:t>The bottom chart shows inflation, which is the speed of that increase. It was about three point seven percent. Slower inflation still adds to an already higher bill. Real disposable income was growing by only about half a percent.</a:t>
            </a:r>
          </a:p>
          <a:p xmlns:a="http://schemas.openxmlformats.org/drawingml/2006/main">
            <a:r>
              <a:t/>
            </a:r>
          </a:p>
          <a:p xmlns:a="http://schemas.openxmlformats.org/drawingml/2006/main">
            <a:r>
              <a:t>That makes continuing concern about purchasing power understandable. The price-level measure also improved forecasts in our economic models. It supports studying affordability, while personal reference prices would still be needed to establish anchoring.</a:t>
            </a:r>
          </a:p>
          <a:p xmlns:a="http://schemas.openxmlformats.org/drawingml/2006/main">
            <a:r>
              <a:t/>
            </a:r>
          </a:p>
          <a:p xmlns:a="http://schemas.openxmlformats.org/drawingml/2006/main">
            <a:r>
              <a:t>Sources</a:t>
            </a:r>
          </a:p>
          <a:p xmlns:a="http://schemas.openxmlformats.org/drawingml/2006/main">
            <a:r>
              <a:t>Report page 6</a:t>
            </a:r>
          </a:p>
          <a:p xmlns:a="http://schemas.openxmlformats.org/drawingml/2006/main">
            <a:r>
              <a:t>data/processed/gpt_core_v3/model_panel.csv</a:t>
            </a:r>
          </a:p>
          <a:p xmlns:a="http://schemas.openxmlformats.org/drawingml/2006/main">
            <a:r>
              <a:t>PCEPI reference December 2018, numerator and denominator from the same origin vintage. DSPIC96 income growth is aggregate real disposable income, not household microdata.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can measure the content proxies shown here. Negative economic tone is a proxy relevant to negativity bias. Topic salience measures attention to prices and relates to availability bias. Political blame relates to confirmation bias. Price-level framing relates to anchoring to past prices.</a:t>
            </a:r>
          </a:p>
          <a:p xmlns:a="http://schemas.openxmlformats.org/drawingml/2006/main">
            <a:r>
              <a:t/>
            </a:r>
          </a:p>
          <a:p xmlns:a="http://schemas.openxmlformats.org/drawingml/2006/main">
            <a:r>
              <a:t>These labels describe the content. Measuring the mechanisms in people requires different evidence. Negativity bias needs responses to comparable good and bad news. Availability bias needs exposure and recall. Confirmation bias needs prior beliefs and belief updating. Anchoring to past prices needs individual reference prices and affordability measures.</a:t>
            </a:r>
          </a:p>
          <a:p xmlns:a="http://schemas.openxmlformats.org/drawingml/2006/main">
            <a:r>
              <a:t/>
            </a:r>
          </a:p>
          <a:p xmlns:a="http://schemas.openxmlformats.org/drawingml/2006/main">
            <a:r>
              <a:t>Our strongest observation is the content difference. The psychological explanation remains a research question.</a:t>
            </a:r>
          </a:p>
          <a:p xmlns:a="http://schemas.openxmlformats.org/drawingml/2006/main">
            <a:r>
              <a:t/>
            </a:r>
          </a:p>
          <a:p xmlns:a="http://schemas.openxmlformats.org/drawingml/2006/main">
            <a:r>
              <a:t>Sources</a:t>
            </a:r>
          </a:p>
          <a:p xmlns:a="http://schemas.openxmlformats.org/drawingml/2006/main">
            <a:r>
              <a:t>Report page 7</a:t>
            </a:r>
          </a:p>
          <a:p xmlns:a="http://schemas.openxmlformats.org/drawingml/2006/main">
            <a:r>
              <a:t>reports/gpt_core_v3/descriptive.json</a:t>
            </a:r>
          </a:p>
          <a:p xmlns:a="http://schemas.openxmlformats.org/drawingml/2006/main">
            <a:r>
              <a:t>Mechanism names identify candidate explanations, not diagnoses. Topic salience means the share of eligible texts mentioning prices.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forecasting errors over the same forty test months. Lower is better.</a:t>
            </a:r>
          </a:p>
          <a:p xmlns:a="http://schemas.openxmlformats.org/drawingml/2006/main">
            <a:r>
              <a:t/>
            </a:r>
          </a:p>
          <a:p xmlns:a="http://schemas.openxmlformats.org/drawingml/2006/main">
            <a:r>
              <a:t>With the economy and prior sentiment, adding media barely changes the error: both round to four point two. Adding income and price levels gives a similar result.</a:t>
            </a:r>
          </a:p>
          <a:p xmlns:a="http://schemas.openxmlformats.org/drawingml/2006/main">
            <a:r>
              <a:t/>
            </a:r>
          </a:p>
          <a:p xmlns:a="http://schemas.openxmlformats.org/drawingml/2006/main">
            <a:r>
              <a:t>There is one promising case. With seasonality and survey-mode controls, media reduces the error from three point eight six to three point five three. The survey-mode control reflects Michigan's 2024 transition to web collection.</a:t>
            </a:r>
          </a:p>
          <a:p xmlns:a="http://schemas.openxmlformats.org/drawingml/2006/main">
            <a:r>
              <a:t/>
            </a:r>
          </a:p>
          <a:p xmlns:a="http://schemas.openxmlformats.org/drawingml/2006/main">
            <a:r>
              <a:t>But that improvement reverses under the strictest coverage check, and its advantage over carrying forward prior sentiment remains uncertain. Adding every content feature also makes the error worse, at four point seven four. More text features did not solve the small-sample problem.</a:t>
            </a:r>
          </a:p>
          <a:p xmlns:a="http://schemas.openxmlformats.org/drawingml/2006/main">
            <a:r>
              <a:t/>
            </a:r>
          </a:p>
          <a:p xmlns:a="http://schemas.openxmlformats.org/drawingml/2006/main">
            <a:r>
              <a:t>Sources</a:t>
            </a:r>
          </a:p>
          <a:p xmlns:a="http://schemas.openxmlformats.org/drawingml/2006/main">
            <a:r>
              <a:t>Report page 8</a:t>
            </a:r>
          </a:p>
          <a:p xmlns:a="http://schemas.openxmlformats.org/drawingml/2006/main">
            <a:r>
              <a:t>reports/gpt_core_v3/analysis.json</a:t>
            </a:r>
          </a:p>
          <a:p xmlns:a="http://schemas.openxmlformats.org/drawingml/2006/main">
            <a:r>
              <a:t>https://www.sca.isr.umich.edu/files/methodtransitionannouncement2024.pdf</a:t>
            </a:r>
          </a:p>
          <a:p xmlns:a="http://schemas.openxmlformats.org/drawingml/2006/main">
            <a:r>
              <a:t>Method controls contain the economy and prior sentiment plus annual sine/cosine and a transition ramp. They do not also contain household controls. The nominal paired media-gain interval excludes zero, but multiplicity and coding uncertainty are not included.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Two findings challenge a strong media explanation. First, adding price levels substantially shrinks the economic model's residual gap. Second, the media forecasting gain changes with the coverage rule.</a:t>
            </a:r>
          </a:p>
          <a:p xmlns:a="http://schemas.openxmlformats.org/drawingml/2006/main">
            <a:r>
              <a:t/>
            </a:r>
          </a:p>
          <a:p xmlns:a="http://schemas.openxmlformats.org/drawingml/2006/main">
            <a:r>
              <a:t>In this chart, negative values mean improvement. With the strictest rule, requiring three news headlines and five posts per month, the gain becomes an increase in error. That comparison also has fewer months, so it is a warning about stability.</a:t>
            </a:r>
          </a:p>
          <a:p xmlns:a="http://schemas.openxmlformats.org/drawingml/2006/main">
            <a:r>
              <a:t/>
            </a:r>
          </a:p>
          <a:p xmlns:a="http://schemas.openxmlformats.org/drawingml/2006/main">
            <a:r>
              <a:t>The next useful steps are specific: compare coverage of the same economic releases, connect actual media exposure with survey responses, and measure household budgets alongside reference prices. Those comparisons would help distinguish framing, persuasion and affordability.</a:t>
            </a:r>
          </a:p>
          <a:p xmlns:a="http://schemas.openxmlformats.org/drawingml/2006/main">
            <a:r>
              <a:t/>
            </a:r>
          </a:p>
          <a:p xmlns:a="http://schemas.openxmlformats.org/drawingml/2006/main">
            <a:r>
              <a:t>Sources</a:t>
            </a:r>
          </a:p>
          <a:p xmlns:a="http://schemas.openxmlformats.org/drawingml/2006/main">
            <a:r>
              <a:t>Report page 9</a:t>
            </a:r>
          </a:p>
          <a:p xmlns:a="http://schemas.openxmlformats.org/drawingml/2006/main">
            <a:r>
              <a:t>reports/gpt_core_v3/analysis.json: sensitivity</a:t>
            </a:r>
          </a:p>
          <a:p xmlns:a="http://schemas.openxmlformats.org/drawingml/2006/main">
            <a:r>
              <a:t>The 13-month change interval crosses zero. A coverage sensitivity is not an isolated measurement-precision experiment.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clearest media finding is stronger emotional language and political blame on X.</a:t>
            </a:r>
          </a:p>
          <a:p xmlns:a="http://schemas.openxmlformats.org/drawingml/2006/main">
            <a:r>
              <a:t/>
            </a:r>
          </a:p>
          <a:p xmlns:a="http://schemas.openxmlformats.org/drawingml/2006/main">
            <a:r>
              <a:t>Our clearest economic finding is that accumulated price pressure changes how much of the sentiment gap remains unexplained.</a:t>
            </a:r>
          </a:p>
          <a:p xmlns:a="http://schemas.openxmlformats.org/drawingml/2006/main">
            <a:r>
              <a:t/>
            </a:r>
          </a:p>
          <a:p xmlns:a="http://schemas.openxmlformats.org/drawingml/2006/main">
            <a:r>
              <a:t>Our forecasting finding is conditional: media helps in some specifications, but the gain does not survive every harder comparison.</a:t>
            </a:r>
          </a:p>
          <a:p xmlns:a="http://schemas.openxmlformats.org/drawingml/2006/main">
            <a:r>
              <a:t/>
            </a:r>
          </a:p>
          <a:p xmlns:a="http://schemas.openxmlformats.org/drawingml/2006/main">
            <a:r>
              <a:t>For sentiment forecasting, purchasing power and the latest sentiment reading deserve attention before we add more text features. The shopping bill turned out to be an important part of the research.</a:t>
            </a:r>
          </a:p>
          <a:p xmlns:a="http://schemas.openxmlformats.org/drawingml/2006/main">
            <a:r>
              <a:t/>
            </a:r>
          </a:p>
          <a:p xmlns:a="http://schemas.openxmlformats.org/drawingml/2006/main">
            <a:r>
              <a:t>Thank you.</a:t>
            </a:r>
          </a:p>
          <a:p xmlns:a="http://schemas.openxmlformats.org/drawingml/2006/main">
            <a:r>
              <a:t/>
            </a:r>
          </a:p>
          <a:p xmlns:a="http://schemas.openxmlformats.org/drawingml/2006/main">
            <a:r>
              <a:t>Sources</a:t>
            </a:r>
          </a:p>
          <a:p xmlns:a="http://schemas.openxmlformats.org/drawingml/2006/main">
            <a:r>
              <a:t>Report pages 1, 5–9</a:t>
            </a:r>
          </a:p>
          <a:p xmlns:a="http://schemas.openxmlformats.org/drawingml/2006/main">
            <a:r>
              <a:t>reports/gpt_core_v3/analysis.json</a:t>
            </a:r>
          </a:p>
          <a:p xmlns:a="http://schemas.openxmlformats.org/drawingml/2006/main">
            <a:r>
              <a:t>Final main slide. No methods appendix follows.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6da9e6bdd3e44a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ae0a8eaf0454f3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94be21d03c8454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ba42fe487994ac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80a053e8276430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a1638c29e0b42b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6647BF7-286C-495A-BA35-C63B7AFCEDE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141E3D3-CC72-4234-B0B6-31E434B1AC5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36E9DBF-5A3D-4BDC-8C6C-1DCACCF9430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25BF23E-0FB2-425D-9F22-A3C535F58FB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C353BE8-3CFB-437E-89AD-48492D18907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377A07A-9E71-4EDA-BF4E-E09B502FFF1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8E4F394-14E1-445C-966C-2499526ACEE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A11FFA9-6489-4DCC-A5B5-586606FD233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083783F-03FC-4157-8820-0EE1B34AEE0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3BF7F0C-669D-4649-9E4B-9B2F405918A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a61f73dc12e4f98" /><Relationship Type="http://schemas.openxmlformats.org/officeDocument/2006/relationships/slideLayout" Target="/ppt/slideLayouts/slideLayout1.xml" Id="Rf4496706589d40c4" /><Relationship Type="http://schemas.openxmlformats.org/officeDocument/2006/relationships/slideLayout" Target="/ppt/slideLayouts/slideLayout2.xml" Id="Rd78b022d2f394281" /><Relationship Type="http://schemas.openxmlformats.org/officeDocument/2006/relationships/slideLayout" Target="/ppt/slideLayouts/slideLayout3.xml" Id="Ra817fe2d0fde46b6" /><Relationship Type="http://schemas.openxmlformats.org/officeDocument/2006/relationships/slideLayout" Target="/ppt/slideLayouts/slideLayout4.xml" Id="R7188894859004d45" /><Relationship Type="http://schemas.openxmlformats.org/officeDocument/2006/relationships/slideLayout" Target="/ppt/slideLayouts/slideLayout5.xml" Id="Re554561c9fac4bdb" /><Relationship Type="http://schemas.openxmlformats.org/officeDocument/2006/relationships/slideLayout" Target="/ppt/slideLayouts/slideLayout6.xml" Id="Rc1db1d37f9da46a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4496706589d40c4"/>
    <p:sldLayoutId xmlns:r="http://schemas.openxmlformats.org/officeDocument/2006/relationships" id="2147483650" r:id="Rd78b022d2f394281"/>
    <p:sldLayoutId xmlns:r="http://schemas.openxmlformats.org/officeDocument/2006/relationships" id="2147483651" r:id="Ra817fe2d0fde46b6"/>
    <p:sldLayoutId xmlns:r="http://schemas.openxmlformats.org/officeDocument/2006/relationships" id="2147483652" r:id="R7188894859004d45"/>
    <p:sldLayoutId xmlns:r="http://schemas.openxmlformats.org/officeDocument/2006/relationships" id="2147483653" r:id="Re554561c9fac4bdb"/>
    <p:sldLayoutId xmlns:r="http://schemas.openxmlformats.org/officeDocument/2006/relationships" id="2147483654" r:id="Rc1db1d37f9da46a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32c670420e14a16" /><Relationship Type="http://schemas.openxmlformats.org/officeDocument/2006/relationships/notesSlide" Target="/ppt/notesSlides/notesSlide1.xml" Id="R50c577d558c948c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0fdf55525254899" /><Relationship Type="http://schemas.openxmlformats.org/officeDocument/2006/relationships/notesSlide" Target="/ppt/notesSlides/notesSlide2.xml" Id="R2a3626741d7a4c4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fe0eeb33a144b0d" /><Relationship Type="http://schemas.openxmlformats.org/officeDocument/2006/relationships/chart" Target="/ppt/slides/charts/chart1.xml" Id="Rb4909bdbf95e4973" /><Relationship Type="http://schemas.openxmlformats.org/officeDocument/2006/relationships/notesSlide" Target="/ppt/notesSlides/notesSlide3.xml" Id="R3e7b61ec73f4481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23475d521a34c9f" /><Relationship Type="http://schemas.openxmlformats.org/officeDocument/2006/relationships/chart" Target="/ppt/slides/charts/chart2.xml" Id="Re829b10bcd91472c" /><Relationship Type="http://schemas.openxmlformats.org/officeDocument/2006/relationships/notesSlide" Target="/ppt/notesSlides/notesSlide4.xml" Id="R2def168456b54bc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633917a6ffd4951" /><Relationship Type="http://schemas.openxmlformats.org/officeDocument/2006/relationships/chart" Target="/ppt/slides/charts/chart3.xml" Id="R64693e9ce6294f79" /><Relationship Type="http://schemas.openxmlformats.org/officeDocument/2006/relationships/notesSlide" Target="/ppt/notesSlides/notesSlide5.xml" Id="R0deb0cc6987a41a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6d749e2c6a14f2a" /><Relationship Type="http://schemas.openxmlformats.org/officeDocument/2006/relationships/chart" Target="/ppt/slides/charts/chart4.xml" Id="R9bfaf0b3f1e54a85" /><Relationship Type="http://schemas.openxmlformats.org/officeDocument/2006/relationships/chart" Target="/ppt/slides/charts/chart5.xml" Id="Rc9316e5385164fd3" /><Relationship Type="http://schemas.openxmlformats.org/officeDocument/2006/relationships/notesSlide" Target="/ppt/notesSlides/notesSlide6.xml" Id="R4ed0f973d99844b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669703353bd45d8" /><Relationship Type="http://schemas.openxmlformats.org/officeDocument/2006/relationships/chart" Target="/ppt/slides/charts/chart6.xml" Id="Rbcc0aec90fbb405e" /><Relationship Type="http://schemas.openxmlformats.org/officeDocument/2006/relationships/notesSlide" Target="/ppt/notesSlides/notesSlide7.xml" Id="R0192123a85c54cb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8cccd068f5404678" /><Relationship Type="http://schemas.openxmlformats.org/officeDocument/2006/relationships/chart" Target="/ppt/slides/charts/chart7.xml" Id="R8778e944c05445ad" /><Relationship Type="http://schemas.openxmlformats.org/officeDocument/2006/relationships/notesSlide" Target="/ppt/notesSlides/notesSlide8.xml" Id="R1dbcbec5ccf24197"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f710ab6e96af4a83" /><Relationship Type="http://schemas.openxmlformats.org/officeDocument/2006/relationships/chart" Target="/ppt/slides/charts/chart8.xml" Id="R6d63029d6f68469f" /><Relationship Type="http://schemas.openxmlformats.org/officeDocument/2006/relationships/notesSlide" Target="/ppt/notesSlides/notesSlide9.xml" Id="Rd1f00d60a4d3483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23fdb28b00e2486a" /><Relationship Type="http://schemas.openxmlformats.org/officeDocument/2006/relationships/notesSlide" Target="/ppt/notesSlides/notesSlide10.xml" Id="R143a5c5ff78f4dcb"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_rels/chart8.xml.rels><Relationships xmlns="http://schemas.openxmlformats.org/package/2006/relationships"><Relationship Id="rIdChartSnapshot1" Type="http://schemas.openxmlformats.org/officeDocument/2006/relationships/package" Target="../../embeddings/chart-data-snapshot-008.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News</c:v>
          </c:tx>
          <c:spPr>
            <a:solidFill xmlns:a="http://schemas.openxmlformats.org/drawingml/2006/main">
              <a:srgbClr val="254C45"/>
            </a:solidFill>
          </c:spPr>
          <c:invertIfNegative val="0"/>
          <c:cat>
            <c:strRef>
              <c:f>'Chart Data'!$A$2:$A$4</c:f>
              <c:strCache>
                <c:ptCount val="3"/>
                <c:pt idx="0">
                  <c:v>Political blame</c:v>
                </c:pt>
                <c:pt idx="1">
                  <c:v>Emotional or mixed language</c:v>
                </c:pt>
                <c:pt idx="2">
                  <c:v>Negative economic tone</c:v>
                </c:pt>
              </c:strCache>
            </c:strRef>
          </c:cat>
          <c:val>
            <c:numRef>
              <c:f>'Chart Data'!$B$2:$B$4</c:f>
              <c:numCache>
                <c:formatCode>0.0</c:formatCode>
                <c:ptCount val="3"/>
                <c:pt idx="0">
                  <c:v>22.608696</c:v>
                </c:pt>
                <c:pt idx="1">
                  <c:v>23.913043</c:v>
                </c:pt>
                <c:pt idx="2">
                  <c:v>45.217391</c:v>
                </c:pt>
              </c:numCache>
            </c:numRef>
          </c:val>
        </c:ser>
        <c:ser>
          <c:idx val="1"/>
          <c:order val="1"/>
          <c:tx>
            <c:v>X</c:v>
          </c:tx>
          <c:spPr>
            <a:solidFill xmlns:a="http://schemas.openxmlformats.org/drawingml/2006/main">
              <a:srgbClr val="A37D46"/>
            </a:solidFill>
          </c:spPr>
          <c:invertIfNegative val="0"/>
          <c:cat>
            <c:strRef>
              <c:f>'Chart Data'!$C$2:$C$4</c:f>
              <c:strCache>
                <c:ptCount val="3"/>
                <c:pt idx="0">
                  <c:v>Political blame</c:v>
                </c:pt>
                <c:pt idx="1">
                  <c:v>Emotional or mixed language</c:v>
                </c:pt>
                <c:pt idx="2">
                  <c:v>Negative economic tone</c:v>
                </c:pt>
              </c:strCache>
            </c:strRef>
          </c:cat>
          <c:val>
            <c:numRef>
              <c:f>'Chart Data'!$D$2:$D$4</c:f>
              <c:numCache>
                <c:formatCode>0.0</c:formatCode>
                <c:ptCount val="3"/>
                <c:pt idx="0">
                  <c:v>49.577805</c:v>
                </c:pt>
                <c:pt idx="1">
                  <c:v>86.127865</c:v>
                </c:pt>
                <c:pt idx="2">
                  <c:v>53.075995</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875" b="1">
                  <a:solidFill>
                    <a:srgbClr val="252B29"/>
                  </a:solidFill>
                  <a:latin typeface="Arial"/>
                  <a:ea typeface="Arial"/>
                  <a:cs typeface="Aria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75">
                <a:solidFill>
                  <a:srgbClr val="252B29"/>
                </a:solidFill>
                <a:latin typeface="Arial"/>
                <a:ea typeface="Arial"/>
                <a:cs typeface="Arial"/>
              </a:defRPr>
            </a:pPr>
          </a:p>
        </c:txPr>
        <c:crossAx val="48672768"/>
      </c:catAx>
      <c:valAx>
        <c:axId val="48672768"/>
        <c:scaling>
          <c:orientation val="minMax"/>
          <c:max val="100"/>
          <c:min val="0"/>
        </c:scaling>
        <c:delete val="0"/>
        <c:axPos val="b"/>
        <c:majorGridlines>
          <c:spPr>
            <a:ln xmlns:a="http://schemas.openxmlformats.org/drawingml/2006/main" w="9525">
              <a:solidFill>
                <a:srgbClr val="DEE5E0"/>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Share of eligible items (%)</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8766E"/>
                </a:solidFill>
                <a:latin typeface="Arial"/>
                <a:ea typeface="Arial"/>
                <a:cs typeface="Arial"/>
              </a:defRPr>
            </a:pPr>
          </a:p>
        </c:txPr>
        <c:crossAx val="48650112"/>
        <c:crossBetween val="between"/>
        <c:majorUnit val="20"/>
      </c:valAx>
    </c:plotArea>
    <c:legend>
      <c:legendPos val="b"/>
      <c:overlay val="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legend>
    <c:plotVisOnly val="1"/>
  </c:chart>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August 2026</c:v>
          </c:tx>
          <c:spPr>
            <a:solidFill xmlns:a="http://schemas.openxmlformats.org/drawingml/2006/main">
              <a:srgbClr val="254C45"/>
            </a:solidFill>
          </c:spPr>
          <c:invertIfNegative val="0"/>
          <c:cat>
            <c:strRef>
              <c:f>'Chart Data'!$A$2:$A$5</c:f>
              <c:strCache>
                <c:ptCount val="4"/>
                <c:pt idx="0">
                  <c:v>Prior sentiment carried forward</c:v>
                </c:pt>
                <c:pt idx="1">
                  <c:v>Economy + media</c:v>
                </c:pt>
                <c:pt idx="2">
                  <c:v>Economy only</c:v>
                </c:pt>
                <c:pt idx="3">
                  <c:v>Observed sentiment</c:v>
                </c:pt>
              </c:strCache>
            </c:strRef>
          </c:cat>
          <c:val>
            <c:numRef>
              <c:f>'Chart Data'!$B$2:$B$5</c:f>
              <c:numCache>
                <c:formatCode>0.0</c:formatCode>
                <c:ptCount val="4"/>
                <c:pt idx="0">
                  <c:v>55.2</c:v>
                </c:pt>
                <c:pt idx="1">
                  <c:v>60.834497</c:v>
                </c:pt>
                <c:pt idx="2">
                  <c:v>66.129884</c:v>
                </c:pt>
                <c:pt idx="3">
                  <c:v>51.7</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875" b="1">
                  <a:solidFill>
                    <a:srgbClr val="252B29"/>
                  </a:solidFill>
                  <a:latin typeface="Arial"/>
                  <a:ea typeface="Arial"/>
                  <a:cs typeface="Aria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75">
                <a:solidFill>
                  <a:srgbClr val="252B29"/>
                </a:solidFill>
                <a:latin typeface="Arial"/>
                <a:ea typeface="Arial"/>
                <a:cs typeface="Arial"/>
              </a:defRPr>
            </a:pPr>
          </a:p>
        </c:txPr>
        <c:crossAx val="48672768"/>
      </c:catAx>
      <c:valAx>
        <c:axId val="48672768"/>
        <c:scaling>
          <c:orientation val="minMax"/>
          <c:max val="80"/>
          <c:min val="0"/>
        </c:scaling>
        <c:delete val="0"/>
        <c:axPos val="b"/>
        <c:majorGridlines>
          <c:spPr>
            <a:ln xmlns:a="http://schemas.openxmlformats.org/drawingml/2006/main" w="9525">
              <a:solidFill>
                <a:srgbClr val="DEE5E0"/>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Sentiment index points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8766E"/>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lineChart>
        <c:grouping val="standard"/>
        <c:varyColors val="0"/>
        <c:ser>
          <c:idx val="0"/>
          <c:order val="0"/>
          <c:tx>
            <c:v>Observed sentiment</c:v>
          </c:tx>
          <c:spPr>
            <a:ln xmlns:a="http://schemas.openxmlformats.org/drawingml/2006/main" w="28575">
              <a:solidFill>
                <a:srgbClr val="254C45"/>
              </a:solidFill>
            </a:ln>
          </c:spPr>
          <c:marker>
            <c:symbol val="none"/>
          </c:marker>
          <c:cat>
            <c:strRef>
              <c:f>'Chart Data'!$A$2:$A$18</c:f>
              <c:strCache>
                <c:ptCount val="17"/>
                <c:pt idx="0">
                  <c:v>2010</c:v>
                </c:pt>
                <c:pt idx="1">
                  <c:v>2011</c:v>
                </c:pt>
                <c:pt idx="2">
                  <c:v>2012</c:v>
                </c:pt>
                <c:pt idx="3">
                  <c:v>2013</c:v>
                </c:pt>
                <c:pt idx="4">
                  <c:v>2014</c:v>
                </c:pt>
                <c:pt idx="5">
                  <c:v>2015</c:v>
                </c:pt>
                <c:pt idx="6">
                  <c:v>2016</c:v>
                </c:pt>
                <c:pt idx="7">
                  <c:v>2017</c:v>
                </c:pt>
                <c:pt idx="8">
                  <c:v>2018</c:v>
                </c:pt>
                <c:pt idx="9">
                  <c:v>2019</c:v>
                </c:pt>
                <c:pt idx="10">
                  <c:v>2020</c:v>
                </c:pt>
                <c:pt idx="11">
                  <c:v>2021</c:v>
                </c:pt>
                <c:pt idx="12">
                  <c:v>2022</c:v>
                </c:pt>
                <c:pt idx="13">
                  <c:v>2023</c:v>
                </c:pt>
                <c:pt idx="14">
                  <c:v>2024</c:v>
                </c:pt>
                <c:pt idx="15">
                  <c:v>2025</c:v>
                </c:pt>
                <c:pt idx="16">
                  <c:v>2026*</c:v>
                </c:pt>
              </c:strCache>
            </c:strRef>
          </c:cat>
          <c:val>
            <c:numRef>
              <c:f>'Chart Data'!$B$2:$B$18</c:f>
              <c:numCache>
                <c:formatCode>0</c:formatCode>
                <c:ptCount val="17"/>
                <c:pt idx="0">
                  <c:v>71.841667</c:v>
                </c:pt>
                <c:pt idx="1">
                  <c:v>67.35</c:v>
                </c:pt>
                <c:pt idx="2">
                  <c:v>76.541667</c:v>
                </c:pt>
                <c:pt idx="3">
                  <c:v>79.208333</c:v>
                </c:pt>
                <c:pt idx="4">
                  <c:v>84.125</c:v>
                </c:pt>
                <c:pt idx="5">
                  <c:v>92.941667</c:v>
                </c:pt>
                <c:pt idx="6">
                  <c:v>91.841667</c:v>
                </c:pt>
                <c:pt idx="7">
                  <c:v>96.766667</c:v>
                </c:pt>
                <c:pt idx="8">
                  <c:v>98.366667</c:v>
                </c:pt>
                <c:pt idx="9">
                  <c:v>95.983333</c:v>
                </c:pt>
                <c:pt idx="10">
                  <c:v>81.541667</c:v>
                </c:pt>
                <c:pt idx="11">
                  <c:v>77.616667</c:v>
                </c:pt>
                <c:pt idx="12">
                  <c:v>58.975</c:v>
                </c:pt>
                <c:pt idx="13">
                  <c:v>65.35</c:v>
                </c:pt>
                <c:pt idx="14">
                  <c:v>72.541667</c:v>
                </c:pt>
                <c:pt idx="15">
                  <c:v>57.583333</c:v>
                </c:pt>
                <c:pt idx="16">
                  <c:v>52.1625</c:v>
                </c:pt>
              </c:numCache>
            </c:numRef>
          </c:val>
          <c:smooth val="0"/>
        </c:ser>
        <c:ser>
          <c:idx val="1"/>
          <c:order val="1"/>
          <c:tx>
            <c:v>Three macro indicators</c:v>
          </c:tx>
          <c:spPr>
            <a:ln xmlns:a="http://schemas.openxmlformats.org/drawingml/2006/main" w="19050">
              <a:solidFill>
                <a:srgbClr val="68766E"/>
              </a:solidFill>
            </a:ln>
          </c:spPr>
          <c:marker>
            <c:symbol val="none"/>
          </c:marker>
          <c:cat>
            <c:strRef>
              <c:f>'Chart Data'!$C$2:$C$18</c:f>
              <c:strCache>
                <c:ptCount val="17"/>
                <c:pt idx="0">
                  <c:v>2010</c:v>
                </c:pt>
                <c:pt idx="1">
                  <c:v>2011</c:v>
                </c:pt>
                <c:pt idx="2">
                  <c:v>2012</c:v>
                </c:pt>
                <c:pt idx="3">
                  <c:v>2013</c:v>
                </c:pt>
                <c:pt idx="4">
                  <c:v>2014</c:v>
                </c:pt>
                <c:pt idx="5">
                  <c:v>2015</c:v>
                </c:pt>
                <c:pt idx="6">
                  <c:v>2016</c:v>
                </c:pt>
                <c:pt idx="7">
                  <c:v>2017</c:v>
                </c:pt>
                <c:pt idx="8">
                  <c:v>2018</c:v>
                </c:pt>
                <c:pt idx="9">
                  <c:v>2019</c:v>
                </c:pt>
                <c:pt idx="10">
                  <c:v>2020</c:v>
                </c:pt>
                <c:pt idx="11">
                  <c:v>2021</c:v>
                </c:pt>
                <c:pt idx="12">
                  <c:v>2022</c:v>
                </c:pt>
                <c:pt idx="13">
                  <c:v>2023</c:v>
                </c:pt>
                <c:pt idx="14">
                  <c:v>2024</c:v>
                </c:pt>
                <c:pt idx="15">
                  <c:v>2025</c:v>
                </c:pt>
                <c:pt idx="16">
                  <c:v>2026*</c:v>
                </c:pt>
              </c:strCache>
            </c:strRef>
          </c:cat>
          <c:val>
            <c:numRef>
              <c:f>'Chart Data'!$D$2:$D$18</c:f>
              <c:numCache>
                <c:formatCode>0</c:formatCode>
                <c:ptCount val="17"/>
                <c:pt idx="0">
                  <c:v>72.289475</c:v>
                </c:pt>
                <c:pt idx="1">
                  <c:v>70.522839</c:v>
                </c:pt>
                <c:pt idx="2">
                  <c:v>74.072478</c:v>
                </c:pt>
                <c:pt idx="3">
                  <c:v>81.622753</c:v>
                </c:pt>
                <c:pt idx="4">
                  <c:v>83.235536</c:v>
                </c:pt>
                <c:pt idx="5">
                  <c:v>92.060073</c:v>
                </c:pt>
                <c:pt idx="6">
                  <c:v>89.62022</c:v>
                </c:pt>
                <c:pt idx="7">
                  <c:v>85.571536</c:v>
                </c:pt>
                <c:pt idx="8">
                  <c:v>84.049355</c:v>
                </c:pt>
                <c:pt idx="9">
                  <c:v>88.158112</c:v>
                </c:pt>
                <c:pt idx="10">
                  <c:v>81.034285</c:v>
                </c:pt>
                <c:pt idx="11">
                  <c:v>71.40169</c:v>
                </c:pt>
                <c:pt idx="12">
                  <c:v>52.380498</c:v>
                </c:pt>
                <c:pt idx="13">
                  <c:v>68.705711</c:v>
                </c:pt>
                <c:pt idx="14">
                  <c:v>80.368726</c:v>
                </c:pt>
                <c:pt idx="15">
                  <c:v>79.43398</c:v>
                </c:pt>
                <c:pt idx="16">
                  <c:v>73.234097</c:v>
                </c:pt>
              </c:numCache>
            </c:numRef>
          </c:val>
          <c:smooth val="0"/>
        </c:ser>
        <c:ser>
          <c:idx val="2"/>
          <c:order val="2"/>
          <c:tx>
            <c:v>Also accumulated prices</c:v>
          </c:tx>
          <c:spPr>
            <a:ln xmlns:a="http://schemas.openxmlformats.org/drawingml/2006/main" w="23813">
              <a:solidFill>
                <a:srgbClr val="A37D46"/>
              </a:solidFill>
            </a:ln>
          </c:spPr>
          <c:marker>
            <c:symbol val="none"/>
          </c:marker>
          <c:cat>
            <c:strRef>
              <c:f>'Chart Data'!$E$2:$E$18</c:f>
              <c:strCache>
                <c:ptCount val="17"/>
                <c:pt idx="0">
                  <c:v>2010</c:v>
                </c:pt>
                <c:pt idx="1">
                  <c:v>2011</c:v>
                </c:pt>
                <c:pt idx="2">
                  <c:v>2012</c:v>
                </c:pt>
                <c:pt idx="3">
                  <c:v>2013</c:v>
                </c:pt>
                <c:pt idx="4">
                  <c:v>2014</c:v>
                </c:pt>
                <c:pt idx="5">
                  <c:v>2015</c:v>
                </c:pt>
                <c:pt idx="6">
                  <c:v>2016</c:v>
                </c:pt>
                <c:pt idx="7">
                  <c:v>2017</c:v>
                </c:pt>
                <c:pt idx="8">
                  <c:v>2018</c:v>
                </c:pt>
                <c:pt idx="9">
                  <c:v>2019</c:v>
                </c:pt>
                <c:pt idx="10">
                  <c:v>2020</c:v>
                </c:pt>
                <c:pt idx="11">
                  <c:v>2021</c:v>
                </c:pt>
                <c:pt idx="12">
                  <c:v>2022</c:v>
                </c:pt>
                <c:pt idx="13">
                  <c:v>2023</c:v>
                </c:pt>
                <c:pt idx="14">
                  <c:v>2024</c:v>
                </c:pt>
                <c:pt idx="15">
                  <c:v>2025</c:v>
                </c:pt>
                <c:pt idx="16">
                  <c:v>2026*</c:v>
                </c:pt>
              </c:strCache>
            </c:strRef>
          </c:cat>
          <c:val>
            <c:numRef>
              <c:f>'Chart Data'!$F$2:$F$18</c:f>
              <c:numCache>
                <c:formatCode>0</c:formatCode>
                <c:ptCount val="17"/>
                <c:pt idx="0">
                  <c:v>74.848218</c:v>
                </c:pt>
                <c:pt idx="1">
                  <c:v>73.83858</c:v>
                </c:pt>
                <c:pt idx="2">
                  <c:v>77.347932</c:v>
                </c:pt>
                <c:pt idx="3">
                  <c:v>83.340781</c:v>
                </c:pt>
                <c:pt idx="4">
                  <c:v>87.059698</c:v>
                </c:pt>
                <c:pt idx="5">
                  <c:v>95.172949</c:v>
                </c:pt>
                <c:pt idx="6">
                  <c:v>94.302058</c:v>
                </c:pt>
                <c:pt idx="7">
                  <c:v>91.716651</c:v>
                </c:pt>
                <c:pt idx="8">
                  <c:v>90.412807</c:v>
                </c:pt>
                <c:pt idx="9">
                  <c:v>92.362567</c:v>
                </c:pt>
                <c:pt idx="10">
                  <c:v>74.854403</c:v>
                </c:pt>
                <c:pt idx="11">
                  <c:v>70.282586</c:v>
                </c:pt>
                <c:pt idx="12">
                  <c:v>59.912785</c:v>
                </c:pt>
                <c:pt idx="13">
                  <c:v>65.7676</c:v>
                </c:pt>
                <c:pt idx="14">
                  <c:v>69.09105</c:v>
                </c:pt>
                <c:pt idx="15">
                  <c:v>64.885791</c:v>
                </c:pt>
                <c:pt idx="16">
                  <c:v>57.230318</c:v>
                </c:pt>
              </c:numCache>
            </c:numRef>
          </c: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8766E"/>
                </a:solidFill>
                <a:latin typeface="Arial"/>
                <a:ea typeface="Arial"/>
                <a:cs typeface="Arial"/>
              </a:defRPr>
            </a:pPr>
          </a:p>
        </c:txPr>
        <c:crossAx val="48672768"/>
      </c:catAx>
      <c:valAx>
        <c:axId val="48672768"/>
        <c:scaling>
          <c:orientation val="minMax"/>
          <c:max val="110"/>
          <c:min val="40"/>
        </c:scaling>
        <c:delete val="0"/>
        <c:axPos val="l"/>
        <c:majorGridlines>
          <c:spPr>
            <a:ln xmlns:a="http://schemas.openxmlformats.org/drawingml/2006/main" w="9525">
              <a:solidFill>
                <a:srgbClr val="DEE5E0"/>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Index points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8766E"/>
                </a:solidFill>
                <a:latin typeface="Arial"/>
                <a:ea typeface="Arial"/>
                <a:cs typeface="Aria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1425">
              <a:latin typeface="Arial"/>
              <a:ea typeface="Arial"/>
              <a:cs typeface="Arial"/>
            </a:defRPr>
          </a:pPr>
        </a:p>
      </c:txPr>
    </c:legend>
    <c:plotVisOnly val="1"/>
  </c:chart>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lineChart>
        <c:grouping val="standard"/>
        <c:varyColors val="0"/>
        <c:ser>
          <c:idx val="0"/>
          <c:order val="0"/>
          <c:tx>
            <c:v>Price level</c:v>
          </c:tx>
          <c:spPr>
            <a:ln xmlns:a="http://schemas.openxmlformats.org/drawingml/2006/main" w="28575">
              <a:solidFill>
                <a:srgbClr val="254C45"/>
              </a:solidFill>
            </a:ln>
          </c:spPr>
          <c:marker>
            <c:symbol val="none"/>
          </c:marker>
          <c:cat>
            <c:numRef>
              <c:f>'Chart Data'!$A$2:$A$9</c:f>
              <c:numCache>
                <c:formatCode>General</c:formatCode>
                <c:ptCount val="8"/>
                <c:pt idx="0">
                  <c:v>2019</c:v>
                </c:pt>
                <c:pt idx="1">
                  <c:v>2020</c:v>
                </c:pt>
                <c:pt idx="2">
                  <c:v>2021</c:v>
                </c:pt>
                <c:pt idx="3">
                  <c:v>2022</c:v>
                </c:pt>
                <c:pt idx="4">
                  <c:v>2023</c:v>
                </c:pt>
                <c:pt idx="5">
                  <c:v>2024</c:v>
                </c:pt>
                <c:pt idx="6">
                  <c:v>2025</c:v>
                </c:pt>
                <c:pt idx="7">
                  <c:v>2026</c:v>
                </c:pt>
              </c:numCache>
            </c:numRef>
          </c:cat>
          <c:val>
            <c:numRef>
              <c:f>'Chart Data'!$B$2:$B$9</c:f>
              <c:numCache>
                <c:formatCode>0</c:formatCode>
                <c:ptCount val="8"/>
                <c:pt idx="0">
                  <c:v>101.022696</c:v>
                </c:pt>
                <c:pt idx="1">
                  <c:v>102.497293</c:v>
                </c:pt>
                <c:pt idx="2">
                  <c:v>107.010735</c:v>
                </c:pt>
                <c:pt idx="3">
                  <c:v>113.864448</c:v>
                </c:pt>
                <c:pt idx="4">
                  <c:v>118.15659</c:v>
                </c:pt>
                <c:pt idx="5">
                  <c:v>120.670685</c:v>
                </c:pt>
                <c:pt idx="6">
                  <c:v>123.937449</c:v>
                </c:pt>
                <c:pt idx="7">
                  <c:v>127.936437</c:v>
                </c:pt>
              </c:numCache>
            </c:numRef>
          </c: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8766E"/>
                </a:solidFill>
                <a:latin typeface="Arial"/>
                <a:ea typeface="Arial"/>
                <a:cs typeface="Arial"/>
              </a:defRPr>
            </a:pPr>
          </a:p>
        </c:txPr>
        <c:crossAx val="48672768"/>
      </c:catAx>
      <c:valAx>
        <c:axId val="48672768"/>
        <c:scaling>
          <c:orientation val="minMax"/>
          <c:max val="135"/>
          <c:min val="95"/>
        </c:scaling>
        <c:delete val="0"/>
        <c:axPos val="l"/>
        <c:majorGridlines>
          <c:spPr>
            <a:ln xmlns:a="http://schemas.openxmlformats.org/drawingml/2006/main" w="9525">
              <a:solidFill>
                <a:srgbClr val="DEE5E0"/>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8766E"/>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lineChart>
        <c:grouping val="standard"/>
        <c:varyColors val="0"/>
        <c:ser>
          <c:idx val="0"/>
          <c:order val="0"/>
          <c:tx>
            <c:v>PCE inflation</c:v>
          </c:tx>
          <c:spPr>
            <a:ln xmlns:a="http://schemas.openxmlformats.org/drawingml/2006/main" w="28575">
              <a:solidFill>
                <a:srgbClr val="A37D46"/>
              </a:solidFill>
            </a:ln>
          </c:spPr>
          <c:marker>
            <c:symbol val="none"/>
          </c:marker>
          <c:cat>
            <c:numRef>
              <c:f>'Chart Data'!$A$2:$A$9</c:f>
              <c:numCache>
                <c:formatCode>General</c:formatCode>
                <c:ptCount val="8"/>
                <c:pt idx="0">
                  <c:v>2019</c:v>
                </c:pt>
                <c:pt idx="1">
                  <c:v>2020</c:v>
                </c:pt>
                <c:pt idx="2">
                  <c:v>2021</c:v>
                </c:pt>
                <c:pt idx="3">
                  <c:v>2022</c:v>
                </c:pt>
                <c:pt idx="4">
                  <c:v>2023</c:v>
                </c:pt>
                <c:pt idx="5">
                  <c:v>2024</c:v>
                </c:pt>
                <c:pt idx="6">
                  <c:v>2025</c:v>
                </c:pt>
                <c:pt idx="7">
                  <c:v>2026</c:v>
                </c:pt>
              </c:numCache>
            </c:numRef>
          </c:cat>
          <c:val>
            <c:numRef>
              <c:f>'Chart Data'!$B$2:$B$9</c:f>
              <c:numCache>
                <c:formatCode>0</c:formatCode>
                <c:ptCount val="8"/>
                <c:pt idx="0">
                  <c:v>1.33369</c:v>
                </c:pt>
                <c:pt idx="1">
                  <c:v>1.372462</c:v>
                </c:pt>
                <c:pt idx="2">
                  <c:v>4.380862</c:v>
                </c:pt>
                <c:pt idx="3">
                  <c:v>6.244435</c:v>
                </c:pt>
                <c:pt idx="4">
                  <c:v>3.438635</c:v>
                </c:pt>
                <c:pt idx="5">
                  <c:v>2.094953</c:v>
                </c:pt>
                <c:pt idx="6">
                  <c:v>2.741163</c:v>
                </c:pt>
                <c:pt idx="7">
                  <c:v>3.668053</c:v>
                </c:pt>
              </c:numCache>
            </c:numRef>
          </c: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8766E"/>
                </a:solidFill>
                <a:latin typeface="Arial"/>
                <a:ea typeface="Arial"/>
                <a:cs typeface="Arial"/>
              </a:defRPr>
            </a:pPr>
          </a:p>
        </c:txPr>
        <c:crossAx val="48672768"/>
      </c:catAx>
      <c:valAx>
        <c:axId val="48672768"/>
        <c:scaling>
          <c:orientation val="minMax"/>
          <c:max val="8"/>
          <c:min val="0"/>
        </c:scaling>
        <c:delete val="0"/>
        <c:axPos val="l"/>
        <c:majorGridlines>
          <c:spPr>
            <a:ln xmlns:a="http://schemas.openxmlformats.org/drawingml/2006/main" w="9525">
              <a:solidFill>
                <a:srgbClr val="DEE5E0"/>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8766E"/>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News</c:v>
          </c:tx>
          <c:spPr>
            <a:solidFill xmlns:a="http://schemas.openxmlformats.org/drawingml/2006/main">
              <a:srgbClr val="254C45"/>
            </a:solidFill>
          </c:spPr>
          <c:invertIfNegative val="0"/>
          <c:cat>
            <c:strRef>
              <c:f>'Chart Data'!$A$2:$A$5</c:f>
              <c:strCache>
                <c:ptCount val="4"/>
                <c:pt idx="0">
                  <c:v>Anchoring to past prices
Price-level framing</c:v>
                </c:pt>
                <c:pt idx="1">
                  <c:v>Confirmation bias
Political blame</c:v>
                </c:pt>
                <c:pt idx="2">
                  <c:v>Availability bias
Topic salience (prices)</c:v>
                </c:pt>
                <c:pt idx="3">
                  <c:v>Negativity bias
Negative economic tone</c:v>
                </c:pt>
              </c:strCache>
            </c:strRef>
          </c:cat>
          <c:val>
            <c:numRef>
              <c:f>'Chart Data'!$B$2:$B$5</c:f>
              <c:numCache>
                <c:formatCode>0.0</c:formatCode>
                <c:ptCount val="4"/>
                <c:pt idx="0">
                  <c:v>8.26087</c:v>
                </c:pt>
                <c:pt idx="1">
                  <c:v>22.608696</c:v>
                </c:pt>
                <c:pt idx="2">
                  <c:v>25.652174</c:v>
                </c:pt>
                <c:pt idx="3">
                  <c:v>45.217391</c:v>
                </c:pt>
              </c:numCache>
            </c:numRef>
          </c:val>
        </c:ser>
        <c:ser>
          <c:idx val="1"/>
          <c:order val="1"/>
          <c:tx>
            <c:v>X</c:v>
          </c:tx>
          <c:spPr>
            <a:solidFill xmlns:a="http://schemas.openxmlformats.org/drawingml/2006/main">
              <a:srgbClr val="A37D46"/>
            </a:solidFill>
          </c:spPr>
          <c:invertIfNegative val="0"/>
          <c:cat>
            <c:strRef>
              <c:f>'Chart Data'!$C$2:$C$5</c:f>
              <c:strCache>
                <c:ptCount val="4"/>
                <c:pt idx="0">
                  <c:v>Anchoring to past prices
Price-level framing</c:v>
                </c:pt>
                <c:pt idx="1">
                  <c:v>Confirmation bias
Political blame</c:v>
                </c:pt>
                <c:pt idx="2">
                  <c:v>Availability bias
Topic salience (prices)</c:v>
                </c:pt>
                <c:pt idx="3">
                  <c:v>Negativity bias
Negative economic tone</c:v>
                </c:pt>
              </c:strCache>
            </c:strRef>
          </c:cat>
          <c:val>
            <c:numRef>
              <c:f>'Chart Data'!$D$2:$D$5</c:f>
              <c:numCache>
                <c:formatCode>0.0</c:formatCode>
                <c:ptCount val="4"/>
                <c:pt idx="0">
                  <c:v>10.494572</c:v>
                </c:pt>
                <c:pt idx="1">
                  <c:v>49.577805</c:v>
                </c:pt>
                <c:pt idx="2">
                  <c:v>37.635706</c:v>
                </c:pt>
                <c:pt idx="3">
                  <c:v>53.075995</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875" b="1">
                  <a:solidFill>
                    <a:srgbClr val="252B29"/>
                  </a:solidFill>
                  <a:latin typeface="Arial"/>
                  <a:ea typeface="Arial"/>
                  <a:cs typeface="Aria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75">
                <a:solidFill>
                  <a:srgbClr val="252B29"/>
                </a:solidFill>
                <a:latin typeface="Arial"/>
                <a:ea typeface="Arial"/>
                <a:cs typeface="Arial"/>
              </a:defRPr>
            </a:pPr>
          </a:p>
        </c:txPr>
        <c:crossAx val="48672768"/>
      </c:catAx>
      <c:valAx>
        <c:axId val="48672768"/>
        <c:scaling>
          <c:orientation val="minMax"/>
          <c:max val="65"/>
          <c:min val="0"/>
        </c:scaling>
        <c:delete val="0"/>
        <c:axPos val="b"/>
        <c:majorGridlines>
          <c:spPr>
            <a:ln xmlns:a="http://schemas.openxmlformats.org/drawingml/2006/main" w="9525">
              <a:solidFill>
                <a:srgbClr val="DEE5E0"/>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Observed content proxy (%)</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8766E"/>
                </a:solidFill>
                <a:latin typeface="Arial"/>
                <a:ea typeface="Arial"/>
                <a:cs typeface="Aria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legend>
    <c:plotVisOnly val="1"/>
  </c:chart>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Without media tone</c:v>
          </c:tx>
          <c:spPr>
            <a:solidFill xmlns:a="http://schemas.openxmlformats.org/drawingml/2006/main">
              <a:srgbClr val="68766E"/>
            </a:solidFill>
          </c:spPr>
          <c:invertIfNegative val="0"/>
          <c:cat>
            <c:strRef>
              <c:f>'Chart Data'!$A$2:$A$4</c:f>
              <c:strCache>
                <c:ptCount val="3"/>
                <c:pt idx="0">
                  <c:v>Memory + seasonality + survey mode</c:v>
                </c:pt>
                <c:pt idx="1">
                  <c:v>Memory + income + price levels</c:v>
                </c:pt>
                <c:pt idx="2">
                  <c:v>Economy + prior sentiment</c:v>
                </c:pt>
              </c:strCache>
            </c:strRef>
          </c:cat>
          <c:val>
            <c:numRef>
              <c:f>'Chart Data'!$B$2:$B$4</c:f>
              <c:numCache>
                <c:formatCode>0.000</c:formatCode>
                <c:ptCount val="3"/>
                <c:pt idx="0">
                  <c:v>3.857192</c:v>
                </c:pt>
                <c:pt idx="1">
                  <c:v>4.030138</c:v>
                </c:pt>
                <c:pt idx="2">
                  <c:v>4.198674</c:v>
                </c:pt>
              </c:numCache>
            </c:numRef>
          </c:val>
        </c:ser>
        <c:ser>
          <c:idx val="1"/>
          <c:order val="1"/>
          <c:tx>
            <c:v>With media tone</c:v>
          </c:tx>
          <c:spPr>
            <a:solidFill xmlns:a="http://schemas.openxmlformats.org/drawingml/2006/main">
              <a:srgbClr val="254C45"/>
            </a:solidFill>
          </c:spPr>
          <c:invertIfNegative val="0"/>
          <c:cat>
            <c:strRef>
              <c:f>'Chart Data'!$C$2:$C$4</c:f>
              <c:strCache>
                <c:ptCount val="3"/>
                <c:pt idx="0">
                  <c:v>Memory + seasonality + survey mode</c:v>
                </c:pt>
                <c:pt idx="1">
                  <c:v>Memory + income + price levels</c:v>
                </c:pt>
                <c:pt idx="2">
                  <c:v>Economy + prior sentiment</c:v>
                </c:pt>
              </c:strCache>
            </c:strRef>
          </c:cat>
          <c:val>
            <c:numRef>
              <c:f>'Chart Data'!$D$2:$D$4</c:f>
              <c:numCache>
                <c:formatCode>0.000</c:formatCode>
                <c:ptCount val="3"/>
                <c:pt idx="0">
                  <c:v>3.526921</c:v>
                </c:pt>
                <c:pt idx="1">
                  <c:v>4.004333</c:v>
                </c:pt>
                <c:pt idx="2">
                  <c:v>4.198092</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1875" b="1">
                  <a:solidFill>
                    <a:srgbClr val="252B29"/>
                  </a:solidFill>
                  <a:latin typeface="Arial"/>
                  <a:ea typeface="Arial"/>
                  <a:cs typeface="Aria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75">
                <a:solidFill>
                  <a:srgbClr val="252B29"/>
                </a:solidFill>
                <a:latin typeface="Arial"/>
                <a:ea typeface="Arial"/>
                <a:cs typeface="Arial"/>
              </a:defRPr>
            </a:pPr>
          </a:p>
        </c:txPr>
        <c:crossAx val="48672768"/>
      </c:catAx>
      <c:valAx>
        <c:axId val="48672768"/>
        <c:scaling>
          <c:orientation val="minMax"/>
          <c:max val="5.2"/>
          <c:min val="0"/>
        </c:scaling>
        <c:delete val="0"/>
        <c:axPos val="b"/>
        <c:majorGridlines>
          <c:spPr>
            <a:ln xmlns:a="http://schemas.openxmlformats.org/drawingml/2006/main" w="9525">
              <a:solidFill>
                <a:srgbClr val="DEE5E0"/>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Mean absolute error (lower is better)</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8766E"/>
                </a:solidFill>
                <a:latin typeface="Arial"/>
                <a:ea typeface="Arial"/>
                <a:cs typeface="Aria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legend>
    <c:plotVisOnly val="1"/>
  </c:chart>
  <c:externalData r:id="rIdChartSnapshot1">
    <c:autoUpdate val="0"/>
  </c:externalData>
</c:chartSpace>
</file>

<file path=ppt/slides/charts/chart8.xml><?xml version="1.0" encoding="utf-8"?>
<c:chartSpace xmlns:c="http://schemas.openxmlformats.org/drawingml/2006/chart" xmlns:r="http://schemas.openxmlformats.org/officeDocument/2006/relationships">
  <c:lang val="en-US"/>
  <c:chart>
    <c:plotArea>
      <c:barChart>
        <c:barDir val="bar"/>
        <c:varyColors val="0"/>
        <c:ser>
          <c:idx val="0"/>
          <c:order val="0"/>
          <c:tx>
            <c:v>Media change in MAE</c:v>
          </c:tx>
          <c:spPr>
            <a:solidFill xmlns:a="http://schemas.openxmlformats.org/drawingml/2006/main">
              <a:srgbClr val="254C45"/>
            </a:solidFill>
          </c:spPr>
          <c:invertIfNegative val="0"/>
          <c:cat>
            <c:strRef>
              <c:f>'Chart Data'!$A$2:$A$4</c:f>
              <c:strCache>
                <c:ptCount val="3"/>
                <c:pt idx="0">
                  <c:v>At least 3 news / 5 X (13 months)</c:v>
                </c:pt>
                <c:pt idx="1">
                  <c:v>At least 2 news / 5 X (25 months)</c:v>
                </c:pt>
                <c:pt idx="2">
                  <c:v>At least 1 news / 3 X (40 months)</c:v>
                </c:pt>
              </c:strCache>
            </c:strRef>
          </c:cat>
          <c:val>
            <c:numRef>
              <c:f>'Chart Data'!$B$2:$B$4</c:f>
              <c:numCache>
                <c:formatCode>0.00</c:formatCode>
                <c:ptCount val="3"/>
                <c:pt idx="0">
                  <c:v>0.29886</c:v>
                </c:pt>
                <c:pt idx="1">
                  <c:v>-0.193224</c:v>
                </c:pt>
                <c:pt idx="2">
                  <c:v>-0.330271</c:v>
                </c:pt>
              </c:numCache>
            </c:numRef>
          </c:val>
        </c:ser>
        <c:dLbls>
          <c:numFmt formatCode="+0.000;-0.000;0.000" sourceLinked="0"/>
          <c:txPr>
            <a:bodyPr xmlns:a="http://schemas.openxmlformats.org/drawingml/2006/main" anchorCtr="1"/>
            <a:lstStyle xmlns:a="http://schemas.openxmlformats.org/drawingml/2006/main"/>
            <a:p xmlns:a="http://schemas.openxmlformats.org/drawingml/2006/main">
              <a:pPr>
                <a:defRPr sz="2100" b="1">
                  <a:solidFill>
                    <a:srgbClr val="254C45"/>
                  </a:solidFill>
                  <a:latin typeface="Arial"/>
                  <a:ea typeface="Arial"/>
                  <a:cs typeface="Arial"/>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666666"/>
                </a:solidFill>
                <a:latin typeface="Arial"/>
                <a:ea typeface="Arial"/>
                <a:cs typeface="Arial"/>
              </a:defRPr>
            </a:pPr>
          </a:p>
        </c:txPr>
        <c:crossAx val="48672768"/>
      </c:catAx>
      <c:valAx>
        <c:axId val="48672768"/>
        <c:scaling>
          <c:orientation val="minMax"/>
          <c:max val="0.5"/>
          <c:min val="-0.5"/>
        </c:scaling>
        <c:delete val="0"/>
        <c:axPos val="b"/>
        <c:majorGridlines>
          <c:spPr>
            <a:ln xmlns:a="http://schemas.openxmlformats.org/drawingml/2006/main" w="9525">
              <a:solidFill>
                <a:srgbClr val="DEE5E0"/>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Change in MAE (negative = improvement)</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8766E"/>
                </a:solidFill>
                <a:latin typeface="Arial"/>
                <a:ea typeface="Arial"/>
                <a:cs typeface="Arial"/>
              </a:defRPr>
            </a:pPr>
          </a:p>
        </c:txPr>
        <c:crossAx val="48650112"/>
        <c:crossBetween val="between"/>
        <c:majorUnit val="0.25"/>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Media narratives and the&#10;consumer sentiment gap">
            <a:extLst xmlns:a="http://schemas.openxmlformats.org/drawingml/2006/main">
              <a:ext uri="{FF2B5EF4-FFF2-40B4-BE49-F238E27FC236}">
                <a16:creationId xmlns:a16="http://schemas.microsoft.com/office/drawing/2014/main" id="{5CAF0848-2270-41C8-89BB-93D53FD94C5D}"/>
              </a:ext>
            </a:extLst>
          </p:cNvPr>
          <p:cNvSpPr>
            <a:spLocks xmlns:a="http://schemas.openxmlformats.org/drawingml/2006/main" noGrp="1"/>
          </p:cNvSpPr>
          <p:nvPr/>
        </p:nvSpPr>
        <p:spPr>
          <a:xfrm xmlns:a="http://schemas.openxmlformats.org/drawingml/2006/main">
            <a:off x="571500" y="1476375"/>
            <a:ext cx="11049000"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650" b="1">
                <a:solidFill>
                  <a:srgbClr val="254C45"/>
                </a:solidFill>
                <a:latin typeface="Arial"/>
                <a:ea typeface="Arial"/>
                <a:cs typeface="Arial"/>
              </a:defRPr>
            </a:defPPr>
          </a:lstStyle>
          <a:p xmlns:a="http://schemas.openxmlformats.org/drawingml/2006/main">
            <a:pPr>
              <a:defRPr sz="4650" b="1">
                <a:solidFill>
                  <a:srgbClr val="254C45"/>
                </a:solidFill>
                <a:latin typeface="Arial"/>
                <a:ea typeface="Arial"/>
                <a:cs typeface="Arial"/>
              </a:defRPr>
            </a:pPr>
            <a:r>
              <a:rPr sz="4650" b="1">
                <a:solidFill>
                  <a:srgbClr val="254C45"/>
                </a:solidFill>
                <a:latin typeface="Arial"/>
                <a:ea typeface="Arial"/>
                <a:cs typeface="Arial"/>
              </a:rPr>
              <a:t>Media narratives and the</a:t>
            </a:r>
          </a:p>
          <a:p xmlns:a="http://schemas.openxmlformats.org/drawingml/2006/main">
            <a:pPr>
              <a:defRPr sz="4650" b="1">
                <a:solidFill>
                  <a:srgbClr val="254C45"/>
                </a:solidFill>
                <a:latin typeface="Arial"/>
                <a:ea typeface="Arial"/>
                <a:cs typeface="Arial"/>
              </a:defRPr>
            </a:pPr>
            <a:r>
              <a:rPr sz="4650" b="1">
                <a:solidFill>
                  <a:srgbClr val="254C45"/>
                </a:solidFill>
                <a:latin typeface="Arial"/>
                <a:ea typeface="Arial"/>
                <a:cs typeface="Arial"/>
              </a:rPr>
              <a:t>consumer sentiment gap</a:t>
            </a:r>
          </a:p>
        </p:txBody>
      </p:sp>
      <p:sp>
        <p:nvSpPr>
          <p:cNvPr id="2" name="Findings from six research questions">
            <a:extLst xmlns:a="http://schemas.openxmlformats.org/drawingml/2006/main">
              <a:ext uri="{FF2B5EF4-FFF2-40B4-BE49-F238E27FC236}">
                <a16:creationId xmlns:a16="http://schemas.microsoft.com/office/drawing/2014/main" id="{74A853D2-4AAA-4F79-964F-8DF336E3A162}"/>
              </a:ext>
            </a:extLst>
          </p:cNvPr>
          <p:cNvSpPr>
            <a:spLocks xmlns:a="http://schemas.openxmlformats.org/drawingml/2006/main" noGrp="1"/>
          </p:cNvSpPr>
          <p:nvPr/>
        </p:nvSpPr>
        <p:spPr>
          <a:xfrm xmlns:a="http://schemas.openxmlformats.org/drawingml/2006/main">
            <a:off x="609600" y="3790950"/>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0">
                <a:solidFill>
                  <a:srgbClr val="252B29"/>
                </a:solidFill>
                <a:latin typeface="Arial"/>
                <a:ea typeface="Arial"/>
                <a:cs typeface="Arial"/>
              </a:defRPr>
            </a:defPPr>
          </a:lstStyle>
          <a:p xmlns:a="http://schemas.openxmlformats.org/drawingml/2006/main">
            <a:pPr>
              <a:defRPr sz="2475" b="0">
                <a:solidFill>
                  <a:srgbClr val="252B29"/>
                </a:solidFill>
                <a:latin typeface="Arial"/>
                <a:ea typeface="Arial"/>
                <a:cs typeface="Arial"/>
              </a:defRPr>
            </a:pPr>
            <a:r>
              <a:rPr sz="2475" b="0">
                <a:solidFill>
                  <a:srgbClr val="252B29"/>
                </a:solidFill>
                <a:latin typeface="Arial"/>
                <a:ea typeface="Arial"/>
                <a:cs typeface="Arial"/>
              </a:rPr>
              <a:t>Findings from six research questions</a:t>
            </a:r>
          </a:p>
        </p:txBody>
      </p:sp>
      <p:sp>
        <p:nvSpPr>
          <p:cNvPr id="3" name="AI Applications in Finance&#10;Analysis cutoff: 16 October 2026">
            <a:extLst xmlns:a="http://schemas.openxmlformats.org/drawingml/2006/main">
              <a:ext uri="{FF2B5EF4-FFF2-40B4-BE49-F238E27FC236}">
                <a16:creationId xmlns:a16="http://schemas.microsoft.com/office/drawing/2014/main" id="{937F2662-6333-4E8D-A0C8-B05F7DEB9095}"/>
              </a:ext>
            </a:extLst>
          </p:cNvPr>
          <p:cNvSpPr>
            <a:spLocks xmlns:a="http://schemas.openxmlformats.org/drawingml/2006/main" noGrp="1"/>
          </p:cNvSpPr>
          <p:nvPr/>
        </p:nvSpPr>
        <p:spPr>
          <a:xfrm xmlns:a="http://schemas.openxmlformats.org/drawingml/2006/main">
            <a:off x="609600" y="5581650"/>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68766E"/>
                </a:solidFill>
                <a:latin typeface="Arial"/>
                <a:ea typeface="Arial"/>
                <a:cs typeface="Arial"/>
              </a:defRPr>
            </a:defPPr>
          </a:lstStyle>
          <a:p xmlns:a="http://schemas.openxmlformats.org/drawingml/2006/main">
            <a:pPr>
              <a:defRPr sz="1725" b="0">
                <a:solidFill>
                  <a:srgbClr val="68766E"/>
                </a:solidFill>
                <a:latin typeface="Arial"/>
                <a:ea typeface="Arial"/>
                <a:cs typeface="Arial"/>
              </a:defRPr>
            </a:pPr>
            <a:r>
              <a:rPr sz="1725" b="0">
                <a:solidFill>
                  <a:srgbClr val="68766E"/>
                </a:solidFill>
                <a:latin typeface="Arial"/>
                <a:ea typeface="Arial"/>
                <a:cs typeface="Arial"/>
              </a:rPr>
              <a:t>AI Applications in Finance</a:t>
            </a:r>
          </a:p>
          <a:p xmlns:a="http://schemas.openxmlformats.org/drawingml/2006/main">
            <a:pPr>
              <a:defRPr sz="1725" b="0">
                <a:solidFill>
                  <a:srgbClr val="68766E"/>
                </a:solidFill>
                <a:latin typeface="Arial"/>
                <a:ea typeface="Arial"/>
                <a:cs typeface="Arial"/>
              </a:defRPr>
            </a:pPr>
            <a:r>
              <a:rPr sz="1725" b="0">
                <a:solidFill>
                  <a:srgbClr val="68766E"/>
                </a:solidFill>
                <a:latin typeface="Arial"/>
                <a:ea typeface="Arial"/>
                <a:cs typeface="Arial"/>
              </a:rPr>
              <a:t>Analysis cutoff: 16 October 2026</a:t>
            </a:r>
          </a:p>
        </p:txBody>
      </p:sp>
    </p:spTree>
    <p:extLst>
      <p:ext uri="{BB962C8B-B14F-4D97-AF65-F5344CB8AC3E}">
        <p14:creationId xmlns:p14="http://schemas.microsoft.com/office/powerpoint/2010/main" val="171619666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What does the Michigan index measure?">
            <a:extLst xmlns:a="http://schemas.openxmlformats.org/drawingml/2006/main">
              <a:ext uri="{FF2B5EF4-FFF2-40B4-BE49-F238E27FC236}">
                <a16:creationId xmlns:a16="http://schemas.microsoft.com/office/drawing/2014/main" id="{FC195E47-8DFD-4C95-ADE5-17F57107C063}"/>
              </a:ext>
            </a:extLst>
          </p:cNvPr>
          <p:cNvSpPr>
            <a:spLocks xmlns:a="http://schemas.openxmlformats.org/drawingml/2006/main" noGrp="1"/>
          </p:cNvSpPr>
          <p:nvPr/>
        </p:nvSpPr>
        <p:spPr>
          <a:xfrm xmlns:a="http://schemas.openxmlformats.org/drawingml/2006/main">
            <a:off x="533400" y="342900"/>
            <a:ext cx="1109662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254C45"/>
                </a:solidFill>
                <a:latin typeface="Arial"/>
                <a:ea typeface="Arial"/>
                <a:cs typeface="Arial"/>
              </a:defRPr>
            </a:defPPr>
          </a:lstStyle>
          <a:p xmlns:a="http://schemas.openxmlformats.org/drawingml/2006/main">
            <a:pPr>
              <a:defRPr sz="2850" b="1">
                <a:solidFill>
                  <a:srgbClr val="254C45"/>
                </a:solidFill>
                <a:latin typeface="Arial"/>
                <a:ea typeface="Arial"/>
                <a:cs typeface="Arial"/>
              </a:defRPr>
            </a:pPr>
            <a:r>
              <a:rPr sz="2850" b="1">
                <a:solidFill>
                  <a:srgbClr val="254C45"/>
                </a:solidFill>
                <a:latin typeface="Arial"/>
                <a:ea typeface="Arial"/>
                <a:cs typeface="Arial"/>
              </a:rPr>
              <a:t>What does the Michigan index measure?</a:t>
            </a:r>
          </a:p>
        </p:txBody>
      </p:sp>
      <p:sp>
        <p:nvSpPr>
          <p:cNvPr id="2" name="Five survey answers combine current conditions and expectations">
            <a:extLst xmlns:a="http://schemas.openxmlformats.org/drawingml/2006/main">
              <a:ext uri="{FF2B5EF4-FFF2-40B4-BE49-F238E27FC236}">
                <a16:creationId xmlns:a16="http://schemas.microsoft.com/office/drawing/2014/main" id="{13F1E627-BC75-4F4C-BCD5-8F821D70ED50}"/>
              </a:ext>
            </a:extLst>
          </p:cNvPr>
          <p:cNvSpPr>
            <a:spLocks xmlns:a="http://schemas.openxmlformats.org/drawingml/2006/main" noGrp="1"/>
          </p:cNvSpPr>
          <p:nvPr/>
        </p:nvSpPr>
        <p:spPr>
          <a:xfrm xmlns:a="http://schemas.openxmlformats.org/drawingml/2006/main">
            <a:off x="571500" y="1466850"/>
            <a:ext cx="11001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252B29"/>
                </a:solidFill>
                <a:latin typeface="Arial"/>
                <a:ea typeface="Arial"/>
                <a:cs typeface="Arial"/>
              </a:defRPr>
            </a:defPPr>
          </a:lstStyle>
          <a:p xmlns:a="http://schemas.openxmlformats.org/drawingml/2006/main">
            <a:pPr>
              <a:defRPr sz="2175" b="1">
                <a:solidFill>
                  <a:srgbClr val="252B29"/>
                </a:solidFill>
                <a:latin typeface="Arial"/>
                <a:ea typeface="Arial"/>
                <a:cs typeface="Arial"/>
              </a:defRPr>
            </a:pPr>
            <a:r>
              <a:rPr sz="2175" b="1">
                <a:solidFill>
                  <a:srgbClr val="252B29"/>
                </a:solidFill>
                <a:latin typeface="Arial"/>
                <a:ea typeface="Arial"/>
                <a:cs typeface="Arial"/>
              </a:rPr>
              <a:t>Five survey answers combine current conditions and expectations</a:t>
            </a:r>
          </a:p>
        </p:txBody>
      </p:sp>
      <p:sp>
        <p:nvSpPr>
          <p:cNvPr id="3" name="02">
            <a:extLst xmlns:a="http://schemas.openxmlformats.org/drawingml/2006/main">
              <a:ext uri="{FF2B5EF4-FFF2-40B4-BE49-F238E27FC236}">
                <a16:creationId xmlns:a16="http://schemas.microsoft.com/office/drawing/2014/main" id="{74876D34-C79E-47AB-B4E2-C89770007071}"/>
              </a:ext>
            </a:extLst>
          </p:cNvPr>
          <p:cNvSpPr>
            <a:spLocks xmlns:a="http://schemas.openxmlformats.org/drawingml/2006/main" noGrp="1"/>
          </p:cNvSpPr>
          <p:nvPr/>
        </p:nvSpPr>
        <p:spPr>
          <a:xfrm xmlns:a="http://schemas.openxmlformats.org/drawingml/2006/main">
            <a:off x="11144250" y="64579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8766E"/>
                </a:solidFill>
                <a:latin typeface="Arial"/>
                <a:ea typeface="Arial"/>
                <a:cs typeface="Arial"/>
              </a:defRPr>
            </a:defPPr>
          </a:lstStyle>
          <a:p xmlns:a="http://schemas.openxmlformats.org/drawingml/2006/main">
            <a:pPr>
              <a:defRPr sz="1275" b="0">
                <a:solidFill>
                  <a:srgbClr val="68766E"/>
                </a:solidFill>
                <a:latin typeface="Arial"/>
                <a:ea typeface="Arial"/>
                <a:cs typeface="Arial"/>
              </a:defRPr>
            </a:pPr>
            <a:r>
              <a:rPr sz="1275" b="0">
                <a:solidFill>
                  <a:srgbClr val="68766E"/>
                </a:solidFill>
                <a:latin typeface="Arial"/>
                <a:ea typeface="Arial"/>
                <a:cs typeface="Arial"/>
              </a:rPr>
              <a:t>02</a:t>
            </a:r>
          </a:p>
        </p:txBody>
      </p:sp>
      <p:sp>
        <p:nvSpPr>
          <p:cNvPr id="4" name="Current conditions">
            <a:extLst xmlns:a="http://schemas.openxmlformats.org/drawingml/2006/main">
              <a:ext uri="{FF2B5EF4-FFF2-40B4-BE49-F238E27FC236}">
                <a16:creationId xmlns:a16="http://schemas.microsoft.com/office/drawing/2014/main" id="{5E791B5D-4E4A-4FCF-A1A8-2847C94BD7F4}"/>
              </a:ext>
            </a:extLst>
          </p:cNvPr>
          <p:cNvSpPr>
            <a:spLocks xmlns:a="http://schemas.openxmlformats.org/drawingml/2006/main" noGrp="1"/>
          </p:cNvSpPr>
          <p:nvPr/>
        </p:nvSpPr>
        <p:spPr>
          <a:xfrm xmlns:a="http://schemas.openxmlformats.org/drawingml/2006/main">
            <a:off x="619125" y="2381250"/>
            <a:ext cx="495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254C45"/>
                </a:solidFill>
                <a:latin typeface="Arial"/>
                <a:ea typeface="Arial"/>
                <a:cs typeface="Arial"/>
              </a:defRPr>
            </a:defPPr>
          </a:lstStyle>
          <a:p xmlns:a="http://schemas.openxmlformats.org/drawingml/2006/main">
            <a:pPr>
              <a:defRPr sz="2175" b="1">
                <a:solidFill>
                  <a:srgbClr val="254C45"/>
                </a:solidFill>
                <a:latin typeface="Arial"/>
                <a:ea typeface="Arial"/>
                <a:cs typeface="Arial"/>
              </a:defRPr>
            </a:pPr>
            <a:r>
              <a:rPr sz="2175" b="1">
                <a:solidFill>
                  <a:srgbClr val="254C45"/>
                </a:solidFill>
                <a:latin typeface="Arial"/>
                <a:ea typeface="Arial"/>
                <a:cs typeface="Arial"/>
              </a:rPr>
              <a:t>Current conditions</a:t>
            </a:r>
          </a:p>
        </p:txBody>
      </p:sp>
      <p:sp>
        <p:nvSpPr>
          <p:cNvPr id="5" name="Family finances versus a year ago&#10;Buying major household items">
            <a:extLst xmlns:a="http://schemas.openxmlformats.org/drawingml/2006/main">
              <a:ext uri="{FF2B5EF4-FFF2-40B4-BE49-F238E27FC236}">
                <a16:creationId xmlns:a16="http://schemas.microsoft.com/office/drawing/2014/main" id="{B139BD6D-6857-4523-A1BC-4B818397D988}"/>
              </a:ext>
            </a:extLst>
          </p:cNvPr>
          <p:cNvSpPr>
            <a:spLocks xmlns:a="http://schemas.openxmlformats.org/drawingml/2006/main" noGrp="1"/>
          </p:cNvSpPr>
          <p:nvPr/>
        </p:nvSpPr>
        <p:spPr>
          <a:xfrm xmlns:a="http://schemas.openxmlformats.org/drawingml/2006/main">
            <a:off x="619125" y="2952750"/>
            <a:ext cx="50958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52B29"/>
                </a:solidFill>
                <a:latin typeface="Arial"/>
                <a:ea typeface="Arial"/>
                <a:cs typeface="Arial"/>
              </a:defRPr>
            </a:defPPr>
          </a:lstStyle>
          <a:p xmlns:a="http://schemas.openxmlformats.org/drawingml/2006/main">
            <a:pPr>
              <a:defRPr sz="2100" b="0">
                <a:solidFill>
                  <a:srgbClr val="252B29"/>
                </a:solidFill>
                <a:latin typeface="Arial"/>
                <a:ea typeface="Arial"/>
                <a:cs typeface="Arial"/>
              </a:defRPr>
            </a:pPr>
            <a:r>
              <a:rPr sz="2100" b="0">
                <a:solidFill>
                  <a:srgbClr val="252B29"/>
                </a:solidFill>
                <a:latin typeface="Arial"/>
                <a:ea typeface="Arial"/>
                <a:cs typeface="Arial"/>
              </a:rPr>
              <a:t>Family finances versus a year ago</a:t>
            </a:r>
          </a:p>
          <a:p xmlns:a="http://schemas.openxmlformats.org/drawingml/2006/main">
            <a:pPr>
              <a:defRPr sz="2100" b="0">
                <a:solidFill>
                  <a:srgbClr val="252B29"/>
                </a:solidFill>
                <a:latin typeface="Arial"/>
                <a:ea typeface="Arial"/>
                <a:cs typeface="Arial"/>
              </a:defRPr>
            </a:pPr>
            <a:r>
              <a:rPr sz="2100" b="0">
                <a:solidFill>
                  <a:srgbClr val="252B29"/>
                </a:solidFill>
                <a:latin typeface="Arial"/>
                <a:ea typeface="Arial"/>
                <a:cs typeface="Arial"/>
              </a:rPr>
              <a:t>Buying major household items</a:t>
            </a:r>
          </a:p>
        </p:txBody>
      </p:sp>
      <p:sp>
        <p:nvSpPr>
          <p:cNvPr id="6" name="Expectations">
            <a:extLst xmlns:a="http://schemas.openxmlformats.org/drawingml/2006/main">
              <a:ext uri="{FF2B5EF4-FFF2-40B4-BE49-F238E27FC236}">
                <a16:creationId xmlns:a16="http://schemas.microsoft.com/office/drawing/2014/main" id="{2F71486B-DF73-46CC-A04C-AFE6C3C5A6B7}"/>
              </a:ext>
            </a:extLst>
          </p:cNvPr>
          <p:cNvSpPr>
            <a:spLocks xmlns:a="http://schemas.openxmlformats.org/drawingml/2006/main" noGrp="1"/>
          </p:cNvSpPr>
          <p:nvPr/>
        </p:nvSpPr>
        <p:spPr>
          <a:xfrm xmlns:a="http://schemas.openxmlformats.org/drawingml/2006/main">
            <a:off x="6429375" y="2381250"/>
            <a:ext cx="5095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254C45"/>
                </a:solidFill>
                <a:latin typeface="Arial"/>
                <a:ea typeface="Arial"/>
                <a:cs typeface="Arial"/>
              </a:defRPr>
            </a:defPPr>
          </a:lstStyle>
          <a:p xmlns:a="http://schemas.openxmlformats.org/drawingml/2006/main">
            <a:pPr>
              <a:defRPr sz="2175" b="1">
                <a:solidFill>
                  <a:srgbClr val="254C45"/>
                </a:solidFill>
                <a:latin typeface="Arial"/>
                <a:ea typeface="Arial"/>
                <a:cs typeface="Arial"/>
              </a:defRPr>
            </a:pPr>
            <a:r>
              <a:rPr sz="2175" b="1">
                <a:solidFill>
                  <a:srgbClr val="254C45"/>
                </a:solidFill>
                <a:latin typeface="Arial"/>
                <a:ea typeface="Arial"/>
                <a:cs typeface="Arial"/>
              </a:rPr>
              <a:t>Expectations</a:t>
            </a:r>
          </a:p>
        </p:txBody>
      </p:sp>
      <p:sp>
        <p:nvSpPr>
          <p:cNvPr id="7" name="Family finances one year ahead&#10;National outlook over one and five year">
            <a:extLst xmlns:a="http://schemas.openxmlformats.org/drawingml/2006/main">
              <a:ext uri="{FF2B5EF4-FFF2-40B4-BE49-F238E27FC236}">
                <a16:creationId xmlns:a16="http://schemas.microsoft.com/office/drawing/2014/main" id="{EB76E513-7193-4210-AE13-810012E94832}"/>
              </a:ext>
            </a:extLst>
          </p:cNvPr>
          <p:cNvSpPr>
            <a:spLocks xmlns:a="http://schemas.openxmlformats.org/drawingml/2006/main" noGrp="1"/>
          </p:cNvSpPr>
          <p:nvPr/>
        </p:nvSpPr>
        <p:spPr>
          <a:xfrm xmlns:a="http://schemas.openxmlformats.org/drawingml/2006/main">
            <a:off x="6429375" y="2952750"/>
            <a:ext cx="50958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52B29"/>
                </a:solidFill>
                <a:latin typeface="Arial"/>
                <a:ea typeface="Arial"/>
                <a:cs typeface="Arial"/>
              </a:defRPr>
            </a:defPPr>
          </a:lstStyle>
          <a:p xmlns:a="http://schemas.openxmlformats.org/drawingml/2006/main">
            <a:pPr>
              <a:defRPr sz="2100" b="0">
                <a:solidFill>
                  <a:srgbClr val="252B29"/>
                </a:solidFill>
                <a:latin typeface="Arial"/>
                <a:ea typeface="Arial"/>
                <a:cs typeface="Arial"/>
              </a:defRPr>
            </a:pPr>
            <a:r>
              <a:rPr sz="2100" b="0">
                <a:solidFill>
                  <a:srgbClr val="252B29"/>
                </a:solidFill>
                <a:latin typeface="Arial"/>
                <a:ea typeface="Arial"/>
                <a:cs typeface="Arial"/>
              </a:rPr>
              <a:t>Family finances one year ahead</a:t>
            </a:r>
          </a:p>
          <a:p xmlns:a="http://schemas.openxmlformats.org/drawingml/2006/main">
            <a:pPr>
              <a:defRPr sz="2100" b="0">
                <a:solidFill>
                  <a:srgbClr val="252B29"/>
                </a:solidFill>
                <a:latin typeface="Arial"/>
                <a:ea typeface="Arial"/>
                <a:cs typeface="Arial"/>
              </a:defRPr>
            </a:pPr>
            <a:r>
              <a:rPr sz="2100" b="0">
                <a:solidFill>
                  <a:srgbClr val="252B29"/>
                </a:solidFill>
                <a:latin typeface="Arial"/>
                <a:ea typeface="Arial"/>
                <a:cs typeface="Arial"/>
              </a:rPr>
              <a:t>National outlook over one and five years</a:t>
            </a:r>
          </a:p>
        </p:txBody>
      </p:sp>
      <p:sp>
        <p:nvSpPr>
          <p:cNvPr id="8" name="xᵢ = round(100 + favorable % − unfavorable %)">
            <a:extLst xmlns:a="http://schemas.openxmlformats.org/drawingml/2006/main">
              <a:ext uri="{FF2B5EF4-FFF2-40B4-BE49-F238E27FC236}">
                <a16:creationId xmlns:a16="http://schemas.microsoft.com/office/drawing/2014/main" id="{39488885-342C-41EA-9FCF-2F184EA719DA}"/>
              </a:ext>
            </a:extLst>
          </p:cNvPr>
          <p:cNvSpPr>
            <a:spLocks xmlns:a="http://schemas.openxmlformats.org/drawingml/2006/main" noGrp="1"/>
          </p:cNvSpPr>
          <p:nvPr/>
        </p:nvSpPr>
        <p:spPr>
          <a:xfrm xmlns:a="http://schemas.openxmlformats.org/drawingml/2006/main">
            <a:off x="628650" y="4324350"/>
            <a:ext cx="10858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254C45"/>
                </a:solidFill>
                <a:latin typeface="Arial"/>
                <a:ea typeface="Arial"/>
                <a:cs typeface="Arial"/>
              </a:defRPr>
            </a:defPPr>
          </a:lstStyle>
          <a:p xmlns:a="http://schemas.openxmlformats.org/drawingml/2006/main">
            <a:pPr>
              <a:defRPr sz="2325" b="1">
                <a:solidFill>
                  <a:srgbClr val="254C45"/>
                </a:solidFill>
                <a:latin typeface="Arial"/>
                <a:ea typeface="Arial"/>
                <a:cs typeface="Arial"/>
              </a:defRPr>
            </a:pPr>
            <a:r>
              <a:rPr sz="2325" b="1">
                <a:solidFill>
                  <a:srgbClr val="254C45"/>
                </a:solidFill>
                <a:latin typeface="Arial"/>
                <a:ea typeface="Arial"/>
                <a:cs typeface="Arial"/>
              </a:rPr>
              <a:t>xᵢ = round(100 + favorable % − unfavorable %)</a:t>
            </a:r>
          </a:p>
        </p:txBody>
      </p:sp>
      <p:sp>
        <p:nvSpPr>
          <p:cNvPr id="9" name="ICS = (x₁ + x₂ + x₃ + x₄ + x₅) / 6.7558 + 2">
            <a:extLst xmlns:a="http://schemas.openxmlformats.org/drawingml/2006/main">
              <a:ext uri="{FF2B5EF4-FFF2-40B4-BE49-F238E27FC236}">
                <a16:creationId xmlns:a16="http://schemas.microsoft.com/office/drawing/2014/main" id="{A592B77D-1E76-49BE-AFA4-4F6576286782}"/>
              </a:ext>
            </a:extLst>
          </p:cNvPr>
          <p:cNvSpPr>
            <a:spLocks xmlns:a="http://schemas.openxmlformats.org/drawingml/2006/main" noGrp="1"/>
          </p:cNvSpPr>
          <p:nvPr/>
        </p:nvSpPr>
        <p:spPr>
          <a:xfrm xmlns:a="http://schemas.openxmlformats.org/drawingml/2006/main">
            <a:off x="628650" y="502920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1">
                <a:solidFill>
                  <a:srgbClr val="254C45"/>
                </a:solidFill>
                <a:latin typeface="Arial"/>
                <a:ea typeface="Arial"/>
                <a:cs typeface="Arial"/>
              </a:defRPr>
            </a:defPPr>
          </a:lstStyle>
          <a:p xmlns:a="http://schemas.openxmlformats.org/drawingml/2006/main">
            <a:pPr>
              <a:defRPr sz="2625" b="1">
                <a:solidFill>
                  <a:srgbClr val="254C45"/>
                </a:solidFill>
                <a:latin typeface="Arial"/>
                <a:ea typeface="Arial"/>
                <a:cs typeface="Arial"/>
              </a:defRPr>
            </a:pPr>
            <a:r>
              <a:rPr sz="2625" b="1">
                <a:solidFill>
                  <a:srgbClr val="254C45"/>
                </a:solidFill>
                <a:latin typeface="Arial"/>
                <a:ea typeface="Arial"/>
                <a:cs typeface="Arial"/>
              </a:rPr>
              <a:t>ICS = (x₁ + x₂ + x₃ + x₄ + x₅) / 6.7558 + 2</a:t>
            </a:r>
          </a:p>
        </p:txBody>
      </p:sp>
      <p:sp>
        <p:nvSpPr>
          <p:cNvPr id="10" name="The five relative scores describe survey responses. Source: University">
            <a:extLst xmlns:a="http://schemas.openxmlformats.org/drawingml/2006/main">
              <a:ext uri="{FF2B5EF4-FFF2-40B4-BE49-F238E27FC236}">
                <a16:creationId xmlns:a16="http://schemas.microsoft.com/office/drawing/2014/main" id="{5C98432B-581F-4980-9575-F3C3A310F31D}"/>
              </a:ext>
            </a:extLst>
          </p:cNvPr>
          <p:cNvSpPr>
            <a:spLocks xmlns:a="http://schemas.openxmlformats.org/drawingml/2006/main" noGrp="1"/>
          </p:cNvSpPr>
          <p:nvPr/>
        </p:nvSpPr>
        <p:spPr>
          <a:xfrm xmlns:a="http://schemas.openxmlformats.org/drawingml/2006/main">
            <a:off x="571500" y="612457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8766E"/>
                </a:solidFill>
                <a:latin typeface="Arial"/>
                <a:ea typeface="Arial"/>
                <a:cs typeface="Arial"/>
              </a:defRPr>
            </a:defPPr>
          </a:lstStyle>
          <a:p xmlns:a="http://schemas.openxmlformats.org/drawingml/2006/main">
            <a:pPr>
              <a:defRPr sz="1350" b="0">
                <a:solidFill>
                  <a:srgbClr val="68766E"/>
                </a:solidFill>
                <a:latin typeface="Arial"/>
                <a:ea typeface="Arial"/>
                <a:cs typeface="Arial"/>
              </a:defRPr>
            </a:pPr>
            <a:r>
              <a:rPr sz="1350" b="0">
                <a:solidFill>
                  <a:srgbClr val="68766E"/>
                </a:solidFill>
                <a:latin typeface="Arial"/>
                <a:ea typeface="Arial"/>
                <a:cs typeface="Arial"/>
              </a:rPr>
              <a:t>The five relative scores describe survey responses. Source: University of Michigan, Index Calculations.</a:t>
            </a:r>
          </a:p>
        </p:txBody>
      </p:sp>
    </p:spTree>
    <p:extLst>
      <p:ext uri="{BB962C8B-B14F-4D97-AF65-F5344CB8AC3E}">
        <p14:creationId xmlns:p14="http://schemas.microsoft.com/office/powerpoint/2010/main" val="185851213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RQ1. How can we measure bias in news and social media?">
            <a:extLst xmlns:a="http://schemas.openxmlformats.org/drawingml/2006/main">
              <a:ext uri="{FF2B5EF4-FFF2-40B4-BE49-F238E27FC236}">
                <a16:creationId xmlns:a16="http://schemas.microsoft.com/office/drawing/2014/main" id="{95A22D7D-1867-4324-998D-DFF221E2B4BB}"/>
              </a:ext>
            </a:extLst>
          </p:cNvPr>
          <p:cNvSpPr>
            <a:spLocks xmlns:a="http://schemas.openxmlformats.org/drawingml/2006/main" noGrp="1"/>
          </p:cNvSpPr>
          <p:nvPr/>
        </p:nvSpPr>
        <p:spPr>
          <a:xfrm xmlns:a="http://schemas.openxmlformats.org/drawingml/2006/main">
            <a:off x="533400" y="342900"/>
            <a:ext cx="1109662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254C45"/>
                </a:solidFill>
                <a:latin typeface="Arial"/>
                <a:ea typeface="Arial"/>
                <a:cs typeface="Arial"/>
              </a:defRPr>
            </a:defPPr>
          </a:lstStyle>
          <a:p xmlns:a="http://schemas.openxmlformats.org/drawingml/2006/main">
            <a:pPr>
              <a:defRPr sz="2850" b="1">
                <a:solidFill>
                  <a:srgbClr val="254C45"/>
                </a:solidFill>
                <a:latin typeface="Arial"/>
                <a:ea typeface="Arial"/>
                <a:cs typeface="Arial"/>
              </a:defRPr>
            </a:pPr>
            <a:r>
              <a:rPr sz="2850" b="1">
                <a:solidFill>
                  <a:srgbClr val="254C45"/>
                </a:solidFill>
                <a:latin typeface="Arial"/>
                <a:ea typeface="Arial"/>
                <a:cs typeface="Arial"/>
              </a:rPr>
              <a:t>RQ1. How can we measure bias in news and social media?</a:t>
            </a:r>
          </a:p>
        </p:txBody>
      </p:sp>
      <p:sp>
        <p:nvSpPr>
          <p:cNvPr id="2" name="Emotional language differs much more than negative economic tone">
            <a:extLst xmlns:a="http://schemas.openxmlformats.org/drawingml/2006/main">
              <a:ext uri="{FF2B5EF4-FFF2-40B4-BE49-F238E27FC236}">
                <a16:creationId xmlns:a16="http://schemas.microsoft.com/office/drawing/2014/main" id="{FC463838-FF08-4EED-9488-5FB360E1D698}"/>
              </a:ext>
            </a:extLst>
          </p:cNvPr>
          <p:cNvSpPr>
            <a:spLocks xmlns:a="http://schemas.openxmlformats.org/drawingml/2006/main" noGrp="1"/>
          </p:cNvSpPr>
          <p:nvPr/>
        </p:nvSpPr>
        <p:spPr>
          <a:xfrm xmlns:a="http://schemas.openxmlformats.org/drawingml/2006/main">
            <a:off x="571500" y="1466850"/>
            <a:ext cx="11001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252B29"/>
                </a:solidFill>
                <a:latin typeface="Arial"/>
                <a:ea typeface="Arial"/>
                <a:cs typeface="Arial"/>
              </a:defRPr>
            </a:defPPr>
          </a:lstStyle>
          <a:p xmlns:a="http://schemas.openxmlformats.org/drawingml/2006/main">
            <a:pPr>
              <a:defRPr sz="2175" b="1">
                <a:solidFill>
                  <a:srgbClr val="252B29"/>
                </a:solidFill>
                <a:latin typeface="Arial"/>
                <a:ea typeface="Arial"/>
                <a:cs typeface="Arial"/>
              </a:defRPr>
            </a:pPr>
            <a:r>
              <a:rPr sz="2175" b="1">
                <a:solidFill>
                  <a:srgbClr val="252B29"/>
                </a:solidFill>
                <a:latin typeface="Arial"/>
                <a:ea typeface="Arial"/>
                <a:cs typeface="Arial"/>
              </a:rPr>
              <a:t>Emotional language differs much more than negative economic tone</a:t>
            </a:r>
          </a:p>
        </p:txBody>
      </p:sp>
      <p:sp>
        <p:nvSpPr>
          <p:cNvPr id="3" name="03">
            <a:extLst xmlns:a="http://schemas.openxmlformats.org/drawingml/2006/main">
              <a:ext uri="{FF2B5EF4-FFF2-40B4-BE49-F238E27FC236}">
                <a16:creationId xmlns:a16="http://schemas.microsoft.com/office/drawing/2014/main" id="{DBAC26D5-1C04-4857-87EA-60AE7D89B2B8}"/>
              </a:ext>
            </a:extLst>
          </p:cNvPr>
          <p:cNvSpPr>
            <a:spLocks xmlns:a="http://schemas.openxmlformats.org/drawingml/2006/main" noGrp="1"/>
          </p:cNvSpPr>
          <p:nvPr/>
        </p:nvSpPr>
        <p:spPr>
          <a:xfrm xmlns:a="http://schemas.openxmlformats.org/drawingml/2006/main">
            <a:off x="11144250" y="64579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8766E"/>
                </a:solidFill>
                <a:latin typeface="Arial"/>
                <a:ea typeface="Arial"/>
                <a:cs typeface="Arial"/>
              </a:defRPr>
            </a:defPPr>
          </a:lstStyle>
          <a:p xmlns:a="http://schemas.openxmlformats.org/drawingml/2006/main">
            <a:pPr>
              <a:defRPr sz="1275" b="0">
                <a:solidFill>
                  <a:srgbClr val="68766E"/>
                </a:solidFill>
                <a:latin typeface="Arial"/>
                <a:ea typeface="Arial"/>
                <a:cs typeface="Arial"/>
              </a:defRPr>
            </a:pPr>
            <a:r>
              <a:rPr sz="1275" b="0">
                <a:solidFill>
                  <a:srgbClr val="68766E"/>
                </a:solidFill>
                <a:latin typeface="Arial"/>
                <a:ea typeface="Arial"/>
                <a:cs typeface="Arial"/>
              </a:rPr>
              <a:t>03</a:t>
            </a:r>
          </a:p>
        </p:txBody>
      </p:sp>
      <p:graphicFrame>
        <p:nvGraphicFramePr>
          <p:cNvPr id="4" name="Chart">
            <a:extLst xmlns:a="http://schemas.openxmlformats.org/drawingml/2006/main">
              <a:ext uri="{FF2B5EF4-FFF2-40B4-BE49-F238E27FC236}">
                <a16:creationId xmlns:a16="http://schemas.microsoft.com/office/drawing/2014/main" id="{974A5DC6-58B6-463E-B6F2-3519D06ED315}"/>
              </a:ext>
            </a:extLst>
          </p:cNvPr>
          <p:cNvGraphicFramePr/>
          <p:nvPr/>
        </p:nvGraphicFramePr>
        <p:xfrm>
          <a:off xmlns:a="http://schemas.openxmlformats.org/drawingml/2006/main" x="552450" y="2276475"/>
          <a:ext xmlns:a="http://schemas.openxmlformats.org/drawingml/2006/main" cx="10953750" cy="3343275"/>
        </p:xfrm>
        <a:graphic xmlns:a="http://schemas.openxmlformats.org/drawingml/2006/main">
          <a:graphicData uri="http://schemas.openxmlformats.org/drawingml/2006/chart">
            <c:chart xmlns:r="http://schemas.openxmlformats.org/officeDocument/2006/relationships" xmlns:c="http://schemas.openxmlformats.org/drawingml/2006/chart" r:id="Rb4909bdbf95e4973"/>
          </a:graphicData>
        </a:graphic>
      </p:graphicFrame>
      <p:sp>
        <p:nvSpPr>
          <p:cNvPr id="5" name="230 eligible headlines + 829 X posts from 1,473 coded texts. October 2">
            <a:extLst xmlns:a="http://schemas.openxmlformats.org/drawingml/2006/main">
              <a:ext uri="{FF2B5EF4-FFF2-40B4-BE49-F238E27FC236}">
                <a16:creationId xmlns:a16="http://schemas.microsoft.com/office/drawing/2014/main" id="{F60435F9-2956-4608-9547-B91D53E37C1C}"/>
              </a:ext>
            </a:extLst>
          </p:cNvPr>
          <p:cNvSpPr>
            <a:spLocks xmlns:a="http://schemas.openxmlformats.org/drawingml/2006/main" noGrp="1"/>
          </p:cNvSpPr>
          <p:nvPr/>
        </p:nvSpPr>
        <p:spPr>
          <a:xfrm xmlns:a="http://schemas.openxmlformats.org/drawingml/2006/main">
            <a:off x="571500" y="612457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8766E"/>
                </a:solidFill>
                <a:latin typeface="Arial"/>
                <a:ea typeface="Arial"/>
                <a:cs typeface="Arial"/>
              </a:defRPr>
            </a:defPPr>
          </a:lstStyle>
          <a:p xmlns:a="http://schemas.openxmlformats.org/drawingml/2006/main">
            <a:pPr>
              <a:defRPr sz="1350" b="0">
                <a:solidFill>
                  <a:srgbClr val="68766E"/>
                </a:solidFill>
                <a:latin typeface="Arial"/>
                <a:ea typeface="Arial"/>
                <a:cs typeface="Arial"/>
              </a:defRPr>
            </a:pPr>
            <a:r>
              <a:rPr sz="1350" b="0">
                <a:solidFill>
                  <a:srgbClr val="68766E"/>
                </a:solidFill>
                <a:latin typeface="Arial"/>
                <a:ea typeface="Arial"/>
                <a:cs typeface="Arial"/>
              </a:rPr>
              <a:t>230 eligible headlines + 829 X posts from 1,473 coded texts. October 2019–July 2026. Selected sample.</a:t>
            </a:r>
          </a:p>
        </p:txBody>
      </p:sp>
    </p:spTree>
    <p:extLst>
      <p:ext uri="{BB962C8B-B14F-4D97-AF65-F5344CB8AC3E}">
        <p14:creationId xmlns:p14="http://schemas.microsoft.com/office/powerpoint/2010/main" val="143977157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RQ2. Did media depress U.S. sentiment before the 2026 midterms?">
            <a:extLst xmlns:a="http://schemas.openxmlformats.org/drawingml/2006/main">
              <a:ext uri="{FF2B5EF4-FFF2-40B4-BE49-F238E27FC236}">
                <a16:creationId xmlns:a16="http://schemas.microsoft.com/office/drawing/2014/main" id="{C4F1E1BF-5196-43B0-A19F-920F0A92F0FD}"/>
              </a:ext>
            </a:extLst>
          </p:cNvPr>
          <p:cNvSpPr>
            <a:spLocks xmlns:a="http://schemas.openxmlformats.org/drawingml/2006/main" noGrp="1"/>
          </p:cNvSpPr>
          <p:nvPr/>
        </p:nvSpPr>
        <p:spPr>
          <a:xfrm xmlns:a="http://schemas.openxmlformats.org/drawingml/2006/main">
            <a:off x="533400" y="342900"/>
            <a:ext cx="1109662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254C45"/>
                </a:solidFill>
                <a:latin typeface="Arial"/>
                <a:ea typeface="Arial"/>
                <a:cs typeface="Arial"/>
              </a:defRPr>
            </a:defPPr>
          </a:lstStyle>
          <a:p xmlns:a="http://schemas.openxmlformats.org/drawingml/2006/main">
            <a:pPr>
              <a:defRPr sz="2850" b="1">
                <a:solidFill>
                  <a:srgbClr val="254C45"/>
                </a:solidFill>
                <a:latin typeface="Arial"/>
                <a:ea typeface="Arial"/>
                <a:cs typeface="Arial"/>
              </a:defRPr>
            </a:pPr>
            <a:r>
              <a:rPr sz="2850" b="1">
                <a:solidFill>
                  <a:srgbClr val="254C45"/>
                </a:solidFill>
                <a:latin typeface="Arial"/>
                <a:ea typeface="Arial"/>
                <a:cs typeface="Arial"/>
              </a:rPr>
              <a:t>RQ2. Did media depress U.S. sentiment before the 2026 midterms?</a:t>
            </a:r>
          </a:p>
        </p:txBody>
      </p:sp>
      <p:sp>
        <p:nvSpPr>
          <p:cNvPr id="2" name="The estimated gap changes with the economic benchmark">
            <a:extLst xmlns:a="http://schemas.openxmlformats.org/drawingml/2006/main">
              <a:ext uri="{FF2B5EF4-FFF2-40B4-BE49-F238E27FC236}">
                <a16:creationId xmlns:a16="http://schemas.microsoft.com/office/drawing/2014/main" id="{C366612A-0171-4E5C-AA76-065300ECA800}"/>
              </a:ext>
            </a:extLst>
          </p:cNvPr>
          <p:cNvSpPr>
            <a:spLocks xmlns:a="http://schemas.openxmlformats.org/drawingml/2006/main" noGrp="1"/>
          </p:cNvSpPr>
          <p:nvPr/>
        </p:nvSpPr>
        <p:spPr>
          <a:xfrm xmlns:a="http://schemas.openxmlformats.org/drawingml/2006/main">
            <a:off x="571500" y="1466850"/>
            <a:ext cx="11001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252B29"/>
                </a:solidFill>
                <a:latin typeface="Arial"/>
                <a:ea typeface="Arial"/>
                <a:cs typeface="Arial"/>
              </a:defRPr>
            </a:defPPr>
          </a:lstStyle>
          <a:p xmlns:a="http://schemas.openxmlformats.org/drawingml/2006/main">
            <a:pPr>
              <a:defRPr sz="2175" b="1">
                <a:solidFill>
                  <a:srgbClr val="252B29"/>
                </a:solidFill>
                <a:latin typeface="Arial"/>
                <a:ea typeface="Arial"/>
                <a:cs typeface="Arial"/>
              </a:defRPr>
            </a:pPr>
            <a:r>
              <a:rPr sz="2175" b="1">
                <a:solidFill>
                  <a:srgbClr val="252B29"/>
                </a:solidFill>
                <a:latin typeface="Arial"/>
                <a:ea typeface="Arial"/>
                <a:cs typeface="Arial"/>
              </a:rPr>
              <a:t>The estimated gap changes with the economic benchmark</a:t>
            </a:r>
          </a:p>
        </p:txBody>
      </p:sp>
      <p:sp>
        <p:nvSpPr>
          <p:cNvPr id="3" name="04">
            <a:extLst xmlns:a="http://schemas.openxmlformats.org/drawingml/2006/main">
              <a:ext uri="{FF2B5EF4-FFF2-40B4-BE49-F238E27FC236}">
                <a16:creationId xmlns:a16="http://schemas.microsoft.com/office/drawing/2014/main" id="{9B0C015C-F2A1-4E1F-BADD-5F86837273F2}"/>
              </a:ext>
            </a:extLst>
          </p:cNvPr>
          <p:cNvSpPr>
            <a:spLocks xmlns:a="http://schemas.openxmlformats.org/drawingml/2006/main" noGrp="1"/>
          </p:cNvSpPr>
          <p:nvPr/>
        </p:nvSpPr>
        <p:spPr>
          <a:xfrm xmlns:a="http://schemas.openxmlformats.org/drawingml/2006/main">
            <a:off x="11144250" y="64579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8766E"/>
                </a:solidFill>
                <a:latin typeface="Arial"/>
                <a:ea typeface="Arial"/>
                <a:cs typeface="Arial"/>
              </a:defRPr>
            </a:defPPr>
          </a:lstStyle>
          <a:p xmlns:a="http://schemas.openxmlformats.org/drawingml/2006/main">
            <a:pPr>
              <a:defRPr sz="1275" b="0">
                <a:solidFill>
                  <a:srgbClr val="68766E"/>
                </a:solidFill>
                <a:latin typeface="Arial"/>
                <a:ea typeface="Arial"/>
                <a:cs typeface="Arial"/>
              </a:defRPr>
            </a:pPr>
            <a:r>
              <a:rPr sz="1275" b="0">
                <a:solidFill>
                  <a:srgbClr val="68766E"/>
                </a:solidFill>
                <a:latin typeface="Arial"/>
                <a:ea typeface="Arial"/>
                <a:cs typeface="Arial"/>
              </a:rPr>
              <a:t>04</a:t>
            </a:r>
          </a:p>
        </p:txBody>
      </p:sp>
      <p:graphicFrame>
        <p:nvGraphicFramePr>
          <p:cNvPr id="4" name="Chart">
            <a:extLst xmlns:a="http://schemas.openxmlformats.org/drawingml/2006/main">
              <a:ext uri="{FF2B5EF4-FFF2-40B4-BE49-F238E27FC236}">
                <a16:creationId xmlns:a16="http://schemas.microsoft.com/office/drawing/2014/main" id="{5CEBB902-D694-472D-BADD-948032D764BB}"/>
              </a:ext>
            </a:extLst>
          </p:cNvPr>
          <p:cNvGraphicFramePr/>
          <p:nvPr/>
        </p:nvGraphicFramePr>
        <p:xfrm>
          <a:off xmlns:a="http://schemas.openxmlformats.org/drawingml/2006/main" x="552450" y="2324100"/>
          <a:ext xmlns:a="http://schemas.openxmlformats.org/drawingml/2006/main" cx="10744200" cy="3067050"/>
        </p:xfrm>
        <a:graphic xmlns:a="http://schemas.openxmlformats.org/drawingml/2006/main">
          <a:graphicData uri="http://schemas.openxmlformats.org/drawingml/2006/chart">
            <c:chart xmlns:r="http://schemas.openxmlformats.org/officeDocument/2006/relationships" xmlns:c="http://schemas.openxmlformats.org/drawingml/2006/chart" r:id="Re829b10bcd91472c"/>
          </a:graphicData>
        </a:graphic>
      </p:graphicFrame>
      <p:sp>
        <p:nvSpPr>
          <p:cNvPr id="5" name="Actual respondent exposure is missing, so a causal media effect remain">
            <a:extLst xmlns:a="http://schemas.openxmlformats.org/drawingml/2006/main">
              <a:ext uri="{FF2B5EF4-FFF2-40B4-BE49-F238E27FC236}">
                <a16:creationId xmlns:a16="http://schemas.microsoft.com/office/drawing/2014/main" id="{A7F7FF21-DDBE-4551-9DDD-B42B6E52C2BA}"/>
              </a:ext>
            </a:extLst>
          </p:cNvPr>
          <p:cNvSpPr>
            <a:spLocks xmlns:a="http://schemas.openxmlformats.org/drawingml/2006/main" noGrp="1"/>
          </p:cNvSpPr>
          <p:nvPr/>
        </p:nvSpPr>
        <p:spPr>
          <a:xfrm xmlns:a="http://schemas.openxmlformats.org/drawingml/2006/main">
            <a:off x="609600" y="5543550"/>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254C45"/>
                </a:solidFill>
                <a:latin typeface="Arial"/>
                <a:ea typeface="Arial"/>
                <a:cs typeface="Arial"/>
              </a:defRPr>
            </a:defPPr>
          </a:lstStyle>
          <a:p xmlns:a="http://schemas.openxmlformats.org/drawingml/2006/main">
            <a:pPr>
              <a:defRPr sz="1875" b="1">
                <a:solidFill>
                  <a:srgbClr val="254C45"/>
                </a:solidFill>
                <a:latin typeface="Arial"/>
                <a:ea typeface="Arial"/>
                <a:cs typeface="Arial"/>
              </a:defRPr>
            </a:pPr>
            <a:r>
              <a:rPr sz="1875" b="1">
                <a:solidFill>
                  <a:srgbClr val="254C45"/>
                </a:solidFill>
                <a:latin typeface="Arial"/>
                <a:ea typeface="Arial"/>
                <a:cs typeface="Arial"/>
              </a:rPr>
              <a:t>Actual respondent exposure is missing, so a causal media effect remains unidentified.</a:t>
            </a:r>
          </a:p>
        </p:txBody>
      </p:sp>
      <p:sp>
        <p:nvSpPr>
          <p:cNvPr id="6" name="July media forecasts August sentiment. The final weeks before the Nove">
            <a:extLst xmlns:a="http://schemas.openxmlformats.org/drawingml/2006/main">
              <a:ext uri="{FF2B5EF4-FFF2-40B4-BE49-F238E27FC236}">
                <a16:creationId xmlns:a16="http://schemas.microsoft.com/office/drawing/2014/main" id="{8C5304A4-F227-4DC6-BDBD-95CDB7DAE5F3}"/>
              </a:ext>
            </a:extLst>
          </p:cNvPr>
          <p:cNvSpPr>
            <a:spLocks xmlns:a="http://schemas.openxmlformats.org/drawingml/2006/main" noGrp="1"/>
          </p:cNvSpPr>
          <p:nvPr/>
        </p:nvSpPr>
        <p:spPr>
          <a:xfrm xmlns:a="http://schemas.openxmlformats.org/drawingml/2006/main">
            <a:off x="571500" y="612457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8766E"/>
                </a:solidFill>
                <a:latin typeface="Arial"/>
                <a:ea typeface="Arial"/>
                <a:cs typeface="Arial"/>
              </a:defRPr>
            </a:defPPr>
          </a:lstStyle>
          <a:p xmlns:a="http://schemas.openxmlformats.org/drawingml/2006/main">
            <a:pPr>
              <a:defRPr sz="1350" b="0">
                <a:solidFill>
                  <a:srgbClr val="68766E"/>
                </a:solidFill>
                <a:latin typeface="Arial"/>
                <a:ea typeface="Arial"/>
                <a:cs typeface="Arial"/>
              </a:defRPr>
            </a:pPr>
            <a:r>
              <a:rPr sz="1350" b="0">
                <a:solidFill>
                  <a:srgbClr val="68766E"/>
                </a:solidFill>
                <a:latin typeface="Arial"/>
                <a:ea typeface="Arial"/>
                <a:cs typeface="Arial"/>
              </a:rPr>
              <a:t>July media forecasts August sentiment. The final weeks before the November election are outside this sample.</a:t>
            </a:r>
          </a:p>
        </p:txBody>
      </p:sp>
    </p:spTree>
    <p:extLst>
      <p:ext uri="{BB962C8B-B14F-4D97-AF65-F5344CB8AC3E}">
        <p14:creationId xmlns:p14="http://schemas.microsoft.com/office/powerpoint/2010/main" val="183935018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RQ3. How much can unemployment, inflation and GDP growth explain?">
            <a:extLst xmlns:a="http://schemas.openxmlformats.org/drawingml/2006/main">
              <a:ext uri="{FF2B5EF4-FFF2-40B4-BE49-F238E27FC236}">
                <a16:creationId xmlns:a16="http://schemas.microsoft.com/office/drawing/2014/main" id="{96175861-BEBA-4B9D-B579-211F85780185}"/>
              </a:ext>
            </a:extLst>
          </p:cNvPr>
          <p:cNvSpPr>
            <a:spLocks xmlns:a="http://schemas.openxmlformats.org/drawingml/2006/main" noGrp="1"/>
          </p:cNvSpPr>
          <p:nvPr/>
        </p:nvSpPr>
        <p:spPr>
          <a:xfrm xmlns:a="http://schemas.openxmlformats.org/drawingml/2006/main">
            <a:off x="533400" y="342900"/>
            <a:ext cx="1109662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254C45"/>
                </a:solidFill>
                <a:latin typeface="Arial"/>
                <a:ea typeface="Arial"/>
                <a:cs typeface="Arial"/>
              </a:defRPr>
            </a:defPPr>
          </a:lstStyle>
          <a:p xmlns:a="http://schemas.openxmlformats.org/drawingml/2006/main">
            <a:pPr>
              <a:defRPr sz="2850" b="1">
                <a:solidFill>
                  <a:srgbClr val="254C45"/>
                </a:solidFill>
                <a:latin typeface="Arial"/>
                <a:ea typeface="Arial"/>
                <a:cs typeface="Arial"/>
              </a:defRPr>
            </a:pPr>
            <a:r>
              <a:rPr sz="2850" b="1">
                <a:solidFill>
                  <a:srgbClr val="254C45"/>
                </a:solidFill>
                <a:latin typeface="Arial"/>
                <a:ea typeface="Arial"/>
                <a:cs typeface="Arial"/>
              </a:rPr>
              <a:t>RQ3. How much can unemployment, inflation and GDP growth explain?</a:t>
            </a:r>
          </a:p>
        </p:txBody>
      </p:sp>
      <p:sp>
        <p:nvSpPr>
          <p:cNvPr id="2" name="Accumulated prices substantially reduce the model’s residual gap">
            <a:extLst xmlns:a="http://schemas.openxmlformats.org/drawingml/2006/main">
              <a:ext uri="{FF2B5EF4-FFF2-40B4-BE49-F238E27FC236}">
                <a16:creationId xmlns:a16="http://schemas.microsoft.com/office/drawing/2014/main" id="{256BD0C1-5323-4EBC-9F16-587841210488}"/>
              </a:ext>
            </a:extLst>
          </p:cNvPr>
          <p:cNvSpPr>
            <a:spLocks xmlns:a="http://schemas.openxmlformats.org/drawingml/2006/main" noGrp="1"/>
          </p:cNvSpPr>
          <p:nvPr/>
        </p:nvSpPr>
        <p:spPr>
          <a:xfrm xmlns:a="http://schemas.openxmlformats.org/drawingml/2006/main">
            <a:off x="571500" y="1466850"/>
            <a:ext cx="11001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252B29"/>
                </a:solidFill>
                <a:latin typeface="Arial"/>
                <a:ea typeface="Arial"/>
                <a:cs typeface="Arial"/>
              </a:defRPr>
            </a:defPPr>
          </a:lstStyle>
          <a:p xmlns:a="http://schemas.openxmlformats.org/drawingml/2006/main">
            <a:pPr>
              <a:defRPr sz="2175" b="1">
                <a:solidFill>
                  <a:srgbClr val="252B29"/>
                </a:solidFill>
                <a:latin typeface="Arial"/>
                <a:ea typeface="Arial"/>
                <a:cs typeface="Arial"/>
              </a:defRPr>
            </a:pPr>
            <a:r>
              <a:rPr sz="2175" b="1">
                <a:solidFill>
                  <a:srgbClr val="252B29"/>
                </a:solidFill>
                <a:latin typeface="Arial"/>
                <a:ea typeface="Arial"/>
                <a:cs typeface="Arial"/>
              </a:rPr>
              <a:t>Accumulated prices substantially reduce the model’s residual gap</a:t>
            </a:r>
          </a:p>
        </p:txBody>
      </p:sp>
      <p:sp>
        <p:nvSpPr>
          <p:cNvPr id="3" name="05">
            <a:extLst xmlns:a="http://schemas.openxmlformats.org/drawingml/2006/main">
              <a:ext uri="{FF2B5EF4-FFF2-40B4-BE49-F238E27FC236}">
                <a16:creationId xmlns:a16="http://schemas.microsoft.com/office/drawing/2014/main" id="{D0DCCE9D-3120-4EB4-B840-B8BF4C088E97}"/>
              </a:ext>
            </a:extLst>
          </p:cNvPr>
          <p:cNvSpPr>
            <a:spLocks xmlns:a="http://schemas.openxmlformats.org/drawingml/2006/main" noGrp="1"/>
          </p:cNvSpPr>
          <p:nvPr/>
        </p:nvSpPr>
        <p:spPr>
          <a:xfrm xmlns:a="http://schemas.openxmlformats.org/drawingml/2006/main">
            <a:off x="11144250" y="64579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8766E"/>
                </a:solidFill>
                <a:latin typeface="Arial"/>
                <a:ea typeface="Arial"/>
                <a:cs typeface="Arial"/>
              </a:defRPr>
            </a:defPPr>
          </a:lstStyle>
          <a:p xmlns:a="http://schemas.openxmlformats.org/drawingml/2006/main">
            <a:pPr>
              <a:defRPr sz="1275" b="0">
                <a:solidFill>
                  <a:srgbClr val="68766E"/>
                </a:solidFill>
                <a:latin typeface="Arial"/>
                <a:ea typeface="Arial"/>
                <a:cs typeface="Arial"/>
              </a:defRPr>
            </a:pPr>
            <a:r>
              <a:rPr sz="1275" b="0">
                <a:solidFill>
                  <a:srgbClr val="68766E"/>
                </a:solidFill>
                <a:latin typeface="Arial"/>
                <a:ea typeface="Arial"/>
                <a:cs typeface="Arial"/>
              </a:rPr>
              <a:t>05</a:t>
            </a:r>
          </a:p>
        </p:txBody>
      </p:sp>
      <p:graphicFrame>
        <p:nvGraphicFramePr>
          <p:cNvPr id="4" name="Chart">
            <a:extLst xmlns:a="http://schemas.openxmlformats.org/drawingml/2006/main">
              <a:ext uri="{FF2B5EF4-FFF2-40B4-BE49-F238E27FC236}">
                <a16:creationId xmlns:a16="http://schemas.microsoft.com/office/drawing/2014/main" id="{1E03B006-3C20-46CB-A125-8617533054C7}"/>
              </a:ext>
            </a:extLst>
          </p:cNvPr>
          <p:cNvGraphicFramePr/>
          <p:nvPr/>
        </p:nvGraphicFramePr>
        <p:xfrm>
          <a:off xmlns:a="http://schemas.openxmlformats.org/drawingml/2006/main" x="523875" y="2286000"/>
          <a:ext xmlns:a="http://schemas.openxmlformats.org/drawingml/2006/main" cx="7667625" cy="3333750"/>
        </p:xfrm>
        <a:graphic xmlns:a="http://schemas.openxmlformats.org/drawingml/2006/main">
          <a:graphicData uri="http://schemas.openxmlformats.org/drawingml/2006/chart">
            <c:chart xmlns:r="http://schemas.openxmlformats.org/officeDocument/2006/relationships" xmlns:c="http://schemas.openxmlformats.org/drawingml/2006/chart" r:id="R64693e9ce6294f79"/>
          </a:graphicData>
        </a:graphic>
      </p:graphicFrame>
      <p:sp>
        <p:nvSpPr>
          <p:cNvPr id="5" name="44.9-point decline">
            <a:extLst xmlns:a="http://schemas.openxmlformats.org/drawingml/2006/main">
              <a:ext uri="{FF2B5EF4-FFF2-40B4-BE49-F238E27FC236}">
                <a16:creationId xmlns:a16="http://schemas.microsoft.com/office/drawing/2014/main" id="{CDE315FE-0BBD-4BEA-AFD1-824274552098}"/>
              </a:ext>
            </a:extLst>
          </p:cNvPr>
          <p:cNvSpPr>
            <a:spLocks xmlns:a="http://schemas.openxmlformats.org/drawingml/2006/main" noGrp="1"/>
          </p:cNvSpPr>
          <p:nvPr/>
        </p:nvSpPr>
        <p:spPr>
          <a:xfrm xmlns:a="http://schemas.openxmlformats.org/drawingml/2006/main">
            <a:off x="8572500" y="2419350"/>
            <a:ext cx="2905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254C45"/>
                </a:solidFill>
                <a:latin typeface="Arial"/>
                <a:ea typeface="Arial"/>
                <a:cs typeface="Arial"/>
              </a:defRPr>
            </a:defPPr>
          </a:lstStyle>
          <a:p xmlns:a="http://schemas.openxmlformats.org/drawingml/2006/main">
            <a:pPr>
              <a:defRPr sz="2250" b="1">
                <a:solidFill>
                  <a:srgbClr val="254C45"/>
                </a:solidFill>
                <a:latin typeface="Arial"/>
                <a:ea typeface="Arial"/>
                <a:cs typeface="Arial"/>
              </a:defRPr>
            </a:pPr>
            <a:r>
              <a:rPr sz="2250" b="1">
                <a:solidFill>
                  <a:srgbClr val="254C45"/>
                </a:solidFill>
                <a:latin typeface="Arial"/>
                <a:ea typeface="Arial"/>
                <a:cs typeface="Arial"/>
              </a:rPr>
              <a:t>44.9-point decline</a:t>
            </a:r>
          </a:p>
        </p:txBody>
      </p:sp>
      <p:sp>
        <p:nvSpPr>
          <p:cNvPr id="6" name="2017–2019 mean: 97.0&#10;June–August 2026: 52.1">
            <a:extLst xmlns:a="http://schemas.openxmlformats.org/drawingml/2006/main">
              <a:ext uri="{FF2B5EF4-FFF2-40B4-BE49-F238E27FC236}">
                <a16:creationId xmlns:a16="http://schemas.microsoft.com/office/drawing/2014/main" id="{626146C7-80E3-404E-B970-8BE9E2690922}"/>
              </a:ext>
            </a:extLst>
          </p:cNvPr>
          <p:cNvSpPr>
            <a:spLocks xmlns:a="http://schemas.openxmlformats.org/drawingml/2006/main" noGrp="1"/>
          </p:cNvSpPr>
          <p:nvPr/>
        </p:nvSpPr>
        <p:spPr>
          <a:xfrm xmlns:a="http://schemas.openxmlformats.org/drawingml/2006/main">
            <a:off x="8572500" y="2924175"/>
            <a:ext cx="295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252B29"/>
                </a:solidFill>
                <a:latin typeface="Arial"/>
                <a:ea typeface="Arial"/>
                <a:cs typeface="Arial"/>
              </a:defRPr>
            </a:defPPr>
          </a:lstStyle>
          <a:p xmlns:a="http://schemas.openxmlformats.org/drawingml/2006/main">
            <a:pPr>
              <a:defRPr sz="1875" b="0">
                <a:solidFill>
                  <a:srgbClr val="252B29"/>
                </a:solidFill>
                <a:latin typeface="Arial"/>
                <a:ea typeface="Arial"/>
                <a:cs typeface="Arial"/>
              </a:defRPr>
            </a:pPr>
            <a:r>
              <a:rPr sz="1875" b="0">
                <a:solidFill>
                  <a:srgbClr val="252B29"/>
                </a:solidFill>
                <a:latin typeface="Arial"/>
                <a:ea typeface="Arial"/>
                <a:cs typeface="Arial"/>
              </a:rPr>
              <a:t>2017–2019 mean: 97.0</a:t>
            </a:r>
          </a:p>
          <a:p xmlns:a="http://schemas.openxmlformats.org/drawingml/2006/main">
            <a:pPr>
              <a:defRPr sz="1875" b="0">
                <a:solidFill>
                  <a:srgbClr val="252B29"/>
                </a:solidFill>
                <a:latin typeface="Arial"/>
                <a:ea typeface="Arial"/>
                <a:cs typeface="Arial"/>
              </a:defRPr>
            </a:pPr>
            <a:r>
              <a:rPr sz="1875" b="0">
                <a:solidFill>
                  <a:srgbClr val="252B29"/>
                </a:solidFill>
                <a:latin typeface="Arial"/>
                <a:ea typeface="Arial"/>
                <a:cs typeface="Arial"/>
              </a:rPr>
              <a:t>June–August 2026: 52.1</a:t>
            </a:r>
          </a:p>
        </p:txBody>
      </p:sp>
      <p:sp>
        <p:nvSpPr>
          <p:cNvPr id="7" name="Residual gap">
            <a:extLst xmlns:a="http://schemas.openxmlformats.org/drawingml/2006/main">
              <a:ext uri="{FF2B5EF4-FFF2-40B4-BE49-F238E27FC236}">
                <a16:creationId xmlns:a16="http://schemas.microsoft.com/office/drawing/2014/main" id="{7FDF1CC2-4B12-4602-B08F-10045C6F77D0}"/>
              </a:ext>
            </a:extLst>
          </p:cNvPr>
          <p:cNvSpPr>
            <a:spLocks xmlns:a="http://schemas.openxmlformats.org/drawingml/2006/main" noGrp="1"/>
          </p:cNvSpPr>
          <p:nvPr/>
        </p:nvSpPr>
        <p:spPr>
          <a:xfrm xmlns:a="http://schemas.openxmlformats.org/drawingml/2006/main">
            <a:off x="8572500" y="4048125"/>
            <a:ext cx="285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254C45"/>
                </a:solidFill>
                <a:latin typeface="Arial"/>
                <a:ea typeface="Arial"/>
                <a:cs typeface="Arial"/>
              </a:defRPr>
            </a:defPPr>
          </a:lstStyle>
          <a:p xmlns:a="http://schemas.openxmlformats.org/drawingml/2006/main">
            <a:pPr>
              <a:defRPr sz="1950" b="1">
                <a:solidFill>
                  <a:srgbClr val="254C45"/>
                </a:solidFill>
                <a:latin typeface="Arial"/>
                <a:ea typeface="Arial"/>
                <a:cs typeface="Arial"/>
              </a:defRPr>
            </a:pPr>
            <a:r>
              <a:rPr sz="1950" b="1">
                <a:solidFill>
                  <a:srgbClr val="254C45"/>
                </a:solidFill>
                <a:latin typeface="Arial"/>
                <a:ea typeface="Arial"/>
                <a:cs typeface="Arial"/>
              </a:rPr>
              <a:t>Residual gap</a:t>
            </a:r>
          </a:p>
        </p:txBody>
      </p:sp>
      <p:sp>
        <p:nvSpPr>
          <p:cNvPr id="8" name="Three indicators: 28.3&#10;Add price levels: 7.1">
            <a:extLst xmlns:a="http://schemas.openxmlformats.org/drawingml/2006/main">
              <a:ext uri="{FF2B5EF4-FFF2-40B4-BE49-F238E27FC236}">
                <a16:creationId xmlns:a16="http://schemas.microsoft.com/office/drawing/2014/main" id="{9A0405E8-78D4-45D6-87C1-400DE411C23F}"/>
              </a:ext>
            </a:extLst>
          </p:cNvPr>
          <p:cNvSpPr>
            <a:spLocks xmlns:a="http://schemas.openxmlformats.org/drawingml/2006/main" noGrp="1"/>
          </p:cNvSpPr>
          <p:nvPr/>
        </p:nvSpPr>
        <p:spPr>
          <a:xfrm xmlns:a="http://schemas.openxmlformats.org/drawingml/2006/main">
            <a:off x="8572500" y="4476750"/>
            <a:ext cx="304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252B29"/>
                </a:solidFill>
                <a:latin typeface="Arial"/>
                <a:ea typeface="Arial"/>
                <a:cs typeface="Arial"/>
              </a:defRPr>
            </a:defPPr>
          </a:lstStyle>
          <a:p xmlns:a="http://schemas.openxmlformats.org/drawingml/2006/main">
            <a:pPr>
              <a:defRPr sz="2100" b="1">
                <a:solidFill>
                  <a:srgbClr val="252B29"/>
                </a:solidFill>
                <a:latin typeface="Arial"/>
                <a:ea typeface="Arial"/>
                <a:cs typeface="Arial"/>
              </a:defRPr>
            </a:pPr>
            <a:r>
              <a:rPr sz="2100" b="1">
                <a:solidFill>
                  <a:srgbClr val="252B29"/>
                </a:solidFill>
                <a:latin typeface="Arial"/>
                <a:ea typeface="Arial"/>
                <a:cs typeface="Arial"/>
              </a:rPr>
              <a:t>Three indicators: 28.3</a:t>
            </a:r>
          </a:p>
          <a:p xmlns:a="http://schemas.openxmlformats.org/drawingml/2006/main">
            <a:pPr>
              <a:defRPr sz="2100" b="1">
                <a:solidFill>
                  <a:srgbClr val="252B29"/>
                </a:solidFill>
                <a:latin typeface="Arial"/>
                <a:ea typeface="Arial"/>
                <a:cs typeface="Arial"/>
              </a:defRPr>
            </a:pPr>
            <a:r>
              <a:rPr sz="2100" b="1">
                <a:solidFill>
                  <a:srgbClr val="252B29"/>
                </a:solidFill>
                <a:latin typeface="Arial"/>
                <a:ea typeface="Arial"/>
                <a:cs typeface="Arial"/>
              </a:rPr>
              <a:t>Add price levels: 7.1</a:t>
            </a:r>
          </a:p>
        </p:txBody>
      </p:sp>
      <p:sp>
        <p:nvSpPr>
          <p:cNvPr id="9" name="Descriptive OLS on 200 months. Chart shows annual means (*2026: Jan–Au">
            <a:extLst xmlns:a="http://schemas.openxmlformats.org/drawingml/2006/main">
              <a:ext uri="{FF2B5EF4-FFF2-40B4-BE49-F238E27FC236}">
                <a16:creationId xmlns:a16="http://schemas.microsoft.com/office/drawing/2014/main" id="{66F278FD-E4F1-403B-ACBC-32497AC1BB08}"/>
              </a:ext>
            </a:extLst>
          </p:cNvPr>
          <p:cNvSpPr>
            <a:spLocks xmlns:a="http://schemas.openxmlformats.org/drawingml/2006/main" noGrp="1"/>
          </p:cNvSpPr>
          <p:nvPr/>
        </p:nvSpPr>
        <p:spPr>
          <a:xfrm xmlns:a="http://schemas.openxmlformats.org/drawingml/2006/main">
            <a:off x="571500" y="612457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8766E"/>
                </a:solidFill>
                <a:latin typeface="Arial"/>
                <a:ea typeface="Arial"/>
                <a:cs typeface="Arial"/>
              </a:defRPr>
            </a:defPPr>
          </a:lstStyle>
          <a:p xmlns:a="http://schemas.openxmlformats.org/drawingml/2006/main">
            <a:pPr>
              <a:defRPr sz="1350" b="0">
                <a:solidFill>
                  <a:srgbClr val="68766E"/>
                </a:solidFill>
                <a:latin typeface="Arial"/>
                <a:ea typeface="Arial"/>
                <a:cs typeface="Arial"/>
              </a:defRPr>
            </a:pPr>
            <a:r>
              <a:rPr sz="1350" b="0">
                <a:solidFill>
                  <a:srgbClr val="68766E"/>
                </a:solidFill>
                <a:latin typeface="Arial"/>
                <a:ea typeface="Arial"/>
                <a:cs typeface="Arial"/>
              </a:rPr>
              <a:t>Descriptive OLS on 200 months. Chart shows annual means (*2026: Jan–Aug). Residuals are not causal effects.</a:t>
            </a:r>
          </a:p>
        </p:txBody>
      </p:sp>
    </p:spTree>
    <p:extLst>
      <p:ext uri="{BB962C8B-B14F-4D97-AF65-F5344CB8AC3E}">
        <p14:creationId xmlns:p14="http://schemas.microsoft.com/office/powerpoint/2010/main" val="87782146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RQ3. Why can slower inflation still leave consumers squeezed?">
            <a:extLst xmlns:a="http://schemas.openxmlformats.org/drawingml/2006/main">
              <a:ext uri="{FF2B5EF4-FFF2-40B4-BE49-F238E27FC236}">
                <a16:creationId xmlns:a16="http://schemas.microsoft.com/office/drawing/2014/main" id="{BB04DCE7-0FA5-4C14-8C8A-951360656E57}"/>
              </a:ext>
            </a:extLst>
          </p:cNvPr>
          <p:cNvSpPr>
            <a:spLocks xmlns:a="http://schemas.openxmlformats.org/drawingml/2006/main" noGrp="1"/>
          </p:cNvSpPr>
          <p:nvPr/>
        </p:nvSpPr>
        <p:spPr>
          <a:xfrm xmlns:a="http://schemas.openxmlformats.org/drawingml/2006/main">
            <a:off x="533400" y="342900"/>
            <a:ext cx="1109662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254C45"/>
                </a:solidFill>
                <a:latin typeface="Arial"/>
                <a:ea typeface="Arial"/>
                <a:cs typeface="Arial"/>
              </a:defRPr>
            </a:defPPr>
          </a:lstStyle>
          <a:p xmlns:a="http://schemas.openxmlformats.org/drawingml/2006/main">
            <a:pPr>
              <a:defRPr sz="2850" b="1">
                <a:solidFill>
                  <a:srgbClr val="254C45"/>
                </a:solidFill>
                <a:latin typeface="Arial"/>
                <a:ea typeface="Arial"/>
                <a:cs typeface="Arial"/>
              </a:defRPr>
            </a:pPr>
            <a:r>
              <a:rPr sz="2850" b="1">
                <a:solidFill>
                  <a:srgbClr val="254C45"/>
                </a:solidFill>
                <a:latin typeface="Arial"/>
                <a:ea typeface="Arial"/>
                <a:cs typeface="Arial"/>
              </a:rPr>
              <a:t>RQ3. Why can slower inflation still leave consumers squeezed?</a:t>
            </a:r>
          </a:p>
        </p:txBody>
      </p:sp>
      <p:sp>
        <p:nvSpPr>
          <p:cNvPr id="2" name="The speed of price increases differs from the accumulated bill">
            <a:extLst xmlns:a="http://schemas.openxmlformats.org/drawingml/2006/main">
              <a:ext uri="{FF2B5EF4-FFF2-40B4-BE49-F238E27FC236}">
                <a16:creationId xmlns:a16="http://schemas.microsoft.com/office/drawing/2014/main" id="{4704DFE4-85A2-4B83-8D65-AA4AB3E256EB}"/>
              </a:ext>
            </a:extLst>
          </p:cNvPr>
          <p:cNvSpPr>
            <a:spLocks xmlns:a="http://schemas.openxmlformats.org/drawingml/2006/main" noGrp="1"/>
          </p:cNvSpPr>
          <p:nvPr/>
        </p:nvSpPr>
        <p:spPr>
          <a:xfrm xmlns:a="http://schemas.openxmlformats.org/drawingml/2006/main">
            <a:off x="571500" y="1466850"/>
            <a:ext cx="11001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252B29"/>
                </a:solidFill>
                <a:latin typeface="Arial"/>
                <a:ea typeface="Arial"/>
                <a:cs typeface="Arial"/>
              </a:defRPr>
            </a:defPPr>
          </a:lstStyle>
          <a:p xmlns:a="http://schemas.openxmlformats.org/drawingml/2006/main">
            <a:pPr>
              <a:defRPr sz="2175" b="1">
                <a:solidFill>
                  <a:srgbClr val="252B29"/>
                </a:solidFill>
                <a:latin typeface="Arial"/>
                <a:ea typeface="Arial"/>
                <a:cs typeface="Arial"/>
              </a:defRPr>
            </a:pPr>
            <a:r>
              <a:rPr sz="2175" b="1">
                <a:solidFill>
                  <a:srgbClr val="252B29"/>
                </a:solidFill>
                <a:latin typeface="Arial"/>
                <a:ea typeface="Arial"/>
                <a:cs typeface="Arial"/>
              </a:rPr>
              <a:t>The speed of price increases differs from the accumulated bill</a:t>
            </a:r>
          </a:p>
        </p:txBody>
      </p:sp>
      <p:sp>
        <p:nvSpPr>
          <p:cNvPr id="3" name="06">
            <a:extLst xmlns:a="http://schemas.openxmlformats.org/drawingml/2006/main">
              <a:ext uri="{FF2B5EF4-FFF2-40B4-BE49-F238E27FC236}">
                <a16:creationId xmlns:a16="http://schemas.microsoft.com/office/drawing/2014/main" id="{FD8D6B5C-669A-4E92-BDAE-08EB1D66BB71}"/>
              </a:ext>
            </a:extLst>
          </p:cNvPr>
          <p:cNvSpPr>
            <a:spLocks xmlns:a="http://schemas.openxmlformats.org/drawingml/2006/main" noGrp="1"/>
          </p:cNvSpPr>
          <p:nvPr/>
        </p:nvSpPr>
        <p:spPr>
          <a:xfrm xmlns:a="http://schemas.openxmlformats.org/drawingml/2006/main">
            <a:off x="11144250" y="64579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8766E"/>
                </a:solidFill>
                <a:latin typeface="Arial"/>
                <a:ea typeface="Arial"/>
                <a:cs typeface="Arial"/>
              </a:defRPr>
            </a:defPPr>
          </a:lstStyle>
          <a:p xmlns:a="http://schemas.openxmlformats.org/drawingml/2006/main">
            <a:pPr>
              <a:defRPr sz="1275" b="0">
                <a:solidFill>
                  <a:srgbClr val="68766E"/>
                </a:solidFill>
                <a:latin typeface="Arial"/>
                <a:ea typeface="Arial"/>
                <a:cs typeface="Arial"/>
              </a:defRPr>
            </a:pPr>
            <a:r>
              <a:rPr sz="1275" b="0">
                <a:solidFill>
                  <a:srgbClr val="68766E"/>
                </a:solidFill>
                <a:latin typeface="Arial"/>
                <a:ea typeface="Arial"/>
                <a:cs typeface="Arial"/>
              </a:rPr>
              <a:t>06</a:t>
            </a:r>
          </a:p>
        </p:txBody>
      </p:sp>
      <p:sp>
        <p:nvSpPr>
          <p:cNvPr id="4" name="Price level (December 2018 = 100)">
            <a:extLst xmlns:a="http://schemas.openxmlformats.org/drawingml/2006/main">
              <a:ext uri="{FF2B5EF4-FFF2-40B4-BE49-F238E27FC236}">
                <a16:creationId xmlns:a16="http://schemas.microsoft.com/office/drawing/2014/main" id="{EFF8DF06-7FE2-4A43-9ED6-22432ABB2A3E}"/>
              </a:ext>
            </a:extLst>
          </p:cNvPr>
          <p:cNvSpPr>
            <a:spLocks xmlns:a="http://schemas.openxmlformats.org/drawingml/2006/main" noGrp="1"/>
          </p:cNvSpPr>
          <p:nvPr/>
        </p:nvSpPr>
        <p:spPr>
          <a:xfrm xmlns:a="http://schemas.openxmlformats.org/drawingml/2006/main">
            <a:off x="666750" y="2247900"/>
            <a:ext cx="7429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254C45"/>
                </a:solidFill>
                <a:latin typeface="Arial"/>
                <a:ea typeface="Arial"/>
                <a:cs typeface="Arial"/>
              </a:defRPr>
            </a:defPPr>
          </a:lstStyle>
          <a:p xmlns:a="http://schemas.openxmlformats.org/drawingml/2006/main">
            <a:pPr>
              <a:defRPr sz="1800" b="1">
                <a:solidFill>
                  <a:srgbClr val="254C45"/>
                </a:solidFill>
                <a:latin typeface="Arial"/>
                <a:ea typeface="Arial"/>
                <a:cs typeface="Arial"/>
              </a:defRPr>
            </a:pPr>
            <a:r>
              <a:rPr sz="1800" b="1">
                <a:solidFill>
                  <a:srgbClr val="254C45"/>
                </a:solidFill>
                <a:latin typeface="Arial"/>
                <a:ea typeface="Arial"/>
                <a:cs typeface="Arial"/>
              </a:rPr>
              <a:t>Price level (December 2018 = 100)</a:t>
            </a:r>
          </a:p>
        </p:txBody>
      </p:sp>
      <p:graphicFrame>
        <p:nvGraphicFramePr>
          <p:cNvPr id="5" name="Chart">
            <a:extLst xmlns:a="http://schemas.openxmlformats.org/drawingml/2006/main">
              <a:ext uri="{FF2B5EF4-FFF2-40B4-BE49-F238E27FC236}">
                <a16:creationId xmlns:a16="http://schemas.microsoft.com/office/drawing/2014/main" id="{FB7E7DC6-6249-4267-81EF-0D7E75A50F32}"/>
              </a:ext>
            </a:extLst>
          </p:cNvPr>
          <p:cNvGraphicFramePr/>
          <p:nvPr/>
        </p:nvGraphicFramePr>
        <p:xfrm>
          <a:off xmlns:a="http://schemas.openxmlformats.org/drawingml/2006/main" x="523875" y="2581275"/>
          <a:ext xmlns:a="http://schemas.openxmlformats.org/drawingml/2006/main" cx="7429500" cy="1466850"/>
        </p:xfrm>
        <a:graphic xmlns:a="http://schemas.openxmlformats.org/drawingml/2006/main">
          <a:graphicData uri="http://schemas.openxmlformats.org/drawingml/2006/chart">
            <c:chart xmlns:r="http://schemas.openxmlformats.org/officeDocument/2006/relationships" xmlns:c="http://schemas.openxmlformats.org/drawingml/2006/chart" r:id="R9bfaf0b3f1e54a85"/>
          </a:graphicData>
        </a:graphic>
      </p:graphicFrame>
      <p:sp>
        <p:nvSpPr>
          <p:cNvPr id="6" name="PCE inflation (year over year, %)">
            <a:extLst xmlns:a="http://schemas.openxmlformats.org/drawingml/2006/main">
              <a:ext uri="{FF2B5EF4-FFF2-40B4-BE49-F238E27FC236}">
                <a16:creationId xmlns:a16="http://schemas.microsoft.com/office/drawing/2014/main" id="{7FDBC039-E01C-4801-89E8-AD8B7E2A7668}"/>
              </a:ext>
            </a:extLst>
          </p:cNvPr>
          <p:cNvSpPr>
            <a:spLocks xmlns:a="http://schemas.openxmlformats.org/drawingml/2006/main" noGrp="1"/>
          </p:cNvSpPr>
          <p:nvPr/>
        </p:nvSpPr>
        <p:spPr>
          <a:xfrm xmlns:a="http://schemas.openxmlformats.org/drawingml/2006/main">
            <a:off x="666750" y="4267200"/>
            <a:ext cx="7429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A37D46"/>
                </a:solidFill>
                <a:latin typeface="Arial"/>
                <a:ea typeface="Arial"/>
                <a:cs typeface="Arial"/>
              </a:defRPr>
            </a:defPPr>
          </a:lstStyle>
          <a:p xmlns:a="http://schemas.openxmlformats.org/drawingml/2006/main">
            <a:pPr>
              <a:defRPr sz="1800" b="1">
                <a:solidFill>
                  <a:srgbClr val="A37D46"/>
                </a:solidFill>
                <a:latin typeface="Arial"/>
                <a:ea typeface="Arial"/>
                <a:cs typeface="Arial"/>
              </a:defRPr>
            </a:pPr>
            <a:r>
              <a:rPr sz="1800" b="1">
                <a:solidFill>
                  <a:srgbClr val="A37D46"/>
                </a:solidFill>
                <a:latin typeface="Arial"/>
                <a:ea typeface="Arial"/>
                <a:cs typeface="Arial"/>
              </a:rPr>
              <a:t>PCE inflation (year over year, %)</a:t>
            </a:r>
          </a:p>
        </p:txBody>
      </p:sp>
      <p:graphicFrame>
        <p:nvGraphicFramePr>
          <p:cNvPr id="7" name="Chart">
            <a:extLst xmlns:a="http://schemas.openxmlformats.org/drawingml/2006/main">
              <a:ext uri="{FF2B5EF4-FFF2-40B4-BE49-F238E27FC236}">
                <a16:creationId xmlns:a16="http://schemas.microsoft.com/office/drawing/2014/main" id="{1BDF8282-251D-4D4D-A791-23408D67AB95}"/>
              </a:ext>
            </a:extLst>
          </p:cNvPr>
          <p:cNvGraphicFramePr/>
          <p:nvPr/>
        </p:nvGraphicFramePr>
        <p:xfrm>
          <a:off xmlns:a="http://schemas.openxmlformats.org/drawingml/2006/main" x="523875" y="4600575"/>
          <a:ext xmlns:a="http://schemas.openxmlformats.org/drawingml/2006/main" cx="7429500" cy="1285875"/>
        </p:xfrm>
        <a:graphic xmlns:a="http://schemas.openxmlformats.org/drawingml/2006/main">
          <a:graphicData uri="http://schemas.openxmlformats.org/drawingml/2006/chart">
            <c:chart xmlns:r="http://schemas.openxmlformats.org/officeDocument/2006/relationships" xmlns:c="http://schemas.openxmlformats.org/drawingml/2006/chart" r:id="Rc9316e5385164fd3"/>
          </a:graphicData>
        </a:graphic>
      </p:graphicFrame>
      <p:sp>
        <p:nvSpPr>
          <p:cNvPr id="8" name="+27.9%">
            <a:extLst xmlns:a="http://schemas.openxmlformats.org/drawingml/2006/main">
              <a:ext uri="{FF2B5EF4-FFF2-40B4-BE49-F238E27FC236}">
                <a16:creationId xmlns:a16="http://schemas.microsoft.com/office/drawing/2014/main" id="{813F1548-ED68-4652-8278-ACE62575396F}"/>
              </a:ext>
            </a:extLst>
          </p:cNvPr>
          <p:cNvSpPr>
            <a:spLocks xmlns:a="http://schemas.openxmlformats.org/drawingml/2006/main" noGrp="1"/>
          </p:cNvSpPr>
          <p:nvPr/>
        </p:nvSpPr>
        <p:spPr>
          <a:xfrm xmlns:a="http://schemas.openxmlformats.org/drawingml/2006/main">
            <a:off x="8620125" y="2409825"/>
            <a:ext cx="27622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825" b="1">
                <a:solidFill>
                  <a:srgbClr val="254C45"/>
                </a:solidFill>
                <a:latin typeface="Arial"/>
                <a:ea typeface="Arial"/>
                <a:cs typeface="Arial"/>
              </a:defRPr>
            </a:defPPr>
          </a:lstStyle>
          <a:p xmlns:a="http://schemas.openxmlformats.org/drawingml/2006/main">
            <a:pPr>
              <a:defRPr sz="3825" b="1">
                <a:solidFill>
                  <a:srgbClr val="254C45"/>
                </a:solidFill>
                <a:latin typeface="Arial"/>
                <a:ea typeface="Arial"/>
                <a:cs typeface="Arial"/>
              </a:defRPr>
            </a:pPr>
            <a:r>
              <a:rPr sz="3825" b="1">
                <a:solidFill>
                  <a:srgbClr val="254C45"/>
                </a:solidFill>
                <a:latin typeface="Arial"/>
                <a:ea typeface="Arial"/>
                <a:cs typeface="Arial"/>
              </a:rPr>
              <a:t>+27.9%</a:t>
            </a:r>
          </a:p>
        </p:txBody>
      </p:sp>
      <p:sp>
        <p:nvSpPr>
          <p:cNvPr id="9" name="Accumulated price increase">
            <a:extLst xmlns:a="http://schemas.openxmlformats.org/drawingml/2006/main">
              <a:ext uri="{FF2B5EF4-FFF2-40B4-BE49-F238E27FC236}">
                <a16:creationId xmlns:a16="http://schemas.microsoft.com/office/drawing/2014/main" id="{27EF3474-86D5-4F8F-A505-C62C3737B5FD}"/>
              </a:ext>
            </a:extLst>
          </p:cNvPr>
          <p:cNvSpPr>
            <a:spLocks xmlns:a="http://schemas.openxmlformats.org/drawingml/2006/main" noGrp="1"/>
          </p:cNvSpPr>
          <p:nvPr/>
        </p:nvSpPr>
        <p:spPr>
          <a:xfrm xmlns:a="http://schemas.openxmlformats.org/drawingml/2006/main">
            <a:off x="8620125" y="3095625"/>
            <a:ext cx="285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252B29"/>
                </a:solidFill>
                <a:latin typeface="Arial"/>
                <a:ea typeface="Arial"/>
                <a:cs typeface="Arial"/>
              </a:defRPr>
            </a:defPPr>
          </a:lstStyle>
          <a:p xmlns:a="http://schemas.openxmlformats.org/drawingml/2006/main">
            <a:pPr>
              <a:defRPr sz="1950" b="0">
                <a:solidFill>
                  <a:srgbClr val="252B29"/>
                </a:solidFill>
                <a:latin typeface="Arial"/>
                <a:ea typeface="Arial"/>
                <a:cs typeface="Arial"/>
              </a:defRPr>
            </a:pPr>
            <a:r>
              <a:rPr sz="1950" b="0">
                <a:solidFill>
                  <a:srgbClr val="252B29"/>
                </a:solidFill>
                <a:latin typeface="Arial"/>
                <a:ea typeface="Arial"/>
                <a:cs typeface="Arial"/>
              </a:rPr>
              <a:t>Accumulated price increase</a:t>
            </a:r>
          </a:p>
        </p:txBody>
      </p:sp>
      <p:sp>
        <p:nvSpPr>
          <p:cNvPr id="10" name="3.7%">
            <a:extLst xmlns:a="http://schemas.openxmlformats.org/drawingml/2006/main">
              <a:ext uri="{FF2B5EF4-FFF2-40B4-BE49-F238E27FC236}">
                <a16:creationId xmlns:a16="http://schemas.microsoft.com/office/drawing/2014/main" id="{0130174B-8E0D-4157-9447-4E1EBED3AEBD}"/>
              </a:ext>
            </a:extLst>
          </p:cNvPr>
          <p:cNvSpPr>
            <a:spLocks xmlns:a="http://schemas.openxmlformats.org/drawingml/2006/main" noGrp="1"/>
          </p:cNvSpPr>
          <p:nvPr/>
        </p:nvSpPr>
        <p:spPr>
          <a:xfrm xmlns:a="http://schemas.openxmlformats.org/drawingml/2006/main">
            <a:off x="8620125" y="4048125"/>
            <a:ext cx="2762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525" b="1">
                <a:solidFill>
                  <a:srgbClr val="A37D46"/>
                </a:solidFill>
                <a:latin typeface="Arial"/>
                <a:ea typeface="Arial"/>
                <a:cs typeface="Arial"/>
              </a:defRPr>
            </a:defPPr>
          </a:lstStyle>
          <a:p xmlns:a="http://schemas.openxmlformats.org/drawingml/2006/main">
            <a:pPr>
              <a:defRPr sz="3525" b="1">
                <a:solidFill>
                  <a:srgbClr val="A37D46"/>
                </a:solidFill>
                <a:latin typeface="Arial"/>
                <a:ea typeface="Arial"/>
                <a:cs typeface="Arial"/>
              </a:defRPr>
            </a:pPr>
            <a:r>
              <a:rPr sz="3525" b="1">
                <a:solidFill>
                  <a:srgbClr val="A37D46"/>
                </a:solidFill>
                <a:latin typeface="Arial"/>
                <a:ea typeface="Arial"/>
                <a:cs typeface="Arial"/>
              </a:rPr>
              <a:t>3.7%</a:t>
            </a:r>
          </a:p>
        </p:txBody>
      </p:sp>
      <p:sp>
        <p:nvSpPr>
          <p:cNvPr id="11" name="Annual inflation&#10;Real income growth: 0.5%">
            <a:extLst xmlns:a="http://schemas.openxmlformats.org/drawingml/2006/main">
              <a:ext uri="{FF2B5EF4-FFF2-40B4-BE49-F238E27FC236}">
                <a16:creationId xmlns:a16="http://schemas.microsoft.com/office/drawing/2014/main" id="{6AD3AAEA-C1EE-4DDC-BD73-488125A56888}"/>
              </a:ext>
            </a:extLst>
          </p:cNvPr>
          <p:cNvSpPr>
            <a:spLocks xmlns:a="http://schemas.openxmlformats.org/drawingml/2006/main" noGrp="1"/>
          </p:cNvSpPr>
          <p:nvPr/>
        </p:nvSpPr>
        <p:spPr>
          <a:xfrm xmlns:a="http://schemas.openxmlformats.org/drawingml/2006/main">
            <a:off x="8620125" y="4714875"/>
            <a:ext cx="285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252B29"/>
                </a:solidFill>
                <a:latin typeface="Arial"/>
                <a:ea typeface="Arial"/>
                <a:cs typeface="Arial"/>
              </a:defRPr>
            </a:defPPr>
          </a:lstStyle>
          <a:p xmlns:a="http://schemas.openxmlformats.org/drawingml/2006/main">
            <a:pPr>
              <a:defRPr sz="1875" b="0">
                <a:solidFill>
                  <a:srgbClr val="252B29"/>
                </a:solidFill>
                <a:latin typeface="Arial"/>
                <a:ea typeface="Arial"/>
                <a:cs typeface="Arial"/>
              </a:defRPr>
            </a:pPr>
            <a:r>
              <a:rPr sz="1875" b="0">
                <a:solidFill>
                  <a:srgbClr val="252B29"/>
                </a:solidFill>
                <a:latin typeface="Arial"/>
                <a:ea typeface="Arial"/>
                <a:cs typeface="Arial"/>
              </a:rPr>
              <a:t>Annual inflation</a:t>
            </a:r>
          </a:p>
          <a:p xmlns:a="http://schemas.openxmlformats.org/drawingml/2006/main">
            <a:pPr>
              <a:defRPr sz="1875" b="0">
                <a:solidFill>
                  <a:srgbClr val="252B29"/>
                </a:solidFill>
                <a:latin typeface="Arial"/>
                <a:ea typeface="Arial"/>
                <a:cs typeface="Arial"/>
              </a:defRPr>
            </a:pPr>
            <a:r>
              <a:rPr sz="1875" b="0">
                <a:solidFill>
                  <a:srgbClr val="252B29"/>
                </a:solidFill>
                <a:latin typeface="Arial"/>
                <a:ea typeface="Arial"/>
                <a:cs typeface="Arial"/>
              </a:rPr>
              <a:t>Real income growth: 0.5%</a:t>
            </a:r>
          </a:p>
        </p:txBody>
      </p:sp>
      <p:sp>
        <p:nvSpPr>
          <p:cNvPr id="12" name="Latest origin-available releases before August 2026. Selected monthly ">
            <a:extLst xmlns:a="http://schemas.openxmlformats.org/drawingml/2006/main">
              <a:ext uri="{FF2B5EF4-FFF2-40B4-BE49-F238E27FC236}">
                <a16:creationId xmlns:a16="http://schemas.microsoft.com/office/drawing/2014/main" id="{A8CEB048-7391-4BE3-AACB-467995A681C8}"/>
              </a:ext>
            </a:extLst>
          </p:cNvPr>
          <p:cNvSpPr>
            <a:spLocks xmlns:a="http://schemas.openxmlformats.org/drawingml/2006/main" noGrp="1"/>
          </p:cNvSpPr>
          <p:nvPr/>
        </p:nvSpPr>
        <p:spPr>
          <a:xfrm xmlns:a="http://schemas.openxmlformats.org/drawingml/2006/main">
            <a:off x="571500" y="612457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8766E"/>
                </a:solidFill>
                <a:latin typeface="Arial"/>
                <a:ea typeface="Arial"/>
                <a:cs typeface="Arial"/>
              </a:defRPr>
            </a:defPPr>
          </a:lstStyle>
          <a:p xmlns:a="http://schemas.openxmlformats.org/drawingml/2006/main">
            <a:pPr>
              <a:defRPr sz="1350" b="0">
                <a:solidFill>
                  <a:srgbClr val="68766E"/>
                </a:solidFill>
                <a:latin typeface="Arial"/>
                <a:ea typeface="Arial"/>
                <a:cs typeface="Arial"/>
              </a:defRPr>
            </a:pPr>
            <a:r>
              <a:rPr sz="1350" b="0">
                <a:solidFill>
                  <a:srgbClr val="68766E"/>
                </a:solidFill>
                <a:latin typeface="Arial"/>
                <a:ea typeface="Arial"/>
                <a:cs typeface="Arial"/>
              </a:rPr>
              <a:t>Latest origin-available releases before August 2026. Selected monthly readings shown. All 82 months enter analysis.</a:t>
            </a:r>
          </a:p>
        </p:txBody>
      </p:sp>
    </p:spTree>
    <p:extLst>
      <p:ext uri="{BB962C8B-B14F-4D97-AF65-F5344CB8AC3E}">
        <p14:creationId xmlns:p14="http://schemas.microsoft.com/office/powerpoint/2010/main" val="123626038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RQ4. Which perceptual mechanisms can our data actually measure?">
            <a:extLst xmlns:a="http://schemas.openxmlformats.org/drawingml/2006/main">
              <a:ext uri="{FF2B5EF4-FFF2-40B4-BE49-F238E27FC236}">
                <a16:creationId xmlns:a16="http://schemas.microsoft.com/office/drawing/2014/main" id="{48A4C8D1-611E-4C1C-9B77-6703CEDB9B37}"/>
              </a:ext>
            </a:extLst>
          </p:cNvPr>
          <p:cNvSpPr>
            <a:spLocks xmlns:a="http://schemas.openxmlformats.org/drawingml/2006/main" noGrp="1"/>
          </p:cNvSpPr>
          <p:nvPr/>
        </p:nvSpPr>
        <p:spPr>
          <a:xfrm xmlns:a="http://schemas.openxmlformats.org/drawingml/2006/main">
            <a:off x="533400" y="342900"/>
            <a:ext cx="1109662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254C45"/>
                </a:solidFill>
                <a:latin typeface="Arial"/>
                <a:ea typeface="Arial"/>
                <a:cs typeface="Arial"/>
              </a:defRPr>
            </a:defPPr>
          </a:lstStyle>
          <a:p xmlns:a="http://schemas.openxmlformats.org/drawingml/2006/main">
            <a:pPr>
              <a:defRPr sz="2850" b="1">
                <a:solidFill>
                  <a:srgbClr val="254C45"/>
                </a:solidFill>
                <a:latin typeface="Arial"/>
                <a:ea typeface="Arial"/>
                <a:cs typeface="Arial"/>
              </a:defRPr>
            </a:pPr>
            <a:r>
              <a:rPr sz="2850" b="1">
                <a:solidFill>
                  <a:srgbClr val="254C45"/>
                </a:solidFill>
                <a:latin typeface="Arial"/>
                <a:ea typeface="Arial"/>
                <a:cs typeface="Arial"/>
              </a:rPr>
              <a:t>RQ4. Which perceptual mechanisms can our data actually measure?</a:t>
            </a:r>
          </a:p>
        </p:txBody>
      </p:sp>
      <p:sp>
        <p:nvSpPr>
          <p:cNvPr id="2" name="Our measurements describe content proxies for the mechanisms">
            <a:extLst xmlns:a="http://schemas.openxmlformats.org/drawingml/2006/main">
              <a:ext uri="{FF2B5EF4-FFF2-40B4-BE49-F238E27FC236}">
                <a16:creationId xmlns:a16="http://schemas.microsoft.com/office/drawing/2014/main" id="{610E6065-8B0D-4C6B-BE25-2BE4AB720B19}"/>
              </a:ext>
            </a:extLst>
          </p:cNvPr>
          <p:cNvSpPr>
            <a:spLocks xmlns:a="http://schemas.openxmlformats.org/drawingml/2006/main" noGrp="1"/>
          </p:cNvSpPr>
          <p:nvPr/>
        </p:nvSpPr>
        <p:spPr>
          <a:xfrm xmlns:a="http://schemas.openxmlformats.org/drawingml/2006/main">
            <a:off x="571500" y="1466850"/>
            <a:ext cx="11001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252B29"/>
                </a:solidFill>
                <a:latin typeface="Arial"/>
                <a:ea typeface="Arial"/>
                <a:cs typeface="Arial"/>
              </a:defRPr>
            </a:defPPr>
          </a:lstStyle>
          <a:p xmlns:a="http://schemas.openxmlformats.org/drawingml/2006/main">
            <a:pPr>
              <a:defRPr sz="2175" b="1">
                <a:solidFill>
                  <a:srgbClr val="252B29"/>
                </a:solidFill>
                <a:latin typeface="Arial"/>
                <a:ea typeface="Arial"/>
                <a:cs typeface="Arial"/>
              </a:defRPr>
            </a:pPr>
            <a:r>
              <a:rPr sz="2175" b="1">
                <a:solidFill>
                  <a:srgbClr val="252B29"/>
                </a:solidFill>
                <a:latin typeface="Arial"/>
                <a:ea typeface="Arial"/>
                <a:cs typeface="Arial"/>
              </a:rPr>
              <a:t>Our measurements describe content proxies for the mechanisms</a:t>
            </a:r>
          </a:p>
        </p:txBody>
      </p:sp>
      <p:sp>
        <p:nvSpPr>
          <p:cNvPr id="3" name="07">
            <a:extLst xmlns:a="http://schemas.openxmlformats.org/drawingml/2006/main">
              <a:ext uri="{FF2B5EF4-FFF2-40B4-BE49-F238E27FC236}">
                <a16:creationId xmlns:a16="http://schemas.microsoft.com/office/drawing/2014/main" id="{C61B285E-A2CF-49CC-BC5B-9D8AE2ED73F0}"/>
              </a:ext>
            </a:extLst>
          </p:cNvPr>
          <p:cNvSpPr>
            <a:spLocks xmlns:a="http://schemas.openxmlformats.org/drawingml/2006/main" noGrp="1"/>
          </p:cNvSpPr>
          <p:nvPr/>
        </p:nvSpPr>
        <p:spPr>
          <a:xfrm xmlns:a="http://schemas.openxmlformats.org/drawingml/2006/main">
            <a:off x="11144250" y="64579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8766E"/>
                </a:solidFill>
                <a:latin typeface="Arial"/>
                <a:ea typeface="Arial"/>
                <a:cs typeface="Arial"/>
              </a:defRPr>
            </a:defPPr>
          </a:lstStyle>
          <a:p xmlns:a="http://schemas.openxmlformats.org/drawingml/2006/main">
            <a:pPr>
              <a:defRPr sz="1275" b="0">
                <a:solidFill>
                  <a:srgbClr val="68766E"/>
                </a:solidFill>
                <a:latin typeface="Arial"/>
                <a:ea typeface="Arial"/>
                <a:cs typeface="Arial"/>
              </a:defRPr>
            </a:pPr>
            <a:r>
              <a:rPr sz="1275" b="0">
                <a:solidFill>
                  <a:srgbClr val="68766E"/>
                </a:solidFill>
                <a:latin typeface="Arial"/>
                <a:ea typeface="Arial"/>
                <a:cs typeface="Arial"/>
              </a:rPr>
              <a:t>07</a:t>
            </a:r>
          </a:p>
        </p:txBody>
      </p:sp>
      <p:graphicFrame>
        <p:nvGraphicFramePr>
          <p:cNvPr id="4" name="Chart">
            <a:extLst xmlns:a="http://schemas.openxmlformats.org/drawingml/2006/main">
              <a:ext uri="{FF2B5EF4-FFF2-40B4-BE49-F238E27FC236}">
                <a16:creationId xmlns:a16="http://schemas.microsoft.com/office/drawing/2014/main" id="{4E06878D-9A3F-49F5-854B-1C278EA21FA1}"/>
              </a:ext>
            </a:extLst>
          </p:cNvPr>
          <p:cNvGraphicFramePr/>
          <p:nvPr/>
        </p:nvGraphicFramePr>
        <p:xfrm>
          <a:off xmlns:a="http://schemas.openxmlformats.org/drawingml/2006/main" x="552450" y="2238375"/>
          <a:ext xmlns:a="http://schemas.openxmlformats.org/drawingml/2006/main" cx="10906125" cy="3429000"/>
        </p:xfrm>
        <a:graphic xmlns:a="http://schemas.openxmlformats.org/drawingml/2006/main">
          <a:graphicData uri="http://schemas.openxmlformats.org/drawingml/2006/chart">
            <c:chart xmlns:r="http://schemas.openxmlformats.org/officeDocument/2006/relationships" xmlns:c="http://schemas.openxmlformats.org/drawingml/2006/chart" r:id="Rbcc0aec90fbb405e"/>
          </a:graphicData>
        </a:graphic>
      </p:graphicFrame>
      <p:sp>
        <p:nvSpPr>
          <p:cNvPr id="5" name="Measuring consumer mechanisms also requires exposure, recall, prior be">
            <a:extLst xmlns:a="http://schemas.openxmlformats.org/drawingml/2006/main">
              <a:ext uri="{FF2B5EF4-FFF2-40B4-BE49-F238E27FC236}">
                <a16:creationId xmlns:a16="http://schemas.microsoft.com/office/drawing/2014/main" id="{563C0015-FF50-4276-9487-CF24FAC6B391}"/>
              </a:ext>
            </a:extLst>
          </p:cNvPr>
          <p:cNvSpPr>
            <a:spLocks xmlns:a="http://schemas.openxmlformats.org/drawingml/2006/main" noGrp="1"/>
          </p:cNvSpPr>
          <p:nvPr/>
        </p:nvSpPr>
        <p:spPr>
          <a:xfrm xmlns:a="http://schemas.openxmlformats.org/drawingml/2006/main">
            <a:off x="571500" y="612457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8766E"/>
                </a:solidFill>
                <a:latin typeface="Arial"/>
                <a:ea typeface="Arial"/>
                <a:cs typeface="Arial"/>
              </a:defRPr>
            </a:defPPr>
          </a:lstStyle>
          <a:p xmlns:a="http://schemas.openxmlformats.org/drawingml/2006/main">
            <a:pPr>
              <a:defRPr sz="1350" b="0">
                <a:solidFill>
                  <a:srgbClr val="68766E"/>
                </a:solidFill>
                <a:latin typeface="Arial"/>
                <a:ea typeface="Arial"/>
                <a:cs typeface="Arial"/>
              </a:defRPr>
            </a:pPr>
            <a:r>
              <a:rPr sz="1350" b="0">
                <a:solidFill>
                  <a:srgbClr val="68766E"/>
                </a:solidFill>
                <a:latin typeface="Arial"/>
                <a:ea typeface="Arial"/>
                <a:cs typeface="Arial"/>
              </a:rPr>
              <a:t>Measuring consumer mechanisms also requires exposure, recall, prior beliefs, responses and individual reference prices.</a:t>
            </a:r>
          </a:p>
        </p:txBody>
      </p:sp>
    </p:spTree>
    <p:extLst>
      <p:ext uri="{BB962C8B-B14F-4D97-AF65-F5344CB8AC3E}">
        <p14:creationId xmlns:p14="http://schemas.microsoft.com/office/powerpoint/2010/main" val="148664020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RQ5. Does media improve predictions beyond economic indicators alone?">
            <a:extLst xmlns:a="http://schemas.openxmlformats.org/drawingml/2006/main">
              <a:ext uri="{FF2B5EF4-FFF2-40B4-BE49-F238E27FC236}">
                <a16:creationId xmlns:a16="http://schemas.microsoft.com/office/drawing/2014/main" id="{18F1AB45-D569-4695-961B-9FEF85B84DD7}"/>
              </a:ext>
            </a:extLst>
          </p:cNvPr>
          <p:cNvSpPr>
            <a:spLocks xmlns:a="http://schemas.openxmlformats.org/drawingml/2006/main" noGrp="1"/>
          </p:cNvSpPr>
          <p:nvPr/>
        </p:nvSpPr>
        <p:spPr>
          <a:xfrm xmlns:a="http://schemas.openxmlformats.org/drawingml/2006/main">
            <a:off x="533400" y="342900"/>
            <a:ext cx="1109662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254C45"/>
                </a:solidFill>
                <a:latin typeface="Arial"/>
                <a:ea typeface="Arial"/>
                <a:cs typeface="Arial"/>
              </a:defRPr>
            </a:defPPr>
          </a:lstStyle>
          <a:p xmlns:a="http://schemas.openxmlformats.org/drawingml/2006/main">
            <a:pPr>
              <a:defRPr sz="2850" b="1">
                <a:solidFill>
                  <a:srgbClr val="254C45"/>
                </a:solidFill>
                <a:latin typeface="Arial"/>
                <a:ea typeface="Arial"/>
                <a:cs typeface="Arial"/>
              </a:defRPr>
            </a:pPr>
            <a:r>
              <a:rPr sz="2850" b="1">
                <a:solidFill>
                  <a:srgbClr val="254C45"/>
                </a:solidFill>
                <a:latin typeface="Arial"/>
                <a:ea typeface="Arial"/>
                <a:cs typeface="Arial"/>
              </a:rPr>
              <a:t>RQ5. Does media improve predictions beyond economic indicators alone?</a:t>
            </a:r>
          </a:p>
        </p:txBody>
      </p:sp>
      <p:sp>
        <p:nvSpPr>
          <p:cNvPr id="2" name="Media helps in one controlled specification, with limited stability">
            <a:extLst xmlns:a="http://schemas.openxmlformats.org/drawingml/2006/main">
              <a:ext uri="{FF2B5EF4-FFF2-40B4-BE49-F238E27FC236}">
                <a16:creationId xmlns:a16="http://schemas.microsoft.com/office/drawing/2014/main" id="{59138C61-FC68-4FC9-AA31-B1712C0ACEF5}"/>
              </a:ext>
            </a:extLst>
          </p:cNvPr>
          <p:cNvSpPr>
            <a:spLocks xmlns:a="http://schemas.openxmlformats.org/drawingml/2006/main" noGrp="1"/>
          </p:cNvSpPr>
          <p:nvPr/>
        </p:nvSpPr>
        <p:spPr>
          <a:xfrm xmlns:a="http://schemas.openxmlformats.org/drawingml/2006/main">
            <a:off x="571500" y="1466850"/>
            <a:ext cx="11001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252B29"/>
                </a:solidFill>
                <a:latin typeface="Arial"/>
                <a:ea typeface="Arial"/>
                <a:cs typeface="Arial"/>
              </a:defRPr>
            </a:defPPr>
          </a:lstStyle>
          <a:p xmlns:a="http://schemas.openxmlformats.org/drawingml/2006/main">
            <a:pPr>
              <a:defRPr sz="2175" b="1">
                <a:solidFill>
                  <a:srgbClr val="252B29"/>
                </a:solidFill>
                <a:latin typeface="Arial"/>
                <a:ea typeface="Arial"/>
                <a:cs typeface="Arial"/>
              </a:defRPr>
            </a:pPr>
            <a:r>
              <a:rPr sz="2175" b="1">
                <a:solidFill>
                  <a:srgbClr val="252B29"/>
                </a:solidFill>
                <a:latin typeface="Arial"/>
                <a:ea typeface="Arial"/>
                <a:cs typeface="Arial"/>
              </a:rPr>
              <a:t>Media helps in one controlled specification, with limited stability</a:t>
            </a:r>
          </a:p>
        </p:txBody>
      </p:sp>
      <p:sp>
        <p:nvSpPr>
          <p:cNvPr id="3" name="08">
            <a:extLst xmlns:a="http://schemas.openxmlformats.org/drawingml/2006/main">
              <a:ext uri="{FF2B5EF4-FFF2-40B4-BE49-F238E27FC236}">
                <a16:creationId xmlns:a16="http://schemas.microsoft.com/office/drawing/2014/main" id="{4CFDB553-D413-4B73-BF44-A8C50D4DEACB}"/>
              </a:ext>
            </a:extLst>
          </p:cNvPr>
          <p:cNvSpPr>
            <a:spLocks xmlns:a="http://schemas.openxmlformats.org/drawingml/2006/main" noGrp="1"/>
          </p:cNvSpPr>
          <p:nvPr/>
        </p:nvSpPr>
        <p:spPr>
          <a:xfrm xmlns:a="http://schemas.openxmlformats.org/drawingml/2006/main">
            <a:off x="11144250" y="64579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8766E"/>
                </a:solidFill>
                <a:latin typeface="Arial"/>
                <a:ea typeface="Arial"/>
                <a:cs typeface="Arial"/>
              </a:defRPr>
            </a:defPPr>
          </a:lstStyle>
          <a:p xmlns:a="http://schemas.openxmlformats.org/drawingml/2006/main">
            <a:pPr>
              <a:defRPr sz="1275" b="0">
                <a:solidFill>
                  <a:srgbClr val="68766E"/>
                </a:solidFill>
                <a:latin typeface="Arial"/>
                <a:ea typeface="Arial"/>
                <a:cs typeface="Arial"/>
              </a:defRPr>
            </a:pPr>
            <a:r>
              <a:rPr sz="1275" b="0">
                <a:solidFill>
                  <a:srgbClr val="68766E"/>
                </a:solidFill>
                <a:latin typeface="Arial"/>
                <a:ea typeface="Arial"/>
                <a:cs typeface="Arial"/>
              </a:rPr>
              <a:t>08</a:t>
            </a:r>
          </a:p>
        </p:txBody>
      </p:sp>
      <p:graphicFrame>
        <p:nvGraphicFramePr>
          <p:cNvPr id="4" name="Chart">
            <a:extLst xmlns:a="http://schemas.openxmlformats.org/drawingml/2006/main">
              <a:ext uri="{FF2B5EF4-FFF2-40B4-BE49-F238E27FC236}">
                <a16:creationId xmlns:a16="http://schemas.microsoft.com/office/drawing/2014/main" id="{2E03D054-76D6-49AB-821A-D06CEA5BCDA8}"/>
              </a:ext>
            </a:extLst>
          </p:cNvPr>
          <p:cNvGraphicFramePr/>
          <p:nvPr/>
        </p:nvGraphicFramePr>
        <p:xfrm>
          <a:off xmlns:a="http://schemas.openxmlformats.org/drawingml/2006/main" x="523875" y="2276475"/>
          <a:ext xmlns:a="http://schemas.openxmlformats.org/drawingml/2006/main" cx="11001375" cy="3171825"/>
        </p:xfrm>
        <a:graphic xmlns:a="http://schemas.openxmlformats.org/drawingml/2006/main">
          <a:graphicData uri="http://schemas.openxmlformats.org/drawingml/2006/chart">
            <c:chart xmlns:r="http://schemas.openxmlformats.org/officeDocument/2006/relationships" xmlns:c="http://schemas.openxmlformats.org/drawingml/2006/chart" r:id="R8778e944c05445ad"/>
          </a:graphicData>
        </a:graphic>
      </p:graphicFrame>
      <p:sp>
        <p:nvSpPr>
          <p:cNvPr id="5" name="Carry forward prior sentiment: 3.725     All content features together">
            <a:extLst xmlns:a="http://schemas.openxmlformats.org/drawingml/2006/main">
              <a:ext uri="{FF2B5EF4-FFF2-40B4-BE49-F238E27FC236}">
                <a16:creationId xmlns:a16="http://schemas.microsoft.com/office/drawing/2014/main" id="{56BF08A2-662E-40EE-814D-F83BED312FEE}"/>
              </a:ext>
            </a:extLst>
          </p:cNvPr>
          <p:cNvSpPr>
            <a:spLocks xmlns:a="http://schemas.openxmlformats.org/drawingml/2006/main" noGrp="1"/>
          </p:cNvSpPr>
          <p:nvPr/>
        </p:nvSpPr>
        <p:spPr>
          <a:xfrm xmlns:a="http://schemas.openxmlformats.org/drawingml/2006/main">
            <a:off x="609600" y="5610225"/>
            <a:ext cx="10810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254C45"/>
                </a:solidFill>
                <a:latin typeface="Arial"/>
                <a:ea typeface="Arial"/>
                <a:cs typeface="Arial"/>
              </a:defRPr>
            </a:defPPr>
          </a:lstStyle>
          <a:p xmlns:a="http://schemas.openxmlformats.org/drawingml/2006/main">
            <a:pPr>
              <a:defRPr sz="1950" b="1">
                <a:solidFill>
                  <a:srgbClr val="254C45"/>
                </a:solidFill>
                <a:latin typeface="Arial"/>
                <a:ea typeface="Arial"/>
                <a:cs typeface="Arial"/>
              </a:defRPr>
            </a:pPr>
            <a:r>
              <a:rPr sz="1950" b="1">
                <a:solidFill>
                  <a:srgbClr val="254C45"/>
                </a:solidFill>
                <a:latin typeface="Arial"/>
                <a:ea typeface="Arial"/>
                <a:cs typeface="Arial"/>
              </a:rPr>
              <a:t>Carry forward prior sentiment: 3.725     All content features together: 4.737</a:t>
            </a:r>
          </a:p>
        </p:txBody>
      </p:sp>
      <p:sp>
        <p:nvSpPr>
          <p:cNvPr id="6" name="Same 40 test months, January 2023–August 2026. Expanding ridge regress">
            <a:extLst xmlns:a="http://schemas.openxmlformats.org/drawingml/2006/main">
              <a:ext uri="{FF2B5EF4-FFF2-40B4-BE49-F238E27FC236}">
                <a16:creationId xmlns:a16="http://schemas.microsoft.com/office/drawing/2014/main" id="{BAA816C2-77D9-4EB1-BE6C-55AECC48A448}"/>
              </a:ext>
            </a:extLst>
          </p:cNvPr>
          <p:cNvSpPr>
            <a:spLocks xmlns:a="http://schemas.openxmlformats.org/drawingml/2006/main" noGrp="1"/>
          </p:cNvSpPr>
          <p:nvPr/>
        </p:nvSpPr>
        <p:spPr>
          <a:xfrm xmlns:a="http://schemas.openxmlformats.org/drawingml/2006/main">
            <a:off x="571500" y="612457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8766E"/>
                </a:solidFill>
                <a:latin typeface="Arial"/>
                <a:ea typeface="Arial"/>
                <a:cs typeface="Arial"/>
              </a:defRPr>
            </a:defPPr>
          </a:lstStyle>
          <a:p xmlns:a="http://schemas.openxmlformats.org/drawingml/2006/main">
            <a:pPr>
              <a:defRPr sz="1350" b="0">
                <a:solidFill>
                  <a:srgbClr val="68766E"/>
                </a:solidFill>
                <a:latin typeface="Arial"/>
                <a:ea typeface="Arial"/>
                <a:cs typeface="Arial"/>
              </a:defRPr>
            </a:pPr>
            <a:r>
              <a:rPr sz="1350" b="0">
                <a:solidFill>
                  <a:srgbClr val="68766E"/>
                </a:solidFill>
                <a:latin typeface="Arial"/>
                <a:ea typeface="Arial"/>
                <a:cs typeface="Arial"/>
              </a:rPr>
              <a:t>Same 40 test months, January 2023–August 2026. Expanding ridge regression. Method control: 2024 web transition.</a:t>
            </a:r>
          </a:p>
        </p:txBody>
      </p:sp>
    </p:spTree>
    <p:extLst>
      <p:ext uri="{BB962C8B-B14F-4D97-AF65-F5344CB8AC3E}">
        <p14:creationId xmlns:p14="http://schemas.microsoft.com/office/powerpoint/2010/main" val="180508235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RQ6. What evidence challenges a media-bias explanation?">
            <a:extLst xmlns:a="http://schemas.openxmlformats.org/drawingml/2006/main">
              <a:ext uri="{FF2B5EF4-FFF2-40B4-BE49-F238E27FC236}">
                <a16:creationId xmlns:a16="http://schemas.microsoft.com/office/drawing/2014/main" id="{7C78F0A3-BE74-4A47-87BF-0B12B22E308C}"/>
              </a:ext>
            </a:extLst>
          </p:cNvPr>
          <p:cNvSpPr>
            <a:spLocks xmlns:a="http://schemas.openxmlformats.org/drawingml/2006/main" noGrp="1"/>
          </p:cNvSpPr>
          <p:nvPr/>
        </p:nvSpPr>
        <p:spPr>
          <a:xfrm xmlns:a="http://schemas.openxmlformats.org/drawingml/2006/main">
            <a:off x="533400" y="342900"/>
            <a:ext cx="1109662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254C45"/>
                </a:solidFill>
                <a:latin typeface="Arial"/>
                <a:ea typeface="Arial"/>
                <a:cs typeface="Arial"/>
              </a:defRPr>
            </a:defPPr>
          </a:lstStyle>
          <a:p xmlns:a="http://schemas.openxmlformats.org/drawingml/2006/main">
            <a:pPr>
              <a:defRPr sz="2850" b="1">
                <a:solidFill>
                  <a:srgbClr val="254C45"/>
                </a:solidFill>
                <a:latin typeface="Arial"/>
                <a:ea typeface="Arial"/>
                <a:cs typeface="Arial"/>
              </a:defRPr>
            </a:pPr>
            <a:r>
              <a:rPr sz="2850" b="1">
                <a:solidFill>
                  <a:srgbClr val="254C45"/>
                </a:solidFill>
                <a:latin typeface="Arial"/>
                <a:ea typeface="Arial"/>
                <a:cs typeface="Arial"/>
              </a:rPr>
              <a:t>RQ6. What evidence challenges a media-bias explanation?</a:t>
            </a:r>
          </a:p>
        </p:txBody>
      </p:sp>
      <p:sp>
        <p:nvSpPr>
          <p:cNvPr id="2" name="The media gain reverses under the strictest coverage rule">
            <a:extLst xmlns:a="http://schemas.openxmlformats.org/drawingml/2006/main">
              <a:ext uri="{FF2B5EF4-FFF2-40B4-BE49-F238E27FC236}">
                <a16:creationId xmlns:a16="http://schemas.microsoft.com/office/drawing/2014/main" id="{A90D5144-0494-44E6-A65A-E38488259665}"/>
              </a:ext>
            </a:extLst>
          </p:cNvPr>
          <p:cNvSpPr>
            <a:spLocks xmlns:a="http://schemas.openxmlformats.org/drawingml/2006/main" noGrp="1"/>
          </p:cNvSpPr>
          <p:nvPr/>
        </p:nvSpPr>
        <p:spPr>
          <a:xfrm xmlns:a="http://schemas.openxmlformats.org/drawingml/2006/main">
            <a:off x="571500" y="1466850"/>
            <a:ext cx="11001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252B29"/>
                </a:solidFill>
                <a:latin typeface="Arial"/>
                <a:ea typeface="Arial"/>
                <a:cs typeface="Arial"/>
              </a:defRPr>
            </a:defPPr>
          </a:lstStyle>
          <a:p xmlns:a="http://schemas.openxmlformats.org/drawingml/2006/main">
            <a:pPr>
              <a:defRPr sz="2175" b="1">
                <a:solidFill>
                  <a:srgbClr val="252B29"/>
                </a:solidFill>
                <a:latin typeface="Arial"/>
                <a:ea typeface="Arial"/>
                <a:cs typeface="Arial"/>
              </a:defRPr>
            </a:pPr>
            <a:r>
              <a:rPr sz="2175" b="1">
                <a:solidFill>
                  <a:srgbClr val="252B29"/>
                </a:solidFill>
                <a:latin typeface="Arial"/>
                <a:ea typeface="Arial"/>
                <a:cs typeface="Arial"/>
              </a:rPr>
              <a:t>The media gain reverses under the strictest coverage rule</a:t>
            </a:r>
          </a:p>
        </p:txBody>
      </p:sp>
      <p:sp>
        <p:nvSpPr>
          <p:cNvPr id="3" name="09">
            <a:extLst xmlns:a="http://schemas.openxmlformats.org/drawingml/2006/main">
              <a:ext uri="{FF2B5EF4-FFF2-40B4-BE49-F238E27FC236}">
                <a16:creationId xmlns:a16="http://schemas.microsoft.com/office/drawing/2014/main" id="{9B9A74A8-35AF-4332-9167-91386F902A6E}"/>
              </a:ext>
            </a:extLst>
          </p:cNvPr>
          <p:cNvSpPr>
            <a:spLocks xmlns:a="http://schemas.openxmlformats.org/drawingml/2006/main" noGrp="1"/>
          </p:cNvSpPr>
          <p:nvPr/>
        </p:nvSpPr>
        <p:spPr>
          <a:xfrm xmlns:a="http://schemas.openxmlformats.org/drawingml/2006/main">
            <a:off x="11144250" y="64579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8766E"/>
                </a:solidFill>
                <a:latin typeface="Arial"/>
                <a:ea typeface="Arial"/>
                <a:cs typeface="Arial"/>
              </a:defRPr>
            </a:defPPr>
          </a:lstStyle>
          <a:p xmlns:a="http://schemas.openxmlformats.org/drawingml/2006/main">
            <a:pPr>
              <a:defRPr sz="1275" b="0">
                <a:solidFill>
                  <a:srgbClr val="68766E"/>
                </a:solidFill>
                <a:latin typeface="Arial"/>
                <a:ea typeface="Arial"/>
                <a:cs typeface="Arial"/>
              </a:defRPr>
            </a:pPr>
            <a:r>
              <a:rPr sz="1275" b="0">
                <a:solidFill>
                  <a:srgbClr val="68766E"/>
                </a:solidFill>
                <a:latin typeface="Arial"/>
                <a:ea typeface="Arial"/>
                <a:cs typeface="Arial"/>
              </a:rPr>
              <a:t>09</a:t>
            </a:r>
          </a:p>
        </p:txBody>
      </p:sp>
      <p:graphicFrame>
        <p:nvGraphicFramePr>
          <p:cNvPr id="4" name="Chart">
            <a:extLst xmlns:a="http://schemas.openxmlformats.org/drawingml/2006/main">
              <a:ext uri="{FF2B5EF4-FFF2-40B4-BE49-F238E27FC236}">
                <a16:creationId xmlns:a16="http://schemas.microsoft.com/office/drawing/2014/main" id="{A6F1F756-EE31-4B81-9D07-A0FF80D1DBEA}"/>
              </a:ext>
            </a:extLst>
          </p:cNvPr>
          <p:cNvGraphicFramePr/>
          <p:nvPr/>
        </p:nvGraphicFramePr>
        <p:xfrm>
          <a:off xmlns:a="http://schemas.openxmlformats.org/drawingml/2006/main" x="523875" y="2333625"/>
          <a:ext xmlns:a="http://schemas.openxmlformats.org/drawingml/2006/main" cx="10858500" cy="3095625"/>
        </p:xfrm>
        <a:graphic xmlns:a="http://schemas.openxmlformats.org/drawingml/2006/main">
          <a:graphicData uri="http://schemas.openxmlformats.org/drawingml/2006/chart">
            <c:chart xmlns:r="http://schemas.openxmlformats.org/officeDocument/2006/relationships" xmlns:c="http://schemas.openxmlformats.org/drawingml/2006/chart" r:id="R6d63029d6f68469f"/>
          </a:graphicData>
        </a:graphic>
      </p:graphicFrame>
      <p:sp>
        <p:nvSpPr>
          <p:cNvPr id="5" name="Price levels shrink the residual gap; stricter coverage reverses the m">
            <a:extLst xmlns:a="http://schemas.openxmlformats.org/drawingml/2006/main">
              <a:ext uri="{FF2B5EF4-FFF2-40B4-BE49-F238E27FC236}">
                <a16:creationId xmlns:a16="http://schemas.microsoft.com/office/drawing/2014/main" id="{A716A2B5-08EE-4692-A489-77C95F361674}"/>
              </a:ext>
            </a:extLst>
          </p:cNvPr>
          <p:cNvSpPr>
            <a:spLocks xmlns:a="http://schemas.openxmlformats.org/drawingml/2006/main" noGrp="1"/>
          </p:cNvSpPr>
          <p:nvPr/>
        </p:nvSpPr>
        <p:spPr>
          <a:xfrm xmlns:a="http://schemas.openxmlformats.org/drawingml/2006/main">
            <a:off x="619125" y="561022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54C45"/>
                </a:solidFill>
                <a:latin typeface="Arial"/>
                <a:ea typeface="Arial"/>
                <a:cs typeface="Arial"/>
              </a:defRPr>
            </a:defPPr>
          </a:lstStyle>
          <a:p xmlns:a="http://schemas.openxmlformats.org/drawingml/2006/main">
            <a:pPr>
              <a:defRPr sz="2025" b="1">
                <a:solidFill>
                  <a:srgbClr val="254C45"/>
                </a:solidFill>
                <a:latin typeface="Arial"/>
                <a:ea typeface="Arial"/>
                <a:cs typeface="Arial"/>
              </a:defRPr>
            </a:pPr>
            <a:r>
              <a:rPr sz="2025" b="1">
                <a:solidFill>
                  <a:srgbClr val="254C45"/>
                </a:solidFill>
                <a:latin typeface="Arial"/>
                <a:ea typeface="Arial"/>
                <a:cs typeface="Arial"/>
              </a:rPr>
              <a:t>Price levels shrink the residual gap; stricter coverage reverses the media gain.</a:t>
            </a:r>
          </a:p>
        </p:txBody>
      </p:sp>
      <p:sp>
        <p:nvSpPr>
          <p:cNvPr id="6" name="Seasonality/survey-mode comparison. Higher coverage thresholds change ">
            <a:extLst xmlns:a="http://schemas.openxmlformats.org/drawingml/2006/main">
              <a:ext uri="{FF2B5EF4-FFF2-40B4-BE49-F238E27FC236}">
                <a16:creationId xmlns:a16="http://schemas.microsoft.com/office/drawing/2014/main" id="{CFB8144B-4E65-458D-80BE-0A2B46B37871}"/>
              </a:ext>
            </a:extLst>
          </p:cNvPr>
          <p:cNvSpPr>
            <a:spLocks xmlns:a="http://schemas.openxmlformats.org/drawingml/2006/main" noGrp="1"/>
          </p:cNvSpPr>
          <p:nvPr/>
        </p:nvSpPr>
        <p:spPr>
          <a:xfrm xmlns:a="http://schemas.openxmlformats.org/drawingml/2006/main">
            <a:off x="571500" y="612457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8766E"/>
                </a:solidFill>
                <a:latin typeface="Arial"/>
                <a:ea typeface="Arial"/>
                <a:cs typeface="Arial"/>
              </a:defRPr>
            </a:defPPr>
          </a:lstStyle>
          <a:p xmlns:a="http://schemas.openxmlformats.org/drawingml/2006/main">
            <a:pPr>
              <a:defRPr sz="1350" b="0">
                <a:solidFill>
                  <a:srgbClr val="68766E"/>
                </a:solidFill>
                <a:latin typeface="Arial"/>
                <a:ea typeface="Arial"/>
                <a:cs typeface="Arial"/>
              </a:defRPr>
            </a:pPr>
            <a:r>
              <a:rPr sz="1350" b="0">
                <a:solidFill>
                  <a:srgbClr val="68766E"/>
                </a:solidFill>
                <a:latin typeface="Arial"/>
                <a:ea typeface="Arial"/>
                <a:cs typeface="Arial"/>
              </a:rPr>
              <a:t>Seasonality/survey-mode comparison. Higher coverage thresholds change training and test months as well as text counts.</a:t>
            </a:r>
          </a:p>
        </p:txBody>
      </p:sp>
    </p:spTree>
    <p:extLst>
      <p:ext uri="{BB962C8B-B14F-4D97-AF65-F5344CB8AC3E}">
        <p14:creationId xmlns:p14="http://schemas.microsoft.com/office/powerpoint/2010/main" val="39880455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Key Takeaways">
            <a:extLst xmlns:a="http://schemas.openxmlformats.org/drawingml/2006/main">
              <a:ext uri="{FF2B5EF4-FFF2-40B4-BE49-F238E27FC236}">
                <a16:creationId xmlns:a16="http://schemas.microsoft.com/office/drawing/2014/main" id="{3DED7172-8B88-488C-A10B-5BB5B18D2BB3}"/>
              </a:ext>
            </a:extLst>
          </p:cNvPr>
          <p:cNvSpPr>
            <a:spLocks xmlns:a="http://schemas.openxmlformats.org/drawingml/2006/main" noGrp="1"/>
          </p:cNvSpPr>
          <p:nvPr/>
        </p:nvSpPr>
        <p:spPr>
          <a:xfrm xmlns:a="http://schemas.openxmlformats.org/drawingml/2006/main">
            <a:off x="533400" y="342900"/>
            <a:ext cx="1109662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254C45"/>
                </a:solidFill>
                <a:latin typeface="Arial"/>
                <a:ea typeface="Arial"/>
                <a:cs typeface="Arial"/>
              </a:defRPr>
            </a:defPPr>
          </a:lstStyle>
          <a:p xmlns:a="http://schemas.openxmlformats.org/drawingml/2006/main">
            <a:pPr>
              <a:defRPr sz="2850" b="1">
                <a:solidFill>
                  <a:srgbClr val="254C45"/>
                </a:solidFill>
                <a:latin typeface="Arial"/>
                <a:ea typeface="Arial"/>
                <a:cs typeface="Arial"/>
              </a:defRPr>
            </a:pPr>
            <a:r>
              <a:rPr sz="2850" b="1">
                <a:solidFill>
                  <a:srgbClr val="254C45"/>
                </a:solidFill>
                <a:latin typeface="Arial"/>
                <a:ea typeface="Arial"/>
                <a:cs typeface="Arial"/>
              </a:rPr>
              <a:t>Key Takeaways</a:t>
            </a:r>
          </a:p>
        </p:txBody>
      </p:sp>
      <p:sp>
        <p:nvSpPr>
          <p:cNvPr id="2" name="Prices and benchmark choice change the interpretation">
            <a:extLst xmlns:a="http://schemas.openxmlformats.org/drawingml/2006/main">
              <a:ext uri="{FF2B5EF4-FFF2-40B4-BE49-F238E27FC236}">
                <a16:creationId xmlns:a16="http://schemas.microsoft.com/office/drawing/2014/main" id="{2DA65F2C-2B80-44A6-9C9D-491C0F7F8DDE}"/>
              </a:ext>
            </a:extLst>
          </p:cNvPr>
          <p:cNvSpPr>
            <a:spLocks xmlns:a="http://schemas.openxmlformats.org/drawingml/2006/main" noGrp="1"/>
          </p:cNvSpPr>
          <p:nvPr/>
        </p:nvSpPr>
        <p:spPr>
          <a:xfrm xmlns:a="http://schemas.openxmlformats.org/drawingml/2006/main">
            <a:off x="571500" y="1466850"/>
            <a:ext cx="11001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252B29"/>
                </a:solidFill>
                <a:latin typeface="Arial"/>
                <a:ea typeface="Arial"/>
                <a:cs typeface="Arial"/>
              </a:defRPr>
            </a:defPPr>
          </a:lstStyle>
          <a:p xmlns:a="http://schemas.openxmlformats.org/drawingml/2006/main">
            <a:pPr>
              <a:defRPr sz="2175" b="1">
                <a:solidFill>
                  <a:srgbClr val="252B29"/>
                </a:solidFill>
                <a:latin typeface="Arial"/>
                <a:ea typeface="Arial"/>
                <a:cs typeface="Arial"/>
              </a:defRPr>
            </a:pPr>
            <a:r>
              <a:rPr sz="2175" b="1">
                <a:solidFill>
                  <a:srgbClr val="252B29"/>
                </a:solidFill>
                <a:latin typeface="Arial"/>
                <a:ea typeface="Arial"/>
                <a:cs typeface="Arial"/>
              </a:rPr>
              <a:t>Prices and benchmark choice change the interpretation</a:t>
            </a:r>
          </a:p>
        </p:txBody>
      </p:sp>
      <p:sp>
        <p:nvSpPr>
          <p:cNvPr id="3" name="10">
            <a:extLst xmlns:a="http://schemas.openxmlformats.org/drawingml/2006/main">
              <a:ext uri="{FF2B5EF4-FFF2-40B4-BE49-F238E27FC236}">
                <a16:creationId xmlns:a16="http://schemas.microsoft.com/office/drawing/2014/main" id="{630DB181-DBAF-4861-AC31-B3F598DDE99E}"/>
              </a:ext>
            </a:extLst>
          </p:cNvPr>
          <p:cNvSpPr>
            <a:spLocks xmlns:a="http://schemas.openxmlformats.org/drawingml/2006/main" noGrp="1"/>
          </p:cNvSpPr>
          <p:nvPr/>
        </p:nvSpPr>
        <p:spPr>
          <a:xfrm xmlns:a="http://schemas.openxmlformats.org/drawingml/2006/main">
            <a:off x="11144250" y="64579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8766E"/>
                </a:solidFill>
                <a:latin typeface="Arial"/>
                <a:ea typeface="Arial"/>
                <a:cs typeface="Arial"/>
              </a:defRPr>
            </a:defPPr>
          </a:lstStyle>
          <a:p xmlns:a="http://schemas.openxmlformats.org/drawingml/2006/main">
            <a:pPr>
              <a:defRPr sz="1275" b="0">
                <a:solidFill>
                  <a:srgbClr val="68766E"/>
                </a:solidFill>
                <a:latin typeface="Arial"/>
                <a:ea typeface="Arial"/>
                <a:cs typeface="Arial"/>
              </a:defRPr>
            </a:pPr>
            <a:r>
              <a:rPr sz="1275" b="0">
                <a:solidFill>
                  <a:srgbClr val="68766E"/>
                </a:solidFill>
                <a:latin typeface="Arial"/>
                <a:ea typeface="Arial"/>
                <a:cs typeface="Arial"/>
              </a:rPr>
              <a:t>10</a:t>
            </a:r>
          </a:p>
        </p:txBody>
      </p:sp>
      <p:sp>
        <p:nvSpPr>
          <p:cNvPr id="4" name="1">
            <a:extLst xmlns:a="http://schemas.openxmlformats.org/drawingml/2006/main">
              <a:ext uri="{FF2B5EF4-FFF2-40B4-BE49-F238E27FC236}">
                <a16:creationId xmlns:a16="http://schemas.microsoft.com/office/drawing/2014/main" id="{D0F2EE3E-B025-4BF9-8D4A-ABC8DA2E6E01}"/>
              </a:ext>
            </a:extLst>
          </p:cNvPr>
          <p:cNvSpPr>
            <a:spLocks xmlns:a="http://schemas.openxmlformats.org/drawingml/2006/main" noGrp="1"/>
          </p:cNvSpPr>
          <p:nvPr/>
        </p:nvSpPr>
        <p:spPr>
          <a:xfrm xmlns:a="http://schemas.openxmlformats.org/drawingml/2006/main">
            <a:off x="619125" y="2447925"/>
            <a:ext cx="457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254C45"/>
                </a:solidFill>
                <a:latin typeface="Arial"/>
                <a:ea typeface="Arial"/>
                <a:cs typeface="Arial"/>
              </a:defRPr>
            </a:defPPr>
          </a:lstStyle>
          <a:p xmlns:a="http://schemas.openxmlformats.org/drawingml/2006/main">
            <a:pPr>
              <a:defRPr sz="2550" b="1">
                <a:solidFill>
                  <a:srgbClr val="254C45"/>
                </a:solidFill>
                <a:latin typeface="Arial"/>
                <a:ea typeface="Arial"/>
                <a:cs typeface="Arial"/>
              </a:defRPr>
            </a:pPr>
            <a:r>
              <a:rPr sz="2550" b="1">
                <a:solidFill>
                  <a:srgbClr val="254C45"/>
                </a:solidFill>
                <a:latin typeface="Arial"/>
                <a:ea typeface="Arial"/>
                <a:cs typeface="Arial"/>
              </a:rPr>
              <a:t>1</a:t>
            </a:r>
          </a:p>
        </p:txBody>
      </p:sp>
      <p:sp>
        <p:nvSpPr>
          <p:cNvPr id="5" name="X shows more emotional language and political blame">
            <a:extLst xmlns:a="http://schemas.openxmlformats.org/drawingml/2006/main">
              <a:ext uri="{FF2B5EF4-FFF2-40B4-BE49-F238E27FC236}">
                <a16:creationId xmlns:a16="http://schemas.microsoft.com/office/drawing/2014/main" id="{E9F79DD5-5093-4FB9-9E86-0558BFC0CA24}"/>
              </a:ext>
            </a:extLst>
          </p:cNvPr>
          <p:cNvSpPr>
            <a:spLocks xmlns:a="http://schemas.openxmlformats.org/drawingml/2006/main" noGrp="1"/>
          </p:cNvSpPr>
          <p:nvPr/>
        </p:nvSpPr>
        <p:spPr>
          <a:xfrm xmlns:a="http://schemas.openxmlformats.org/drawingml/2006/main">
            <a:off x="1247775" y="2447925"/>
            <a:ext cx="10096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252B29"/>
                </a:solidFill>
                <a:latin typeface="Arial"/>
                <a:ea typeface="Arial"/>
                <a:cs typeface="Arial"/>
              </a:defRPr>
            </a:defPPr>
          </a:lstStyle>
          <a:p xmlns:a="http://schemas.openxmlformats.org/drawingml/2006/main">
            <a:pPr>
              <a:defRPr sz="2550" b="1">
                <a:solidFill>
                  <a:srgbClr val="252B29"/>
                </a:solidFill>
                <a:latin typeface="Arial"/>
                <a:ea typeface="Arial"/>
                <a:cs typeface="Arial"/>
              </a:defRPr>
            </a:pPr>
            <a:r>
              <a:rPr sz="2550" b="1">
                <a:solidFill>
                  <a:srgbClr val="252B29"/>
                </a:solidFill>
                <a:latin typeface="Arial"/>
                <a:ea typeface="Arial"/>
                <a:cs typeface="Arial"/>
              </a:rPr>
              <a:t>X shows more emotional language and political blame</a:t>
            </a:r>
          </a:p>
        </p:txBody>
      </p:sp>
      <p:sp>
        <p:nvSpPr>
          <p:cNvPr id="6" name="2">
            <a:extLst xmlns:a="http://schemas.openxmlformats.org/drawingml/2006/main">
              <a:ext uri="{FF2B5EF4-FFF2-40B4-BE49-F238E27FC236}">
                <a16:creationId xmlns:a16="http://schemas.microsoft.com/office/drawing/2014/main" id="{A9F69832-6880-4CFD-9C26-030D8D013CA7}"/>
              </a:ext>
            </a:extLst>
          </p:cNvPr>
          <p:cNvSpPr>
            <a:spLocks xmlns:a="http://schemas.openxmlformats.org/drawingml/2006/main" noGrp="1"/>
          </p:cNvSpPr>
          <p:nvPr/>
        </p:nvSpPr>
        <p:spPr>
          <a:xfrm xmlns:a="http://schemas.openxmlformats.org/drawingml/2006/main">
            <a:off x="619125" y="3543300"/>
            <a:ext cx="457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254C45"/>
                </a:solidFill>
                <a:latin typeface="Arial"/>
                <a:ea typeface="Arial"/>
                <a:cs typeface="Arial"/>
              </a:defRPr>
            </a:defPPr>
          </a:lstStyle>
          <a:p xmlns:a="http://schemas.openxmlformats.org/drawingml/2006/main">
            <a:pPr>
              <a:defRPr sz="2550" b="1">
                <a:solidFill>
                  <a:srgbClr val="254C45"/>
                </a:solidFill>
                <a:latin typeface="Arial"/>
                <a:ea typeface="Arial"/>
                <a:cs typeface="Arial"/>
              </a:defRPr>
            </a:pPr>
            <a:r>
              <a:rPr sz="2550" b="1">
                <a:solidFill>
                  <a:srgbClr val="254C45"/>
                </a:solidFill>
                <a:latin typeface="Arial"/>
                <a:ea typeface="Arial"/>
                <a:cs typeface="Arial"/>
              </a:rPr>
              <a:t>2</a:t>
            </a:r>
          </a:p>
        </p:txBody>
      </p:sp>
      <p:sp>
        <p:nvSpPr>
          <p:cNvPr id="7" name="Accumulated price pressure reduces the unexplained gap">
            <a:extLst xmlns:a="http://schemas.openxmlformats.org/drawingml/2006/main">
              <a:ext uri="{FF2B5EF4-FFF2-40B4-BE49-F238E27FC236}">
                <a16:creationId xmlns:a16="http://schemas.microsoft.com/office/drawing/2014/main" id="{04A08DD8-A823-488A-9EEA-AB98ECB53C0D}"/>
              </a:ext>
            </a:extLst>
          </p:cNvPr>
          <p:cNvSpPr>
            <a:spLocks xmlns:a="http://schemas.openxmlformats.org/drawingml/2006/main" noGrp="1"/>
          </p:cNvSpPr>
          <p:nvPr/>
        </p:nvSpPr>
        <p:spPr>
          <a:xfrm xmlns:a="http://schemas.openxmlformats.org/drawingml/2006/main">
            <a:off x="1247775" y="3543300"/>
            <a:ext cx="10096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252B29"/>
                </a:solidFill>
                <a:latin typeface="Arial"/>
                <a:ea typeface="Arial"/>
                <a:cs typeface="Arial"/>
              </a:defRPr>
            </a:defPPr>
          </a:lstStyle>
          <a:p xmlns:a="http://schemas.openxmlformats.org/drawingml/2006/main">
            <a:pPr>
              <a:defRPr sz="2550" b="1">
                <a:solidFill>
                  <a:srgbClr val="252B29"/>
                </a:solidFill>
                <a:latin typeface="Arial"/>
                <a:ea typeface="Arial"/>
                <a:cs typeface="Arial"/>
              </a:defRPr>
            </a:pPr>
            <a:r>
              <a:rPr sz="2550" b="1">
                <a:solidFill>
                  <a:srgbClr val="252B29"/>
                </a:solidFill>
                <a:latin typeface="Arial"/>
                <a:ea typeface="Arial"/>
                <a:cs typeface="Arial"/>
              </a:rPr>
              <a:t>Accumulated price pressure reduces the unexplained gap</a:t>
            </a:r>
          </a:p>
        </p:txBody>
      </p:sp>
      <p:sp>
        <p:nvSpPr>
          <p:cNvPr id="8" name="3">
            <a:extLst xmlns:a="http://schemas.openxmlformats.org/drawingml/2006/main">
              <a:ext uri="{FF2B5EF4-FFF2-40B4-BE49-F238E27FC236}">
                <a16:creationId xmlns:a16="http://schemas.microsoft.com/office/drawing/2014/main" id="{1CFDA4D1-2BA9-478D-9B7D-96E0D5CF1085}"/>
              </a:ext>
            </a:extLst>
          </p:cNvPr>
          <p:cNvSpPr>
            <a:spLocks xmlns:a="http://schemas.openxmlformats.org/drawingml/2006/main" noGrp="1"/>
          </p:cNvSpPr>
          <p:nvPr/>
        </p:nvSpPr>
        <p:spPr>
          <a:xfrm xmlns:a="http://schemas.openxmlformats.org/drawingml/2006/main">
            <a:off x="619125" y="4638675"/>
            <a:ext cx="457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254C45"/>
                </a:solidFill>
                <a:latin typeface="Arial"/>
                <a:ea typeface="Arial"/>
                <a:cs typeface="Arial"/>
              </a:defRPr>
            </a:defPPr>
          </a:lstStyle>
          <a:p xmlns:a="http://schemas.openxmlformats.org/drawingml/2006/main">
            <a:pPr>
              <a:defRPr sz="2550" b="1">
                <a:solidFill>
                  <a:srgbClr val="254C45"/>
                </a:solidFill>
                <a:latin typeface="Arial"/>
                <a:ea typeface="Arial"/>
                <a:cs typeface="Arial"/>
              </a:defRPr>
            </a:pPr>
            <a:r>
              <a:rPr sz="2550" b="1">
                <a:solidFill>
                  <a:srgbClr val="254C45"/>
                </a:solidFill>
                <a:latin typeface="Arial"/>
                <a:ea typeface="Arial"/>
                <a:cs typeface="Arial"/>
              </a:rPr>
              <a:t>3</a:t>
            </a:r>
          </a:p>
        </p:txBody>
      </p:sp>
      <p:sp>
        <p:nvSpPr>
          <p:cNvPr id="9" name="Media forecasting gains depend on controls and coverage">
            <a:extLst xmlns:a="http://schemas.openxmlformats.org/drawingml/2006/main">
              <a:ext uri="{FF2B5EF4-FFF2-40B4-BE49-F238E27FC236}">
                <a16:creationId xmlns:a16="http://schemas.microsoft.com/office/drawing/2014/main" id="{7F540D83-9178-4895-B721-49FF1043F61B}"/>
              </a:ext>
            </a:extLst>
          </p:cNvPr>
          <p:cNvSpPr>
            <a:spLocks xmlns:a="http://schemas.openxmlformats.org/drawingml/2006/main" noGrp="1"/>
          </p:cNvSpPr>
          <p:nvPr/>
        </p:nvSpPr>
        <p:spPr>
          <a:xfrm xmlns:a="http://schemas.openxmlformats.org/drawingml/2006/main">
            <a:off x="1247775" y="4638675"/>
            <a:ext cx="10096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252B29"/>
                </a:solidFill>
                <a:latin typeface="Arial"/>
                <a:ea typeface="Arial"/>
                <a:cs typeface="Arial"/>
              </a:defRPr>
            </a:defPPr>
          </a:lstStyle>
          <a:p xmlns:a="http://schemas.openxmlformats.org/drawingml/2006/main">
            <a:pPr>
              <a:defRPr sz="2550" b="1">
                <a:solidFill>
                  <a:srgbClr val="252B29"/>
                </a:solidFill>
                <a:latin typeface="Arial"/>
                <a:ea typeface="Arial"/>
                <a:cs typeface="Arial"/>
              </a:defRPr>
            </a:pPr>
            <a:r>
              <a:rPr sz="2550" b="1">
                <a:solidFill>
                  <a:srgbClr val="252B29"/>
                </a:solidFill>
                <a:latin typeface="Arial"/>
                <a:ea typeface="Arial"/>
                <a:cs typeface="Arial"/>
              </a:rPr>
              <a:t>Media forecasting gains depend on controls and coverage</a:t>
            </a:r>
          </a:p>
        </p:txBody>
      </p:sp>
      <p:sp>
        <p:nvSpPr>
          <p:cNvPr id="10" name="Forecasting implication: purchasing power and recent sentiment deserve">
            <a:extLst xmlns:a="http://schemas.openxmlformats.org/drawingml/2006/main">
              <a:ext uri="{FF2B5EF4-FFF2-40B4-BE49-F238E27FC236}">
                <a16:creationId xmlns:a16="http://schemas.microsoft.com/office/drawing/2014/main" id="{292D667D-6D3C-4A0E-B972-4CA7E49E1C5C}"/>
              </a:ext>
            </a:extLst>
          </p:cNvPr>
          <p:cNvSpPr>
            <a:spLocks xmlns:a="http://schemas.openxmlformats.org/drawingml/2006/main" noGrp="1"/>
          </p:cNvSpPr>
          <p:nvPr/>
        </p:nvSpPr>
        <p:spPr>
          <a:xfrm xmlns:a="http://schemas.openxmlformats.org/drawingml/2006/main">
            <a:off x="571500" y="612457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8766E"/>
                </a:solidFill>
                <a:latin typeface="Arial"/>
                <a:ea typeface="Arial"/>
                <a:cs typeface="Arial"/>
              </a:defRPr>
            </a:defPPr>
          </a:lstStyle>
          <a:p xmlns:a="http://schemas.openxmlformats.org/drawingml/2006/main">
            <a:pPr>
              <a:defRPr sz="1350" b="0">
                <a:solidFill>
                  <a:srgbClr val="68766E"/>
                </a:solidFill>
                <a:latin typeface="Arial"/>
                <a:ea typeface="Arial"/>
                <a:cs typeface="Arial"/>
              </a:defRPr>
            </a:pPr>
            <a:r>
              <a:rPr sz="1350" b="0">
                <a:solidFill>
                  <a:srgbClr val="68766E"/>
                </a:solidFill>
                <a:latin typeface="Arial"/>
                <a:ea typeface="Arial"/>
                <a:cs typeface="Arial"/>
              </a:rPr>
              <a:t>Forecasting implication: purchasing power and recent sentiment deserve priority before adding more text features.</a:t>
            </a:r>
          </a:p>
        </p:txBody>
      </p:sp>
    </p:spTree>
    <p:extLst>
      <p:ext uri="{BB962C8B-B14F-4D97-AF65-F5344CB8AC3E}">
        <p14:creationId xmlns:p14="http://schemas.microsoft.com/office/powerpoint/2010/main" val="179342826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2026-10-17T04:06:11.0000000Z</dcterms:created>
  <dcterms:modified xsi:type="dcterms:W3CDTF">2026-10-17T04:06:11.0000000Z</dcterms:modified>
</coreProperties>
</file>