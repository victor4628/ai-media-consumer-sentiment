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charts/chart3.xml" ContentType="application/vnd.openxmlformats-officedocument.drawingml.chart+xml"/>
  <Override PartName="/ppt/notesSlides/notesSlide6.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7.xml" ContentType="application/vnd.openxmlformats-officedocument.presentationml.notesSlide+xml"/>
  <Override PartName="/ppt/charts/chart6.xml" ContentType="application/vnd.openxmlformats-officedocument.drawingml.chart+xml"/>
  <Override PartName="/ppt/notesSlides/notesSlide8.xml" ContentType="application/vnd.openxmlformats-officedocument.presentationml.notesSlide+xml"/>
  <Override PartName="/ppt/charts/chart7.xml" ContentType="application/vnd.openxmlformats-officedocument.drawingml.chart+xml"/>
  <Override PartName="/ppt/notesSlides/notesSlide9.xml" ContentType="application/vnd.openxmlformats-officedocument.presentationml.notesSlide+xml"/>
  <Override PartName="/ppt/charts/chart8.xml" ContentType="application/vnd.openxmlformats-officedocument.drawingml.chart+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104" autoAdjust="0"/>
  </p:normalViewPr>
  <p:slideViewPr>
    <p:cSldViewPr snapToGrid="0">
      <p:cViewPr varScale="1">
        <p:scale>
          <a:sx n="124" d="100"/>
          <a:sy n="124" d="100"/>
        </p:scale>
        <p:origin x="952"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News</c:v>
          </c:tx>
          <c:spPr>
            <a:solidFill>
              <a:srgbClr val="254C45"/>
            </a:solidFill>
          </c:spPr>
          <c:invertIfNegative val="0"/>
          <c:dLbls>
            <c:numFmt formatCode="0.0" sourceLinked="0"/>
            <c:spPr>
              <a:noFill/>
              <a:ln>
                <a:noFill/>
              </a:ln>
              <a:effectLst/>
            </c:spPr>
            <c:txPr>
              <a:bodyPr anchorCtr="1"/>
              <a:lstStyle/>
              <a:p>
                <a:pPr>
                  <a:defRPr sz="1875" b="1">
                    <a:solidFill>
                      <a:srgbClr val="252B29"/>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Political blame</c:v>
                </c:pt>
                <c:pt idx="1">
                  <c:v>Emotional or mixed language</c:v>
                </c:pt>
                <c:pt idx="2">
                  <c:v>Negative economic tone</c:v>
                </c:pt>
              </c:strCache>
            </c:strRef>
          </c:cat>
          <c:val>
            <c:numRef>
              <c:f>'Chart Data'!$B$2:$B$4</c:f>
              <c:numCache>
                <c:formatCode>0.0</c:formatCode>
                <c:ptCount val="3"/>
                <c:pt idx="0">
                  <c:v>22.608696</c:v>
                </c:pt>
                <c:pt idx="1">
                  <c:v>23.913043</c:v>
                </c:pt>
                <c:pt idx="2">
                  <c:v>45.217391</c:v>
                </c:pt>
              </c:numCache>
            </c:numRef>
          </c:val>
          <c:extLst>
            <c:ext xmlns:c16="http://schemas.microsoft.com/office/drawing/2014/chart" uri="{C3380CC4-5D6E-409C-BE32-E72D297353CC}">
              <c16:uniqueId val="{00000000-C808-48E1-B615-14A9F7B6FEC6}"/>
            </c:ext>
          </c:extLst>
        </c:ser>
        <c:ser>
          <c:idx val="1"/>
          <c:order val="1"/>
          <c:tx>
            <c:v>X</c:v>
          </c:tx>
          <c:spPr>
            <a:solidFill>
              <a:srgbClr val="A37D46"/>
            </a:solidFill>
          </c:spPr>
          <c:invertIfNegative val="0"/>
          <c:dLbls>
            <c:numFmt formatCode="0.0" sourceLinked="0"/>
            <c:spPr>
              <a:noFill/>
              <a:ln>
                <a:noFill/>
              </a:ln>
              <a:effectLst/>
            </c:spPr>
            <c:txPr>
              <a:bodyPr anchorCtr="1"/>
              <a:lstStyle/>
              <a:p>
                <a:pPr>
                  <a:defRPr sz="1875" b="1">
                    <a:solidFill>
                      <a:srgbClr val="252B29"/>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Political blame</c:v>
                </c:pt>
                <c:pt idx="1">
                  <c:v>Emotional or mixed language</c:v>
                </c:pt>
                <c:pt idx="2">
                  <c:v>Negative economic tone</c:v>
                </c:pt>
              </c:strCache>
            </c:strRef>
          </c:cat>
          <c:val>
            <c:numRef>
              <c:f>'Chart Data'!$D$2:$D$4</c:f>
              <c:numCache>
                <c:formatCode>0.0</c:formatCode>
                <c:ptCount val="3"/>
                <c:pt idx="0">
                  <c:v>49.577805</c:v>
                </c:pt>
                <c:pt idx="1">
                  <c:v>86.127865</c:v>
                </c:pt>
                <c:pt idx="2">
                  <c:v>53.075995</c:v>
                </c:pt>
              </c:numCache>
            </c:numRef>
          </c:val>
          <c:extLst>
            <c:ext xmlns:c16="http://schemas.microsoft.com/office/drawing/2014/chart" uri="{C3380CC4-5D6E-409C-BE32-E72D297353CC}">
              <c16:uniqueId val="{00000001-C808-48E1-B615-14A9F7B6FEC6}"/>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sz="1875">
                <a:solidFill>
                  <a:srgbClr val="252B29"/>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100"/>
          <c:min val="0"/>
        </c:scaling>
        <c:delete val="0"/>
        <c:axPos val="b"/>
        <c:majorGridlines>
          <c:spPr>
            <a:ln w="9525">
              <a:solidFill>
                <a:srgbClr val="DEE5E0"/>
              </a:solidFill>
            </a:ln>
          </c:spPr>
        </c:majorGridlines>
        <c:title>
          <c:tx>
            <c:rich>
              <a:bodyPr/>
              <a:lstStyle/>
              <a:p>
                <a:r>
                  <a:rPr lang="en-US">
                    <a:latin typeface="Arial"/>
                    <a:ea typeface="Arial"/>
                    <a:cs typeface="Arial"/>
                  </a:rPr>
                  <a:t>Share of eligible items (%)</a:t>
                </a:r>
              </a:p>
            </c:rich>
          </c:tx>
          <c:overlay val="0"/>
        </c:title>
        <c:numFmt formatCode="0.0" sourceLinked="1"/>
        <c:majorTickMark val="none"/>
        <c:minorTickMark val="none"/>
        <c:tickLblPos val="nextTo"/>
        <c:spPr>
          <a:ln w="9525">
            <a:solidFill>
              <a:srgbClr val="D4D4D4"/>
            </a:solidFill>
            <a:prstDash val="solid"/>
          </a:ln>
        </c:spPr>
        <c:txPr>
          <a:bodyPr anchorCtr="1"/>
          <a:lstStyle/>
          <a:p>
            <a:pPr>
              <a:defRPr sz="1725">
                <a:solidFill>
                  <a:srgbClr val="68766E"/>
                </a:solidFill>
                <a:latin typeface="Arial"/>
                <a:ea typeface="Arial"/>
                <a:cs typeface="Arial"/>
              </a:defRPr>
            </a:pPr>
            <a:endParaRPr lang="zh-CN"/>
          </a:p>
        </c:txPr>
        <c:crossAx val="48650112"/>
        <c:crosses val="autoZero"/>
        <c:crossBetween val="between"/>
        <c:majorUnit val="20"/>
      </c:valAx>
    </c:plotArea>
    <c:legend>
      <c:legendPos val="b"/>
      <c:overlay val="0"/>
      <c:txPr>
        <a:bodyPr anchorCtr="1"/>
        <a:lstStyle/>
        <a:p>
          <a:pPr>
            <a:defRPr sz="1650">
              <a:latin typeface="Arial"/>
              <a:ea typeface="Arial"/>
              <a:cs typeface="Arial"/>
            </a:defRPr>
          </a:pPr>
          <a:endParaRPr lang="zh-CN"/>
        </a:p>
      </c:txPr>
    </c:legend>
    <c:plotVisOnly val="1"/>
    <c:dispBlanksAs val="zero"/>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August 2026</c:v>
          </c:tx>
          <c:spPr>
            <a:solidFill>
              <a:srgbClr val="254C45"/>
            </a:solidFill>
          </c:spPr>
          <c:invertIfNegative val="0"/>
          <c:dLbls>
            <c:numFmt formatCode="0.0" sourceLinked="0"/>
            <c:spPr>
              <a:noFill/>
              <a:ln>
                <a:noFill/>
              </a:ln>
              <a:effectLst/>
            </c:spPr>
            <c:txPr>
              <a:bodyPr anchorCtr="1"/>
              <a:lstStyle/>
              <a:p>
                <a:pPr>
                  <a:defRPr sz="1875" b="1">
                    <a:solidFill>
                      <a:srgbClr val="252B29"/>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Prior sentiment carried forward</c:v>
                </c:pt>
                <c:pt idx="1">
                  <c:v>Economy + media</c:v>
                </c:pt>
                <c:pt idx="2">
                  <c:v>Economy only</c:v>
                </c:pt>
                <c:pt idx="3">
                  <c:v>Observed sentiment</c:v>
                </c:pt>
              </c:strCache>
            </c:strRef>
          </c:cat>
          <c:val>
            <c:numRef>
              <c:f>'Chart Data'!$B$2:$B$5</c:f>
              <c:numCache>
                <c:formatCode>0.0</c:formatCode>
                <c:ptCount val="4"/>
                <c:pt idx="0">
                  <c:v>55.2</c:v>
                </c:pt>
                <c:pt idx="1">
                  <c:v>60.834497</c:v>
                </c:pt>
                <c:pt idx="2">
                  <c:v>66.129884</c:v>
                </c:pt>
                <c:pt idx="3">
                  <c:v>51.7</c:v>
                </c:pt>
              </c:numCache>
            </c:numRef>
          </c:val>
          <c:extLst>
            <c:ext xmlns:c16="http://schemas.microsoft.com/office/drawing/2014/chart" uri="{C3380CC4-5D6E-409C-BE32-E72D297353CC}">
              <c16:uniqueId val="{00000000-3B83-498E-8F8E-3238BAA0E0CE}"/>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sz="1875">
                <a:solidFill>
                  <a:srgbClr val="252B29"/>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80"/>
          <c:min val="0"/>
        </c:scaling>
        <c:delete val="0"/>
        <c:axPos val="b"/>
        <c:majorGridlines>
          <c:spPr>
            <a:ln w="9525">
              <a:solidFill>
                <a:srgbClr val="DEE5E0"/>
              </a:solidFill>
            </a:ln>
          </c:spPr>
        </c:majorGridlines>
        <c:title>
          <c:tx>
            <c:rich>
              <a:bodyPr/>
              <a:lstStyle/>
              <a:p>
                <a:r>
                  <a:rPr lang="en-US">
                    <a:latin typeface="Arial"/>
                    <a:ea typeface="Arial"/>
                    <a:cs typeface="Arial"/>
                  </a:rPr>
                  <a:t>Sentiment index points</a:t>
                </a:r>
              </a:p>
            </c:rich>
          </c:tx>
          <c:overlay val="0"/>
        </c:title>
        <c:numFmt formatCode="0.0" sourceLinked="1"/>
        <c:majorTickMark val="none"/>
        <c:minorTickMark val="none"/>
        <c:tickLblPos val="nextTo"/>
        <c:spPr>
          <a:ln w="9525">
            <a:solidFill>
              <a:srgbClr val="D4D4D4"/>
            </a:solidFill>
            <a:prstDash val="solid"/>
          </a:ln>
        </c:spPr>
        <c:txPr>
          <a:bodyPr anchorCtr="1"/>
          <a:lstStyle/>
          <a:p>
            <a:pPr>
              <a:defRPr sz="1725">
                <a:solidFill>
                  <a:srgbClr val="68766E"/>
                </a:solidFill>
                <a:latin typeface="Arial"/>
                <a:ea typeface="Arial"/>
                <a:cs typeface="Arial"/>
              </a:defRPr>
            </a:pPr>
            <a:endParaRPr lang="zh-CN"/>
          </a:p>
        </c:txPr>
        <c:crossAx val="48650112"/>
        <c:crosses val="autoZero"/>
        <c:crossBetween val="between"/>
      </c:valAx>
    </c:plotArea>
    <c:plotVisOnly val="1"/>
    <c:dispBlanksAs val="zero"/>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Observed sentiment</c:v>
          </c:tx>
          <c:spPr>
            <a:ln w="28575">
              <a:solidFill>
                <a:srgbClr val="254C45"/>
              </a:solidFill>
            </a:ln>
          </c:spPr>
          <c:marker>
            <c:symbol val="none"/>
          </c:marker>
          <c:cat>
            <c:strRef>
              <c:f>'Chart Data'!$A$2:$A$18</c:f>
              <c:strCache>
                <c:ptCount val="17"/>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strCache>
            </c:strRef>
          </c:cat>
          <c:val>
            <c:numRef>
              <c:f>'Chart Data'!$B$2:$B$18</c:f>
              <c:numCache>
                <c:formatCode>0</c:formatCode>
                <c:ptCount val="17"/>
                <c:pt idx="0">
                  <c:v>71.841667</c:v>
                </c:pt>
                <c:pt idx="1">
                  <c:v>67.35</c:v>
                </c:pt>
                <c:pt idx="2">
                  <c:v>76.541667</c:v>
                </c:pt>
                <c:pt idx="3">
                  <c:v>79.208333</c:v>
                </c:pt>
                <c:pt idx="4">
                  <c:v>84.125</c:v>
                </c:pt>
                <c:pt idx="5">
                  <c:v>92.941667</c:v>
                </c:pt>
                <c:pt idx="6">
                  <c:v>91.841667</c:v>
                </c:pt>
                <c:pt idx="7">
                  <c:v>96.766667</c:v>
                </c:pt>
                <c:pt idx="8">
                  <c:v>98.366667</c:v>
                </c:pt>
                <c:pt idx="9">
                  <c:v>95.983333</c:v>
                </c:pt>
                <c:pt idx="10">
                  <c:v>81.541667</c:v>
                </c:pt>
                <c:pt idx="11">
                  <c:v>77.616667</c:v>
                </c:pt>
                <c:pt idx="12">
                  <c:v>58.975</c:v>
                </c:pt>
                <c:pt idx="13">
                  <c:v>65.35</c:v>
                </c:pt>
                <c:pt idx="14">
                  <c:v>72.541667</c:v>
                </c:pt>
                <c:pt idx="15">
                  <c:v>57.583333</c:v>
                </c:pt>
                <c:pt idx="16">
                  <c:v>52.1625</c:v>
                </c:pt>
              </c:numCache>
            </c:numRef>
          </c:val>
          <c:smooth val="0"/>
          <c:extLst>
            <c:ext xmlns:c16="http://schemas.microsoft.com/office/drawing/2014/chart" uri="{C3380CC4-5D6E-409C-BE32-E72D297353CC}">
              <c16:uniqueId val="{00000000-6BFF-4BC9-8635-BE8BBD979F3C}"/>
            </c:ext>
          </c:extLst>
        </c:ser>
        <c:ser>
          <c:idx val="1"/>
          <c:order val="1"/>
          <c:tx>
            <c:v>Three macro indicators</c:v>
          </c:tx>
          <c:spPr>
            <a:ln w="19050">
              <a:solidFill>
                <a:srgbClr val="68766E"/>
              </a:solidFill>
            </a:ln>
          </c:spPr>
          <c:marker>
            <c:symbol val="none"/>
          </c:marker>
          <c:cat>
            <c:strRef>
              <c:f>'Chart Data'!$C$2:$C$18</c:f>
              <c:strCache>
                <c:ptCount val="17"/>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strCache>
            </c:strRef>
          </c:cat>
          <c:val>
            <c:numRef>
              <c:f>'Chart Data'!$D$2:$D$18</c:f>
              <c:numCache>
                <c:formatCode>0</c:formatCode>
                <c:ptCount val="17"/>
                <c:pt idx="0">
                  <c:v>72.289475</c:v>
                </c:pt>
                <c:pt idx="1">
                  <c:v>70.522839</c:v>
                </c:pt>
                <c:pt idx="2">
                  <c:v>74.072478</c:v>
                </c:pt>
                <c:pt idx="3">
                  <c:v>81.622753</c:v>
                </c:pt>
                <c:pt idx="4">
                  <c:v>83.235536</c:v>
                </c:pt>
                <c:pt idx="5">
                  <c:v>92.060073</c:v>
                </c:pt>
                <c:pt idx="6">
                  <c:v>89.62022</c:v>
                </c:pt>
                <c:pt idx="7">
                  <c:v>85.571536</c:v>
                </c:pt>
                <c:pt idx="8">
                  <c:v>84.049355</c:v>
                </c:pt>
                <c:pt idx="9">
                  <c:v>88.158112</c:v>
                </c:pt>
                <c:pt idx="10">
                  <c:v>81.034285</c:v>
                </c:pt>
                <c:pt idx="11">
                  <c:v>71.40169</c:v>
                </c:pt>
                <c:pt idx="12">
                  <c:v>52.380498</c:v>
                </c:pt>
                <c:pt idx="13">
                  <c:v>68.705711</c:v>
                </c:pt>
                <c:pt idx="14">
                  <c:v>80.368726</c:v>
                </c:pt>
                <c:pt idx="15">
                  <c:v>79.43398</c:v>
                </c:pt>
                <c:pt idx="16">
                  <c:v>73.234097</c:v>
                </c:pt>
              </c:numCache>
            </c:numRef>
          </c:val>
          <c:smooth val="0"/>
          <c:extLst>
            <c:ext xmlns:c16="http://schemas.microsoft.com/office/drawing/2014/chart" uri="{C3380CC4-5D6E-409C-BE32-E72D297353CC}">
              <c16:uniqueId val="{00000001-6BFF-4BC9-8635-BE8BBD979F3C}"/>
            </c:ext>
          </c:extLst>
        </c:ser>
        <c:ser>
          <c:idx val="2"/>
          <c:order val="2"/>
          <c:tx>
            <c:v>Also accumulated prices</c:v>
          </c:tx>
          <c:spPr>
            <a:ln w="23813">
              <a:solidFill>
                <a:srgbClr val="A37D46"/>
              </a:solidFill>
            </a:ln>
          </c:spPr>
          <c:marker>
            <c:symbol val="none"/>
          </c:marker>
          <c:cat>
            <c:strRef>
              <c:f>'Chart Data'!$E$2:$E$18</c:f>
              <c:strCache>
                <c:ptCount val="17"/>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strCache>
            </c:strRef>
          </c:cat>
          <c:val>
            <c:numRef>
              <c:f>'Chart Data'!$F$2:$F$18</c:f>
              <c:numCache>
                <c:formatCode>0</c:formatCode>
                <c:ptCount val="17"/>
                <c:pt idx="0">
                  <c:v>74.848218</c:v>
                </c:pt>
                <c:pt idx="1">
                  <c:v>73.83858</c:v>
                </c:pt>
                <c:pt idx="2">
                  <c:v>77.347932</c:v>
                </c:pt>
                <c:pt idx="3">
                  <c:v>83.340781</c:v>
                </c:pt>
                <c:pt idx="4">
                  <c:v>87.059698</c:v>
                </c:pt>
                <c:pt idx="5">
                  <c:v>95.172949</c:v>
                </c:pt>
                <c:pt idx="6">
                  <c:v>94.302058</c:v>
                </c:pt>
                <c:pt idx="7">
                  <c:v>91.716651</c:v>
                </c:pt>
                <c:pt idx="8">
                  <c:v>90.412807</c:v>
                </c:pt>
                <c:pt idx="9">
                  <c:v>92.362567</c:v>
                </c:pt>
                <c:pt idx="10">
                  <c:v>74.854403</c:v>
                </c:pt>
                <c:pt idx="11">
                  <c:v>70.282586</c:v>
                </c:pt>
                <c:pt idx="12">
                  <c:v>59.912785</c:v>
                </c:pt>
                <c:pt idx="13">
                  <c:v>65.7676</c:v>
                </c:pt>
                <c:pt idx="14">
                  <c:v>69.09105</c:v>
                </c:pt>
                <c:pt idx="15">
                  <c:v>64.885791</c:v>
                </c:pt>
                <c:pt idx="16">
                  <c:v>57.230318</c:v>
                </c:pt>
              </c:numCache>
            </c:numRef>
          </c:val>
          <c:smooth val="0"/>
          <c:extLst>
            <c:ext xmlns:c16="http://schemas.microsoft.com/office/drawing/2014/chart" uri="{C3380CC4-5D6E-409C-BE32-E72D297353CC}">
              <c16:uniqueId val="{00000002-6BFF-4BC9-8635-BE8BBD979F3C}"/>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8766E"/>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110"/>
          <c:min val="40"/>
        </c:scaling>
        <c:delete val="0"/>
        <c:axPos val="l"/>
        <c:majorGridlines>
          <c:spPr>
            <a:ln w="9525">
              <a:solidFill>
                <a:srgbClr val="DEE5E0"/>
              </a:solidFill>
            </a:ln>
          </c:spPr>
        </c:majorGridlines>
        <c:title>
          <c:tx>
            <c:rich>
              <a:bodyPr/>
              <a:lstStyle/>
              <a:p>
                <a:r>
                  <a:rPr lang="en-US">
                    <a:latin typeface="Arial"/>
                    <a:ea typeface="Arial"/>
                    <a:cs typeface="Arial"/>
                  </a:rPr>
                  <a:t>Index points</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575">
                <a:solidFill>
                  <a:srgbClr val="68766E"/>
                </a:solidFill>
                <a:latin typeface="Arial"/>
                <a:ea typeface="Arial"/>
                <a:cs typeface="Arial"/>
              </a:defRPr>
            </a:pPr>
            <a:endParaRPr lang="zh-CN"/>
          </a:p>
        </c:txPr>
        <c:crossAx val="48650112"/>
        <c:crosses val="autoZero"/>
        <c:crossBetween val="between"/>
      </c:valAx>
    </c:plotArea>
    <c:legend>
      <c:legendPos val="b"/>
      <c:overlay val="0"/>
      <c:txPr>
        <a:bodyPr anchorCtr="1"/>
        <a:lstStyle/>
        <a:p>
          <a:pPr>
            <a:defRPr sz="1425">
              <a:latin typeface="Arial"/>
              <a:ea typeface="Arial"/>
              <a:cs typeface="Arial"/>
            </a:defRPr>
          </a:pPr>
          <a:endParaRPr lang="zh-CN"/>
        </a:p>
      </c:txPr>
    </c:legend>
    <c:plotVisOnly val="1"/>
    <c:dispBlanksAs val="zero"/>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Price level</c:v>
          </c:tx>
          <c:spPr>
            <a:ln w="28575">
              <a:solidFill>
                <a:srgbClr val="254C45"/>
              </a:solidFill>
            </a:ln>
          </c:spPr>
          <c:marker>
            <c:symbol val="none"/>
          </c:marker>
          <c:cat>
            <c:numRef>
              <c:f>'Chart Data'!$A$2:$A$9</c:f>
              <c:numCache>
                <c:formatCode>General</c:formatCode>
                <c:ptCount val="8"/>
                <c:pt idx="0">
                  <c:v>2019</c:v>
                </c:pt>
                <c:pt idx="1">
                  <c:v>2020</c:v>
                </c:pt>
                <c:pt idx="2">
                  <c:v>2021</c:v>
                </c:pt>
                <c:pt idx="3">
                  <c:v>2022</c:v>
                </c:pt>
                <c:pt idx="4">
                  <c:v>2023</c:v>
                </c:pt>
                <c:pt idx="5">
                  <c:v>2024</c:v>
                </c:pt>
                <c:pt idx="6">
                  <c:v>2025</c:v>
                </c:pt>
                <c:pt idx="7">
                  <c:v>2026</c:v>
                </c:pt>
              </c:numCache>
            </c:numRef>
          </c:cat>
          <c:val>
            <c:numRef>
              <c:f>'Chart Data'!$B$2:$B$9</c:f>
              <c:numCache>
                <c:formatCode>0</c:formatCode>
                <c:ptCount val="8"/>
                <c:pt idx="0">
                  <c:v>101.022696</c:v>
                </c:pt>
                <c:pt idx="1">
                  <c:v>102.497293</c:v>
                </c:pt>
                <c:pt idx="2">
                  <c:v>107.010735</c:v>
                </c:pt>
                <c:pt idx="3">
                  <c:v>113.864448</c:v>
                </c:pt>
                <c:pt idx="4">
                  <c:v>118.15659</c:v>
                </c:pt>
                <c:pt idx="5">
                  <c:v>120.670685</c:v>
                </c:pt>
                <c:pt idx="6">
                  <c:v>123.937449</c:v>
                </c:pt>
                <c:pt idx="7">
                  <c:v>127.936437</c:v>
                </c:pt>
              </c:numCache>
            </c:numRef>
          </c:val>
          <c:smooth val="0"/>
          <c:extLst>
            <c:ext xmlns:c16="http://schemas.microsoft.com/office/drawing/2014/chart" uri="{C3380CC4-5D6E-409C-BE32-E72D297353CC}">
              <c16:uniqueId val="{00000000-9CA9-4888-A3C5-C0992771F424}"/>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8766E"/>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135"/>
          <c:min val="95"/>
        </c:scaling>
        <c:delete val="0"/>
        <c:axPos val="l"/>
        <c:majorGridlines>
          <c:spPr>
            <a:ln w="9525">
              <a:solidFill>
                <a:srgbClr val="DEE5E0"/>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575">
                <a:solidFill>
                  <a:srgbClr val="68766E"/>
                </a:solidFill>
                <a:latin typeface="Arial"/>
                <a:ea typeface="Arial"/>
                <a:cs typeface="Arial"/>
              </a:defRPr>
            </a:pPr>
            <a:endParaRPr lang="zh-CN"/>
          </a:p>
        </c:txPr>
        <c:crossAx val="48650112"/>
        <c:crosses val="autoZero"/>
        <c:crossBetween val="between"/>
      </c:valAx>
    </c:plotArea>
    <c:plotVisOnly val="1"/>
    <c:dispBlanksAs val="zero"/>
    <c:showDLblsOverMax val="1"/>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PCE inflation</c:v>
          </c:tx>
          <c:spPr>
            <a:ln w="28575">
              <a:solidFill>
                <a:srgbClr val="A37D46"/>
              </a:solidFill>
            </a:ln>
          </c:spPr>
          <c:marker>
            <c:symbol val="none"/>
          </c:marker>
          <c:cat>
            <c:numRef>
              <c:f>'Chart Data'!$A$2:$A$9</c:f>
              <c:numCache>
                <c:formatCode>General</c:formatCode>
                <c:ptCount val="8"/>
                <c:pt idx="0">
                  <c:v>2019</c:v>
                </c:pt>
                <c:pt idx="1">
                  <c:v>2020</c:v>
                </c:pt>
                <c:pt idx="2">
                  <c:v>2021</c:v>
                </c:pt>
                <c:pt idx="3">
                  <c:v>2022</c:v>
                </c:pt>
                <c:pt idx="4">
                  <c:v>2023</c:v>
                </c:pt>
                <c:pt idx="5">
                  <c:v>2024</c:v>
                </c:pt>
                <c:pt idx="6">
                  <c:v>2025</c:v>
                </c:pt>
                <c:pt idx="7">
                  <c:v>2026</c:v>
                </c:pt>
              </c:numCache>
            </c:numRef>
          </c:cat>
          <c:val>
            <c:numRef>
              <c:f>'Chart Data'!$B$2:$B$9</c:f>
              <c:numCache>
                <c:formatCode>0</c:formatCode>
                <c:ptCount val="8"/>
                <c:pt idx="0">
                  <c:v>1.33369</c:v>
                </c:pt>
                <c:pt idx="1">
                  <c:v>1.372462</c:v>
                </c:pt>
                <c:pt idx="2">
                  <c:v>4.380862</c:v>
                </c:pt>
                <c:pt idx="3">
                  <c:v>6.244435</c:v>
                </c:pt>
                <c:pt idx="4">
                  <c:v>3.438635</c:v>
                </c:pt>
                <c:pt idx="5">
                  <c:v>2.094953</c:v>
                </c:pt>
                <c:pt idx="6">
                  <c:v>2.741163</c:v>
                </c:pt>
                <c:pt idx="7">
                  <c:v>3.668053</c:v>
                </c:pt>
              </c:numCache>
            </c:numRef>
          </c:val>
          <c:smooth val="0"/>
          <c:extLst>
            <c:ext xmlns:c16="http://schemas.microsoft.com/office/drawing/2014/chart" uri="{C3380CC4-5D6E-409C-BE32-E72D297353CC}">
              <c16:uniqueId val="{00000000-14B7-4456-9D11-680769780DD7}"/>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8766E"/>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8"/>
          <c:min val="0"/>
        </c:scaling>
        <c:delete val="0"/>
        <c:axPos val="l"/>
        <c:majorGridlines>
          <c:spPr>
            <a:ln w="9525">
              <a:solidFill>
                <a:srgbClr val="DEE5E0"/>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575">
                <a:solidFill>
                  <a:srgbClr val="68766E"/>
                </a:solidFill>
                <a:latin typeface="Arial"/>
                <a:ea typeface="Arial"/>
                <a:cs typeface="Arial"/>
              </a:defRPr>
            </a:pPr>
            <a:endParaRPr lang="zh-CN"/>
          </a:p>
        </c:txPr>
        <c:crossAx val="48650112"/>
        <c:crosses val="autoZero"/>
        <c:crossBetween val="between"/>
      </c:valAx>
    </c:plotArea>
    <c:plotVisOnly val="1"/>
    <c:dispBlanksAs val="zero"/>
    <c:showDLblsOverMax val="1"/>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News</c:v>
          </c:tx>
          <c:spPr>
            <a:solidFill>
              <a:srgbClr val="254C45"/>
            </a:solidFill>
          </c:spPr>
          <c:invertIfNegative val="0"/>
          <c:dLbls>
            <c:numFmt formatCode="0.0" sourceLinked="0"/>
            <c:spPr>
              <a:noFill/>
              <a:ln>
                <a:noFill/>
              </a:ln>
              <a:effectLst/>
            </c:spPr>
            <c:txPr>
              <a:bodyPr anchorCtr="1"/>
              <a:lstStyle/>
              <a:p>
                <a:pPr>
                  <a:defRPr sz="1875" b="1">
                    <a:solidFill>
                      <a:srgbClr val="252B29"/>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Anchoring to past prices
Price-level framing</c:v>
                </c:pt>
                <c:pt idx="1">
                  <c:v>Confirmation bias
Political blame</c:v>
                </c:pt>
                <c:pt idx="2">
                  <c:v>Availability bias
Topic salience (prices)</c:v>
                </c:pt>
                <c:pt idx="3">
                  <c:v>Negativity bias
Negative economic tone</c:v>
                </c:pt>
              </c:strCache>
            </c:strRef>
          </c:cat>
          <c:val>
            <c:numRef>
              <c:f>'Chart Data'!$B$2:$B$5</c:f>
              <c:numCache>
                <c:formatCode>0.0</c:formatCode>
                <c:ptCount val="4"/>
                <c:pt idx="0">
                  <c:v>8.26087</c:v>
                </c:pt>
                <c:pt idx="1">
                  <c:v>22.608696</c:v>
                </c:pt>
                <c:pt idx="2">
                  <c:v>25.652174</c:v>
                </c:pt>
                <c:pt idx="3">
                  <c:v>45.217391</c:v>
                </c:pt>
              </c:numCache>
            </c:numRef>
          </c:val>
          <c:extLst>
            <c:ext xmlns:c16="http://schemas.microsoft.com/office/drawing/2014/chart" uri="{C3380CC4-5D6E-409C-BE32-E72D297353CC}">
              <c16:uniqueId val="{00000000-7F94-4C0A-873C-B0601490E29E}"/>
            </c:ext>
          </c:extLst>
        </c:ser>
        <c:ser>
          <c:idx val="1"/>
          <c:order val="1"/>
          <c:tx>
            <c:v>X</c:v>
          </c:tx>
          <c:spPr>
            <a:solidFill>
              <a:srgbClr val="A37D46"/>
            </a:solidFill>
          </c:spPr>
          <c:invertIfNegative val="0"/>
          <c:dLbls>
            <c:numFmt formatCode="0.0" sourceLinked="0"/>
            <c:spPr>
              <a:noFill/>
              <a:ln>
                <a:noFill/>
              </a:ln>
              <a:effectLst/>
            </c:spPr>
            <c:txPr>
              <a:bodyPr anchorCtr="1"/>
              <a:lstStyle/>
              <a:p>
                <a:pPr>
                  <a:defRPr sz="1875" b="1">
                    <a:solidFill>
                      <a:srgbClr val="252B29"/>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Data'!$C$2:$C$5</c:f>
              <c:strCache>
                <c:ptCount val="4"/>
                <c:pt idx="0">
                  <c:v>Anchoring to past prices
Price-level framing</c:v>
                </c:pt>
                <c:pt idx="1">
                  <c:v>Confirmation bias
Political blame</c:v>
                </c:pt>
                <c:pt idx="2">
                  <c:v>Availability bias
Topic salience (prices)</c:v>
                </c:pt>
                <c:pt idx="3">
                  <c:v>Negativity bias
Negative economic tone</c:v>
                </c:pt>
              </c:strCache>
            </c:strRef>
          </c:cat>
          <c:val>
            <c:numRef>
              <c:f>'Chart Data'!$D$2:$D$5</c:f>
              <c:numCache>
                <c:formatCode>0.0</c:formatCode>
                <c:ptCount val="4"/>
                <c:pt idx="0">
                  <c:v>10.494572</c:v>
                </c:pt>
                <c:pt idx="1">
                  <c:v>49.577805</c:v>
                </c:pt>
                <c:pt idx="2">
                  <c:v>37.635706</c:v>
                </c:pt>
                <c:pt idx="3">
                  <c:v>53.075995</c:v>
                </c:pt>
              </c:numCache>
            </c:numRef>
          </c:val>
          <c:extLst>
            <c:ext xmlns:c16="http://schemas.microsoft.com/office/drawing/2014/chart" uri="{C3380CC4-5D6E-409C-BE32-E72D297353CC}">
              <c16:uniqueId val="{00000001-7F94-4C0A-873C-B0601490E29E}"/>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sz="1875">
                <a:solidFill>
                  <a:srgbClr val="252B29"/>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65"/>
          <c:min val="0"/>
        </c:scaling>
        <c:delete val="0"/>
        <c:axPos val="b"/>
        <c:majorGridlines>
          <c:spPr>
            <a:ln w="9525">
              <a:solidFill>
                <a:srgbClr val="DEE5E0"/>
              </a:solidFill>
            </a:ln>
          </c:spPr>
        </c:majorGridlines>
        <c:title>
          <c:tx>
            <c:rich>
              <a:bodyPr/>
              <a:lstStyle/>
              <a:p>
                <a:r>
                  <a:rPr lang="en-US">
                    <a:latin typeface="Arial"/>
                    <a:ea typeface="Arial"/>
                    <a:cs typeface="Arial"/>
                  </a:rPr>
                  <a:t>Observed content proxy (%)</a:t>
                </a:r>
              </a:p>
            </c:rich>
          </c:tx>
          <c:overlay val="0"/>
        </c:title>
        <c:numFmt formatCode="0.0" sourceLinked="1"/>
        <c:majorTickMark val="none"/>
        <c:minorTickMark val="none"/>
        <c:tickLblPos val="nextTo"/>
        <c:spPr>
          <a:ln w="9525">
            <a:solidFill>
              <a:srgbClr val="D4D4D4"/>
            </a:solidFill>
            <a:prstDash val="solid"/>
          </a:ln>
        </c:spPr>
        <c:txPr>
          <a:bodyPr anchorCtr="1"/>
          <a:lstStyle/>
          <a:p>
            <a:pPr>
              <a:defRPr sz="1725">
                <a:solidFill>
                  <a:srgbClr val="68766E"/>
                </a:solidFill>
                <a:latin typeface="Arial"/>
                <a:ea typeface="Arial"/>
                <a:cs typeface="Arial"/>
              </a:defRPr>
            </a:pPr>
            <a:endParaRPr lang="zh-CN"/>
          </a:p>
        </c:txPr>
        <c:crossAx val="48650112"/>
        <c:crosses val="autoZero"/>
        <c:crossBetween val="between"/>
      </c:valAx>
    </c:plotArea>
    <c:legend>
      <c:legendPos val="b"/>
      <c:overlay val="0"/>
      <c:txPr>
        <a:bodyPr anchorCtr="1"/>
        <a:lstStyle/>
        <a:p>
          <a:pPr>
            <a:defRPr sz="1650">
              <a:latin typeface="Arial"/>
              <a:ea typeface="Arial"/>
              <a:cs typeface="Arial"/>
            </a:defRPr>
          </a:pPr>
          <a:endParaRPr lang="zh-CN"/>
        </a:p>
      </c:txPr>
    </c:legend>
    <c:plotVisOnly val="1"/>
    <c:dispBlanksAs val="zero"/>
    <c:showDLblsOverMax val="1"/>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Without media tone</c:v>
          </c:tx>
          <c:spPr>
            <a:solidFill>
              <a:srgbClr val="68766E"/>
            </a:solidFill>
          </c:spPr>
          <c:invertIfNegative val="0"/>
          <c:dLbls>
            <c:numFmt formatCode="0.000" sourceLinked="0"/>
            <c:spPr>
              <a:noFill/>
              <a:ln>
                <a:noFill/>
              </a:ln>
              <a:effectLst/>
            </c:spPr>
            <c:txPr>
              <a:bodyPr anchorCtr="1"/>
              <a:lstStyle/>
              <a:p>
                <a:pPr>
                  <a:defRPr sz="1875" b="1">
                    <a:solidFill>
                      <a:srgbClr val="252B29"/>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Memory + seasonality + survey mode</c:v>
                </c:pt>
                <c:pt idx="1">
                  <c:v>Memory + income + price levels</c:v>
                </c:pt>
                <c:pt idx="2">
                  <c:v>Economy + prior sentiment</c:v>
                </c:pt>
              </c:strCache>
            </c:strRef>
          </c:cat>
          <c:val>
            <c:numRef>
              <c:f>'Chart Data'!$B$2:$B$4</c:f>
              <c:numCache>
                <c:formatCode>0.000</c:formatCode>
                <c:ptCount val="3"/>
                <c:pt idx="0">
                  <c:v>3.857192</c:v>
                </c:pt>
                <c:pt idx="1">
                  <c:v>4.030138</c:v>
                </c:pt>
                <c:pt idx="2">
                  <c:v>4.198674</c:v>
                </c:pt>
              </c:numCache>
            </c:numRef>
          </c:val>
          <c:extLst>
            <c:ext xmlns:c16="http://schemas.microsoft.com/office/drawing/2014/chart" uri="{C3380CC4-5D6E-409C-BE32-E72D297353CC}">
              <c16:uniqueId val="{00000000-FA95-4AD4-8312-EECDC4BE338A}"/>
            </c:ext>
          </c:extLst>
        </c:ser>
        <c:ser>
          <c:idx val="1"/>
          <c:order val="1"/>
          <c:tx>
            <c:v>With media tone</c:v>
          </c:tx>
          <c:spPr>
            <a:solidFill>
              <a:srgbClr val="254C45"/>
            </a:solidFill>
          </c:spPr>
          <c:invertIfNegative val="0"/>
          <c:dLbls>
            <c:numFmt formatCode="0.000" sourceLinked="0"/>
            <c:spPr>
              <a:noFill/>
              <a:ln>
                <a:noFill/>
              </a:ln>
              <a:effectLst/>
            </c:spPr>
            <c:txPr>
              <a:bodyPr anchorCtr="1"/>
              <a:lstStyle/>
              <a:p>
                <a:pPr>
                  <a:defRPr sz="1875" b="1">
                    <a:solidFill>
                      <a:srgbClr val="252B29"/>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Memory + seasonality + survey mode</c:v>
                </c:pt>
                <c:pt idx="1">
                  <c:v>Memory + income + price levels</c:v>
                </c:pt>
                <c:pt idx="2">
                  <c:v>Economy + prior sentiment</c:v>
                </c:pt>
              </c:strCache>
            </c:strRef>
          </c:cat>
          <c:val>
            <c:numRef>
              <c:f>'Chart Data'!$D$2:$D$4</c:f>
              <c:numCache>
                <c:formatCode>0.000</c:formatCode>
                <c:ptCount val="3"/>
                <c:pt idx="0">
                  <c:v>3.526921</c:v>
                </c:pt>
                <c:pt idx="1">
                  <c:v>4.004333</c:v>
                </c:pt>
                <c:pt idx="2">
                  <c:v>4.198092</c:v>
                </c:pt>
              </c:numCache>
            </c:numRef>
          </c:val>
          <c:extLst>
            <c:ext xmlns:c16="http://schemas.microsoft.com/office/drawing/2014/chart" uri="{C3380CC4-5D6E-409C-BE32-E72D297353CC}">
              <c16:uniqueId val="{00000001-FA95-4AD4-8312-EECDC4BE338A}"/>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sz="1875">
                <a:solidFill>
                  <a:srgbClr val="252B29"/>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5.2"/>
          <c:min val="0"/>
        </c:scaling>
        <c:delete val="0"/>
        <c:axPos val="b"/>
        <c:majorGridlines>
          <c:spPr>
            <a:ln w="9525">
              <a:solidFill>
                <a:srgbClr val="DEE5E0"/>
              </a:solidFill>
            </a:ln>
          </c:spPr>
        </c:majorGridlines>
        <c:title>
          <c:tx>
            <c:rich>
              <a:bodyPr/>
              <a:lstStyle/>
              <a:p>
                <a:r>
                  <a:rPr lang="en-US">
                    <a:latin typeface="Arial"/>
                    <a:ea typeface="Arial"/>
                    <a:cs typeface="Arial"/>
                  </a:rPr>
                  <a:t>Mean absolute error (lower is better)</a:t>
                </a:r>
              </a:p>
            </c:rich>
          </c:tx>
          <c:overlay val="0"/>
        </c:title>
        <c:numFmt formatCode="0.000" sourceLinked="1"/>
        <c:majorTickMark val="none"/>
        <c:minorTickMark val="none"/>
        <c:tickLblPos val="nextTo"/>
        <c:spPr>
          <a:ln w="9525">
            <a:solidFill>
              <a:srgbClr val="D4D4D4"/>
            </a:solidFill>
            <a:prstDash val="solid"/>
          </a:ln>
        </c:spPr>
        <c:txPr>
          <a:bodyPr anchorCtr="1"/>
          <a:lstStyle/>
          <a:p>
            <a:pPr>
              <a:defRPr sz="1725">
                <a:solidFill>
                  <a:srgbClr val="68766E"/>
                </a:solidFill>
                <a:latin typeface="Arial"/>
                <a:ea typeface="Arial"/>
                <a:cs typeface="Arial"/>
              </a:defRPr>
            </a:pPr>
            <a:endParaRPr lang="zh-CN"/>
          </a:p>
        </c:txPr>
        <c:crossAx val="48650112"/>
        <c:crosses val="autoZero"/>
        <c:crossBetween val="between"/>
      </c:valAx>
    </c:plotArea>
    <c:legend>
      <c:legendPos val="b"/>
      <c:overlay val="0"/>
      <c:txPr>
        <a:bodyPr anchorCtr="1"/>
        <a:lstStyle/>
        <a:p>
          <a:pPr>
            <a:defRPr sz="1650">
              <a:latin typeface="Arial"/>
              <a:ea typeface="Arial"/>
              <a:cs typeface="Arial"/>
            </a:defRPr>
          </a:pPr>
          <a:endParaRPr lang="zh-CN"/>
        </a:p>
      </c:txPr>
    </c:legend>
    <c:plotVisOnly val="1"/>
    <c:dispBlanksAs val="zero"/>
    <c:showDLblsOverMax val="1"/>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Media change in MAE</c:v>
          </c:tx>
          <c:spPr>
            <a:solidFill>
              <a:srgbClr val="254C45"/>
            </a:solidFill>
          </c:spPr>
          <c:invertIfNegative val="0"/>
          <c:dLbls>
            <c:numFmt formatCode="\+0.000;\-0.000;0.000" sourceLinked="0"/>
            <c:spPr>
              <a:noFill/>
              <a:ln>
                <a:noFill/>
              </a:ln>
              <a:effectLst/>
            </c:spPr>
            <c:txPr>
              <a:bodyPr anchorCtr="1"/>
              <a:lstStyle/>
              <a:p>
                <a:pPr>
                  <a:defRPr sz="2100" b="1">
                    <a:solidFill>
                      <a:srgbClr val="254C45"/>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At least 3 news / 5 X (13 months)</c:v>
                </c:pt>
                <c:pt idx="1">
                  <c:v>At least 2 news / 5 X (25 months)</c:v>
                </c:pt>
                <c:pt idx="2">
                  <c:v>At least 1 news / 3 X (40 months)</c:v>
                </c:pt>
              </c:strCache>
            </c:strRef>
          </c:cat>
          <c:val>
            <c:numRef>
              <c:f>'Chart Data'!$B$2:$B$4</c:f>
              <c:numCache>
                <c:formatCode>0.00</c:formatCode>
                <c:ptCount val="3"/>
                <c:pt idx="0">
                  <c:v>0.29886</c:v>
                </c:pt>
                <c:pt idx="1">
                  <c:v>-0.193224</c:v>
                </c:pt>
                <c:pt idx="2">
                  <c:v>-0.330271</c:v>
                </c:pt>
              </c:numCache>
            </c:numRef>
          </c:val>
          <c:extLst>
            <c:ext xmlns:c16="http://schemas.microsoft.com/office/drawing/2014/chart" uri="{C3380CC4-5D6E-409C-BE32-E72D297353CC}">
              <c16:uniqueId val="{00000000-4221-4285-ADE1-B715F0423D7C}"/>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low"/>
        <c:spPr>
          <a:ln w="9525">
            <a:solidFill>
              <a:srgbClr val="D4D4D4"/>
            </a:solidFill>
            <a:prstDash val="solid"/>
          </a:ln>
        </c:spPr>
        <c:txPr>
          <a:bodyPr anchorCtr="1"/>
          <a:lstStyle/>
          <a:p>
            <a:pPr>
              <a:defRPr sz="1725">
                <a:solidFill>
                  <a:srgbClr val="666666"/>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0.5"/>
          <c:min val="-0.5"/>
        </c:scaling>
        <c:delete val="0"/>
        <c:axPos val="b"/>
        <c:majorGridlines>
          <c:spPr>
            <a:ln w="9525">
              <a:solidFill>
                <a:srgbClr val="DEE5E0"/>
              </a:solidFill>
            </a:ln>
          </c:spPr>
        </c:majorGridlines>
        <c:title>
          <c:tx>
            <c:rich>
              <a:bodyPr/>
              <a:lstStyle/>
              <a:p>
                <a:r>
                  <a:rPr lang="en-US">
                    <a:latin typeface="Arial"/>
                    <a:ea typeface="Arial"/>
                    <a:cs typeface="Arial"/>
                  </a:rPr>
                  <a:t>Change in MAE (negative = improvement)</a:t>
                </a:r>
              </a:p>
            </c:rich>
          </c:tx>
          <c:overlay val="0"/>
        </c:title>
        <c:numFmt formatCode="0.00" sourceLinked="1"/>
        <c:majorTickMark val="none"/>
        <c:minorTickMark val="none"/>
        <c:tickLblPos val="low"/>
        <c:spPr>
          <a:ln w="9525">
            <a:solidFill>
              <a:srgbClr val="D4D4D4"/>
            </a:solidFill>
            <a:prstDash val="solid"/>
          </a:ln>
        </c:spPr>
        <c:txPr>
          <a:bodyPr anchorCtr="1"/>
          <a:lstStyle/>
          <a:p>
            <a:pPr>
              <a:defRPr sz="1650">
                <a:solidFill>
                  <a:srgbClr val="68766E"/>
                </a:solidFill>
                <a:latin typeface="Arial"/>
                <a:ea typeface="Arial"/>
                <a:cs typeface="Arial"/>
              </a:defRPr>
            </a:pPr>
            <a:endParaRPr lang="zh-CN"/>
          </a:p>
        </c:txPr>
        <c:crossAx val="48650112"/>
        <c:crosses val="autoZero"/>
        <c:crossBetween val="between"/>
        <c:majorUnit val="0.25"/>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Inflation can slow down while the shopping bill stays high. </a:t>
            </a:r>
          </a:p>
          <a:p>
            <a:r>
              <a:rPr dirty="0"/>
              <a:t>I studied six questions about media bias and U.S. consumer sentiment before the 2026 midterms. I will share what we found and what those findings tell us about the sentiment gap.</a:t>
            </a:r>
          </a:p>
          <a:p>
            <a:endParaRPr dirty="0"/>
          </a:p>
          <a:p>
            <a:r>
              <a:rPr dirty="0"/>
              <a:t>Sources</a:t>
            </a:r>
          </a:p>
          <a:p>
            <a:r>
              <a:rPr dirty="0"/>
              <a:t>Project study gpt_core_v3; reports/final_gpt_v3/RESEARCH_REPORT.md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Michigan index combines five survey answers. Two describe current conditions: family finances compared with a year ago, and buying major household items. Three describe expectations for family finances and national business conditions.</a:t>
            </a:r>
          </a:p>
          <a:p>
            <a:endParaRPr/>
          </a:p>
          <a:p>
            <a:r>
              <a:t>For each question, we take one hundred plus the favorable percentage minus the unfavorable percentage. The formula combines the five scores into the index.</a:t>
            </a:r>
          </a:p>
          <a:p>
            <a:endParaRPr/>
          </a:p>
          <a:p>
            <a:r>
              <a:t>So the index tells us how people see the economy today and what they expect next. We can then compare that with the economic indicators.</a:t>
            </a:r>
          </a:p>
          <a:p>
            <a:endParaRPr/>
          </a:p>
          <a:p>
            <a:r>
              <a:t>Sources</a:t>
            </a:r>
          </a:p>
          <a:p>
            <a:r>
              <a:t>https://data.sca.isr.umich.edu/fetchdoc.php?docid=75432</a:t>
            </a:r>
          </a:p>
          <a:p>
            <a:r>
              <a:t>https://data.sca.isr.umich.edu/faq.php</a:t>
            </a:r>
          </a:p>
          <a:p>
            <a:r>
              <a:t>Report page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measure tone, topic salience, framing and political blame separately. </a:t>
            </a:r>
            <a:endParaRPr/>
          </a:p>
          <a:p>
            <a:r>
              <a:t/>
            </a:r>
            <a:endParaRPr/>
          </a:p>
          <a:p>
            <a:r>
              <a:t>We found that X uses much more emotional or mixed language in our sample: eighty-six percent, compared with twenty-four percent in news headlines. Political blame is also more common on X.</a:t>
            </a:r>
          </a:p>
          <a:p>
            <a:r>
              <a:t/>
            </a:r>
            <a:endParaRPr/>
          </a:p>
          <a:p>
            <a:r>
              <a:t>The gap in negative economic tone is smaller: fifty-three percent on X and forty-five percent in news. </a:t>
            </a:r>
          </a:p>
          <a:p>
            <a:r>
              <a:t/>
            </a:r>
            <a:endParaRPr/>
          </a:p>
          <a:p>
            <a:r>
              <a:t>One human annotator provides the reference labels. The comparison shows that the coding still makes mistakes.</a:t>
            </a:r>
          </a:p>
          <a:p>
            <a:r>
              <a:t/>
            </a:r>
            <a:endParaRPr/>
          </a:p>
          <a:p>
            <a:r>
              <a:t>We also compared headlines about the same economic releases. In May 2023, payrolls grew while unemployment also rose. One headline emphasized job growth, while another mentioned both. Different emphasis alone does not establish bias.</a:t>
            </a:r>
          </a:p>
          <a:p>
            <a:r>
              <a:t/>
            </a:r>
          </a:p>
          <a:p>
            <a:r>
              <a:t>Sources</a:t>
            </a:r>
            <a:endParaRPr/>
          </a:p>
          <a:p>
            <a:r>
              <a:t>Report page 3</a:t>
            </a:r>
          </a:p>
          <a:p>
            <a:r>
              <a:t>reports/gpt_core_v3/descriptive.json</a:t>
            </a:r>
          </a:p>
          <a:p>
            <a:r>
              <a:t>Political blame includes texts assigning both credit and blame. Sample content differences do not establish a platform causal effect.</a:t>
            </a:r>
          </a:p>
          <a:p>
            <a:r>
              <a:t>Report page 10</a:t>
            </a:r>
          </a:p>
          <a:p>
            <a:r>
              <a:t>reports/rubric_extension/measurement.json</a:t>
            </a:r>
          </a:p>
          <a:p>
            <a:r>
              <a:t>reports/rubric_extension/same_event_comparison.json</a:t>
            </a:r>
          </a:p>
          <a:p>
            <a:r>
              <a:t>https://www.bls.gov/news.release/archives/empsit_06022023.htm</a:t>
            </a:r>
          </a:p>
          <a:p>
            <a:r>
              <a:t>Tone macro-F1 0.602 is the five-class held-out comparison: 196 valid pairs from 200 held-out reference items. One independent human annotator, not a consensus 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August 2026, actual sentiment was fifty-one point seven. The economy-only model predicted about sixty-six. Adding media tone lowered the prediction to about sixty-one. Carrying forward the previous sentiment reading gave fifty-five point two.</a:t>
            </a:r>
          </a:p>
          <a:p>
            <a:endParaRPr/>
          </a:p>
          <a:p>
            <a:r>
              <a:t>So the size of the gap depends on which model we use. It does not tell us how much media lowered sentiment. The same economic shocks can affect both coverage and consumers, and we do not know whether the survey respondents saw these posts or headlines.</a:t>
            </a:r>
          </a:p>
          <a:p>
            <a:endParaRPr/>
          </a:p>
          <a:p>
            <a:r>
              <a:t>Sources</a:t>
            </a:r>
          </a:p>
          <a:p>
            <a:r>
              <a:t>Report page 4</a:t>
            </a:r>
          </a:p>
          <a:p>
            <a:r>
              <a:t>data/processed/gpt_core_v3/predictions.csv</a:t>
            </a:r>
          </a:p>
          <a:p>
            <a:r>
              <a:t>Single-month illustration; whole-sample errors appear on slide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Before the pandemic, sentiment averaged about ninety-seven. In the latest three months, it was about fifty-two. That is a fall of almost forty-five points.</a:t>
            </a:r>
          </a:p>
          <a:p>
            <a:endParaRPr dirty="0"/>
          </a:p>
          <a:p>
            <a:r>
              <a:rPr dirty="0"/>
              <a:t>Our descriptive model links unemployment, inflation and GDP growth to about seventeen points of that decline. Inflation accounts for most of those points.</a:t>
            </a:r>
          </a:p>
          <a:p>
            <a:endParaRPr dirty="0"/>
          </a:p>
          <a:p>
            <a:r>
              <a:rPr dirty="0"/>
              <a:t>When we added accumulated price increases, the unexplained gap fell from about twenty-eight points to seven.</a:t>
            </a:r>
          </a:p>
          <a:p>
            <a:endParaRPr dirty="0"/>
          </a:p>
          <a:p>
            <a:r>
              <a:rPr dirty="0"/>
              <a:t>So higher prices give us another explanation for the gap, beyond media coverage.</a:t>
            </a:r>
          </a:p>
          <a:p>
            <a:endParaRPr dirty="0"/>
          </a:p>
          <a:p>
            <a:r>
              <a:rPr dirty="0"/>
              <a:t>Sources</a:t>
            </a:r>
          </a:p>
          <a:p>
            <a:r>
              <a:rPr dirty="0"/>
              <a:t>Report page 5</a:t>
            </a:r>
          </a:p>
          <a:p>
            <a:r>
              <a:rPr dirty="0"/>
              <a:t>reports/gpt_core_v3/</a:t>
            </a:r>
            <a:r>
              <a:rPr dirty="0" err="1"/>
              <a:t>analysis.json</a:t>
            </a:r>
            <a:r>
              <a:rPr dirty="0"/>
              <a:t>: </a:t>
            </a:r>
            <a:r>
              <a:rPr dirty="0" err="1"/>
              <a:t>macro_accounting</a:t>
            </a:r>
            <a:endParaRPr dirty="0"/>
          </a:p>
          <a:p>
            <a:r>
              <a:rPr dirty="0"/>
              <a:t>Monthly series averaged by calendar year solely for display. Decomposition compares 2017–2019 with June–August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top chart shows the accumulated price increase. By our latest forecast date, prices were almost twenty-eight percent above December 2018.</a:t>
            </a:r>
          </a:p>
          <a:p>
            <a:r>
              <a:t/>
            </a:r>
            <a:endParaRPr/>
          </a:p>
          <a:p>
            <a:r>
              <a:t>The bottom chart shows inflation. It was about three point seven percent. Prices are still rising from an already higher level. Real disposable income was growing by only about half a percent.</a:t>
            </a:r>
          </a:p>
          <a:p>
            <a:r>
              <a:t/>
            </a:r>
            <a:endParaRPr/>
          </a:p>
          <a:p>
            <a:r>
              <a:t>Adding accumulated prices reduced errors in the economy-only forecasts. This suggests that the higher cost of living helps explain why consumer sentiment remains low.</a:t>
            </a:r>
          </a:p>
          <a:p>
            <a:r>
              <a:t/>
            </a:r>
            <a:endParaRPr/>
          </a:p>
          <a:p>
            <a:r>
              <a:t>Sources</a:t>
            </a:r>
          </a:p>
          <a:p>
            <a:r>
              <a:t>Report page 6</a:t>
            </a:r>
          </a:p>
          <a:p>
            <a:r>
              <a:t>data/processed/gpt_core_v3/model_panel.csv</a:t>
            </a:r>
          </a:p>
          <a:p>
            <a:r>
              <a:t>PCEPI reference December 2018, numerator and denominator from the same origin vintage. DSPIC96 income growth is aggregate real disposable income, not household microdata.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Negative economic tone is something we can count. To measure negativity bias, we would need to compare how people react to similar good and bad news.</a:t>
            </a:r>
          </a:p>
          <a:p>
            <a:endParaRPr/>
          </a:p>
          <a:p>
            <a:r>
              <a:t>Topic salience tells us how often prices come up. To measure availability bias, we would need to know what people saw and remembered.</a:t>
            </a:r>
          </a:p>
          <a:p>
            <a:endParaRPr/>
          </a:p>
          <a:p>
            <a:r>
              <a:t>Political blame is something we can identify in the text. To measure confirmation bias, we would need to know people's prior beliefs and how they changed.</a:t>
            </a:r>
          </a:p>
          <a:p>
            <a:endParaRPr/>
          </a:p>
          <a:p>
            <a:r>
              <a:t>Price-level framing shows attention to what things cost. To measure anchoring to past prices, we would need personal reference prices and affordability measures.</a:t>
            </a:r>
          </a:p>
          <a:p>
            <a:endParaRPr/>
          </a:p>
          <a:p>
            <a:r>
              <a:t>The chart shows differences in content. It does not establish these psychological biases in consumers.</a:t>
            </a:r>
          </a:p>
          <a:p>
            <a:endParaRPr/>
          </a:p>
          <a:p>
            <a:r>
              <a:t>Sources</a:t>
            </a:r>
          </a:p>
          <a:p>
            <a:r>
              <a:t>Report page 7</a:t>
            </a:r>
          </a:p>
          <a:p>
            <a:r>
              <a:t>reports/gpt_core_v3/descriptive.json</a:t>
            </a:r>
          </a:p>
          <a:p>
            <a:r>
              <a:t>Mechanism names identify candidate explanations, not diagnoses. Topic salience means the share of eligible texts mentioning prices.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bars show forecasting errors for the same forty months. A lower number means a more accurate forecast.</a:t>
            </a:r>
          </a:p>
          <a:p>
            <a:r>
              <a:t/>
            </a:r>
            <a:endParaRPr/>
          </a:p>
          <a:p>
            <a:r>
              <a:t>Once the model includes the economy and prior sentiment, adding media tone barely changes the error. Both values round to four point two. Adding income and price levels gives much the same result.</a:t>
            </a:r>
          </a:p>
          <a:p>
            <a:r>
              <a:t/>
            </a:r>
            <a:endParaRPr/>
          </a:p>
          <a:p>
            <a:r>
              <a:t>With seasonality and survey-mode controls, adding media tone lowers the error from three point eight six to three point five three. But after correcting for multiple model comparisons, the evidence is too weak to call the gain statistically significant.</a:t>
            </a:r>
          </a:p>
          <a:p>
            <a:r>
              <a:t/>
            </a:r>
            <a:endParaRPr/>
          </a:p>
          <a:p>
            <a:r>
              <a:t>The model also does not clearly beat carrying forward prior sentiment. Adding all the content features raises the error to four point seven four. More features do not always give a better forecast.</a:t>
            </a:r>
          </a:p>
          <a:p>
            <a:r>
              <a:t/>
            </a:r>
            <a:endParaRPr/>
          </a:p>
          <a:p>
            <a:r>
              <a:t>Sources</a:t>
            </a:r>
          </a:p>
          <a:p>
            <a:r>
              <a:t>Report page 8</a:t>
            </a:r>
          </a:p>
          <a:p>
            <a:r>
              <a:t>reports/gpt_core_v3/analysis.json</a:t>
            </a:r>
          </a:p>
          <a:p>
            <a:r>
              <a:t>reports/rubric_extension/statistical_stability.json</a:t>
            </a:r>
          </a:p>
          <a:p>
            <a:r>
              <a:t>https://www.sca.isr.umich.edu/files/methodtransitionannouncement2024.pdf</a:t>
            </a:r>
          </a:p>
          <a:p>
            <a:r>
              <a:t>Method controls contain the economy and prior sentiment plus annual sine/cosine and a transition ramp. They do not also contain household controls. Original MAEs and nominal paired intervals are unchanged. Separate retrospective exploratory Holm correction across 14 original comparisons: raw p=0.0105, adjusted p=0.147 for the method-controls media gain. Null-centered 3-month block bootstrap, 3,999 replications. Coding uncertainty is not propagated.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found two reasons to question a strong media explanation. Adding price levels greatly reduces the economic model's unexplained gap. And the forecasting benefit from media changes with the coverage rule.</a:t>
            </a:r>
          </a:p>
          <a:p>
            <a:r>
              <a:t/>
            </a:r>
            <a:endParaRPr/>
          </a:p>
          <a:p>
            <a:r>
              <a:t>In this chart, negative values mean that media improves the forecast. With at least three news headlines and five X posts per month, the error goes up instead. Only thirteen months remain under that rule, so the conclusion depends on which months we can use.</a:t>
            </a:r>
          </a:p>
          <a:p>
            <a:r>
              <a:t/>
            </a:r>
            <a:endParaRPr/>
          </a:p>
          <a:p>
            <a:r>
              <a:t>We have now compared headlines about the same economic releases. Differences in emphasis do not by themselves establish bias. Longer-lag forecasting gains also remain uncertain. A stronger causal study would link actual media exposure to later survey responses while accounting for household financial conditions.</a:t>
            </a:r>
          </a:p>
          <a:p>
            <a:r>
              <a:t/>
            </a:r>
            <a:endParaRPr/>
          </a:p>
          <a:p>
            <a:r>
              <a:t>Sources</a:t>
            </a:r>
          </a:p>
          <a:p>
            <a:r>
              <a:t>Report pages 3 and 9</a:t>
            </a:r>
          </a:p>
          <a:p>
            <a:r>
              <a:t>reports/gpt_core_v3/analysis.json: sensitivity</a:t>
            </a:r>
          </a:p>
          <a:p>
            <a:r>
              <a:t>reports/rubric_extension/statistical_stability.json</a:t>
            </a:r>
          </a:p>
          <a:p>
            <a:r>
              <a:t>reports/rubric_extension/same_event_comparison.json</a:t>
            </a:r>
          </a:p>
          <a:p>
            <a:r>
              <a:t>The original coverage chart compares 40, 25 and 13 test months; the 13-month change interval crosses zero. Coverage filtering changes training and test month composition. The additional longer-lag experiment uses a separate common sample of 30 test months. Same-event examples are descriptive headline comparisons, not causal identification.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X shows more emotional language and political blame in our sample.</a:t>
            </a:r>
          </a:p>
          <a:p>
            <a:r>
              <a:t/>
            </a:r>
            <a:endParaRPr/>
          </a:p>
          <a:p>
            <a:r>
              <a:t>Accumulated price pressure reduces the unexplained sentiment gap.</a:t>
            </a:r>
          </a:p>
          <a:p>
            <a:r>
              <a:t/>
            </a:r>
            <a:endParaRPr/>
          </a:p>
          <a:p>
            <a:r>
              <a:t>Media sometimes lowers forecast errors, but the gain remains uncertain after the additional checks.</a:t>
            </a:r>
          </a:p>
          <a:p>
            <a:r>
              <a:t/>
            </a:r>
            <a:endParaRPr/>
          </a:p>
          <a:p>
            <a:r>
              <a:t>For financial risk monitoring, the August example shows why the benchmark matters. The gap is about fourteen points against the economy-only forecast, but three and a half against prior sentiment.</a:t>
            </a:r>
          </a:p>
          <a:p>
            <a:r>
              <a:t/>
            </a:r>
            <a:endParaRPr/>
          </a:p>
          <a:p>
            <a:r>
              <a:t>Before treating that gap as new risk information, examine purchasing power and recent sentiment. Media signals need to show additional forecasting value.</a:t>
            </a:r>
          </a:p>
          <a:p>
            <a:r>
              <a:t/>
            </a:r>
            <a:endParaRPr/>
          </a:p>
          <a:p>
            <a:r>
              <a:t>Thank you.</a:t>
            </a:r>
          </a:p>
          <a:p>
            <a:r>
              <a:t/>
            </a:r>
          </a:p>
          <a:p>
            <a:r>
              <a:t>Sources</a:t>
            </a:r>
            <a:endParaRPr/>
          </a:p>
          <a:p>
            <a:r>
              <a:t>Report pages 1, 4–9</a:t>
            </a:r>
          </a:p>
          <a:p>
            <a:r>
              <a:t>data/processed/gpt_core_v3/predictions.csv</a:t>
            </a:r>
          </a:p>
          <a:p>
            <a:r>
              <a:t>reports/gpt_core_v3/analysis.json</a:t>
            </a:r>
          </a:p>
          <a:p>
            <a:r>
              <a:t>reports/rubric_extension/statistical_stability.json</a:t>
            </a:r>
          </a:p>
          <a:p>
            <a:r>
              <a:t>August 2026 observed-minus-predicted sentiment gaps: 51.7-66.1298 approximately -14.4, and 51.7-55.2=-3.5. Rounded illustration from existing forecasts, not an estimated asset-return or risk model. Final main slide. No methods appendix follows.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6647BF7-286C-495A-BA35-C63B7AFCEDE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E141E3D3-CC72-4234-B0B6-31E434B1AC5A}"/>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36E9DBF-5A3D-4BDC-8C6C-1DCACCF9430D}"/>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25BF23E-0FB2-425D-9F22-A3C535F58FB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FC353BE8-3CFB-437E-89AD-48492D18907D}"/>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B377A07A-9E71-4EDA-BF4E-E09B502FFF1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08E4F394-14E1-445C-966C-2499526ACEE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8A11FFA9-6489-4DCC-A5B5-586606FD2331}"/>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083783F-03FC-4157-8820-0EE1B34AEE0E}"/>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D3BF7F0C-669D-4649-9E4B-9B2F405918A2}"/>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victor4628/ai-media-consumer-sentiment"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Media narratives and the&#10;consumer sentiment gap">
            <a:extLst>
              <a:ext uri="{FF2B5EF4-FFF2-40B4-BE49-F238E27FC236}">
                <a16:creationId xmlns:a16="http://schemas.microsoft.com/office/drawing/2014/main" id="{5CAF0848-2270-41C8-89BB-93D53FD94C5D}"/>
              </a:ext>
            </a:extLst>
          </p:cNvPr>
          <p:cNvSpPr>
            <a:spLocks noGrp="1"/>
          </p:cNvSpPr>
          <p:nvPr/>
        </p:nvSpPr>
        <p:spPr>
          <a:xfrm>
            <a:off x="571500" y="1476375"/>
            <a:ext cx="11049000" cy="1752600"/>
          </a:xfrm>
          <a:prstGeom prst="rect">
            <a:avLst/>
          </a:prstGeom>
          <a:noFill/>
          <a:ln w="0">
            <a:noFill/>
          </a:ln>
        </p:spPr>
        <p:txBody>
          <a:bodyPr/>
          <a:lstStyle>
            <a:defPPr>
              <a:defRPr sz="4650" b="1">
                <a:solidFill>
                  <a:srgbClr val="254C45"/>
                </a:solidFill>
                <a:latin typeface="Arial"/>
                <a:ea typeface="Arial"/>
                <a:cs typeface="Arial"/>
              </a:defRPr>
            </a:defPPr>
          </a:lstStyle>
          <a:p>
            <a:pPr>
              <a:buNone/>
              <a:defRPr sz="4650" b="1">
                <a:solidFill>
                  <a:srgbClr val="254C45"/>
                </a:solidFill>
                <a:latin typeface="Arial"/>
                <a:ea typeface="Arial"/>
                <a:cs typeface="Arial"/>
              </a:defRPr>
            </a:pPr>
            <a:r>
              <a:rPr sz="4650" b="1">
                <a:solidFill>
                  <a:srgbClr val="254C45"/>
                </a:solidFill>
                <a:latin typeface="Arial"/>
                <a:ea typeface="Arial"/>
                <a:cs typeface="Arial"/>
              </a:rPr>
              <a:t>Media narratives and the</a:t>
            </a:r>
          </a:p>
          <a:p>
            <a:pPr>
              <a:buNone/>
              <a:defRPr sz="4650" b="1">
                <a:solidFill>
                  <a:srgbClr val="254C45"/>
                </a:solidFill>
                <a:latin typeface="Arial"/>
                <a:ea typeface="Arial"/>
                <a:cs typeface="Arial"/>
              </a:defRPr>
            </a:pPr>
            <a:r>
              <a:rPr sz="4650" b="1">
                <a:solidFill>
                  <a:srgbClr val="254C45"/>
                </a:solidFill>
                <a:latin typeface="Arial"/>
                <a:ea typeface="Arial"/>
                <a:cs typeface="Arial"/>
              </a:rPr>
              <a:t>consumer sentiment gap</a:t>
            </a:r>
          </a:p>
        </p:txBody>
      </p:sp>
      <p:sp>
        <p:nvSpPr>
          <p:cNvPr id="2" name="Findings from six research questions">
            <a:extLst>
              <a:ext uri="{FF2B5EF4-FFF2-40B4-BE49-F238E27FC236}">
                <a16:creationId xmlns:a16="http://schemas.microsoft.com/office/drawing/2014/main" id="{74A853D2-4AAA-4F79-964F-8DF336E3A162}"/>
              </a:ext>
            </a:extLst>
          </p:cNvPr>
          <p:cNvSpPr>
            <a:spLocks noGrp="1"/>
          </p:cNvSpPr>
          <p:nvPr/>
        </p:nvSpPr>
        <p:spPr>
          <a:xfrm>
            <a:off x="609600" y="3524250"/>
            <a:ext cx="10763250" cy="552450"/>
          </a:xfrm>
          <a:prstGeom prst="rect">
            <a:avLst/>
          </a:prstGeom>
          <a:noFill/>
          <a:ln w="0">
            <a:noFill/>
          </a:ln>
        </p:spPr>
        <p:txBody>
          <a:bodyPr/>
          <a:lstStyle>
            <a:defPPr>
              <a:defRPr sz="2325" b="0">
                <a:solidFill>
                  <a:srgbClr val="252B29"/>
                </a:solidFill>
                <a:latin typeface="Arial"/>
                <a:ea typeface="Arial"/>
                <a:cs typeface="Arial"/>
              </a:defRPr>
            </a:defPPr>
          </a:lstStyle>
          <a:p>
            <a:pPr>
              <a:buNone/>
              <a:defRPr sz="2325" b="0">
                <a:solidFill>
                  <a:srgbClr val="252B29"/>
                </a:solidFill>
                <a:latin typeface="Arial"/>
                <a:ea typeface="Arial"/>
                <a:cs typeface="Arial"/>
              </a:defRPr>
            </a:pPr>
            <a:r>
              <a:rPr sz="2325" b="0">
                <a:solidFill>
                  <a:srgbClr val="252B29"/>
                </a:solidFill>
                <a:latin typeface="Arial"/>
                <a:ea typeface="Arial"/>
                <a:cs typeface="Arial"/>
              </a:rPr>
              <a:t>Findings from six research questions</a:t>
            </a:r>
          </a:p>
        </p:txBody>
      </p:sp>
      <p:sp>
        <p:nvSpPr>
          <p:cNvPr id="3" name="AI Applications in Finance&#10;Analysis cutoff: 16 October 2026">
            <a:extLst>
              <a:ext uri="{FF2B5EF4-FFF2-40B4-BE49-F238E27FC236}">
                <a16:creationId xmlns:a16="http://schemas.microsoft.com/office/drawing/2014/main" id="{937F2662-6333-4E8D-A0C8-B05F7DEB9095}"/>
              </a:ext>
            </a:extLst>
          </p:cNvPr>
          <p:cNvSpPr>
            <a:spLocks noGrp="1"/>
          </p:cNvSpPr>
          <p:nvPr/>
        </p:nvSpPr>
        <p:spPr>
          <a:xfrm>
            <a:off x="609600" y="6315075"/>
            <a:ext cx="10763250" cy="247650"/>
          </a:xfrm>
          <a:prstGeom prst="rect">
            <a:avLst/>
          </a:prstGeom>
          <a:noFill/>
          <a:ln w="0">
            <a:noFill/>
          </a:ln>
        </p:spPr>
        <p:txBody>
          <a:bodyPr/>
          <a:lstStyle>
            <a:defPPr>
              <a:defRPr sz="1275" b="0">
                <a:solidFill>
                  <a:srgbClr val="68766E"/>
                </a:solidFill>
                <a:latin typeface="Arial"/>
                <a:ea typeface="Arial"/>
                <a:cs typeface="Arial"/>
              </a:defRPr>
            </a:defPPr>
          </a:lstStyle>
          <a:p>
            <a:pPr>
              <a:buNone/>
              <a:defRPr sz="1275" b="0">
                <a:solidFill>
                  <a:srgbClr val="68766E"/>
                </a:solidFill>
                <a:latin typeface="Arial"/>
                <a:ea typeface="Arial"/>
                <a:cs typeface="Arial"/>
              </a:defRPr>
            </a:pPr>
            <a:r>
              <a:rPr sz="1275" b="0">
                <a:solidFill>
                  <a:srgbClr val="68766E"/>
                </a:solidFill>
                <a:latin typeface="Arial"/>
                <a:ea typeface="Arial"/>
                <a:cs typeface="Arial"/>
              </a:rPr>
              <a:t>Analysis cutoff: 16 October 2026</a:t>
            </a:r>
          </a:p>
        </p:txBody>
      </p:sp>
      <p:sp>
        <p:nvSpPr>
          <p:cNvPr id="5" name="Author">
            <a:extLst>
              <a:ext uri="{FF2B5EF4-FFF2-40B4-BE49-F238E27FC236}">
                <a16:creationId xmlns:a16="http://schemas.microsoft.com/office/drawing/2014/main" id="{FD523008-CAF9-4357-819D-9A6398EF6D89}"/>
              </a:ext>
            </a:extLst>
          </p:cNvPr>
          <p:cNvSpPr>
            <a:spLocks noGrp="1"/>
          </p:cNvSpPr>
          <p:nvPr/>
        </p:nvSpPr>
        <p:spPr>
          <a:xfrm>
            <a:off x="609600" y="4438650"/>
            <a:ext cx="10763250" cy="361950"/>
          </a:xfrm>
          <a:prstGeom prst="rect">
            <a:avLst/>
          </a:prstGeom>
          <a:noFill/>
          <a:ln w="0">
            <a:noFill/>
          </a:ln>
        </p:spPr>
        <p:txBody>
          <a:bodyPr/>
          <a:lstStyle>
            <a:defPPr>
              <a:defRPr sz="2250" b="1">
                <a:solidFill>
                  <a:srgbClr val="254C45"/>
                </a:solidFill>
                <a:latin typeface="Arial"/>
                <a:ea typeface="Arial"/>
                <a:cs typeface="Arial"/>
              </a:defRPr>
            </a:defPPr>
          </a:lstStyle>
          <a:p>
            <a:pPr>
              <a:defRPr sz="2250" b="1">
                <a:solidFill>
                  <a:srgbClr val="254C45"/>
                </a:solidFill>
                <a:latin typeface="Arial"/>
                <a:ea typeface="Arial"/>
                <a:cs typeface="Arial"/>
              </a:defRPr>
            </a:pPr>
            <a:r>
              <a:rPr sz="2250" b="1">
                <a:solidFill>
                  <a:srgbClr val="254C45"/>
                </a:solidFill>
                <a:latin typeface="Arial"/>
                <a:ea typeface="Arial"/>
                <a:cs typeface="Arial"/>
              </a:rPr>
              <a:t>Victor Chen</a:t>
            </a:r>
          </a:p>
        </p:txBody>
      </p:sp>
      <p:sp>
        <p:nvSpPr>
          <p:cNvPr id="6" name="Course">
            <a:extLst>
              <a:ext uri="{FF2B5EF4-FFF2-40B4-BE49-F238E27FC236}">
                <a16:creationId xmlns:a16="http://schemas.microsoft.com/office/drawing/2014/main" id="{A2A44919-BC21-47A3-8BF2-D55DDC04B4B9}"/>
              </a:ext>
            </a:extLst>
          </p:cNvPr>
          <p:cNvSpPr>
            <a:spLocks noGrp="1"/>
          </p:cNvSpPr>
          <p:nvPr/>
        </p:nvSpPr>
        <p:spPr>
          <a:xfrm>
            <a:off x="609600" y="4886325"/>
            <a:ext cx="10763250" cy="361950"/>
          </a:xfrm>
          <a:prstGeom prst="rect">
            <a:avLst/>
          </a:prstGeom>
          <a:noFill/>
          <a:ln w="0">
            <a:noFill/>
          </a:ln>
        </p:spPr>
        <p:txBody>
          <a:bodyPr/>
          <a:lstStyle>
            <a:defPPr>
              <a:defRPr sz="1800" b="0">
                <a:solidFill>
                  <a:srgbClr val="254C45"/>
                </a:solidFill>
                <a:latin typeface="Arial"/>
                <a:ea typeface="Arial"/>
                <a:cs typeface="Arial"/>
              </a:defRPr>
            </a:defPPr>
          </a:lstStyle>
          <a:p>
            <a:pPr>
              <a:defRPr sz="1800" b="0">
                <a:solidFill>
                  <a:srgbClr val="254C45"/>
                </a:solidFill>
                <a:latin typeface="Arial"/>
                <a:ea typeface="Arial"/>
                <a:cs typeface="Arial"/>
              </a:defRPr>
            </a:pPr>
            <a:r>
              <a:rPr sz="1800" b="0">
                <a:solidFill>
                  <a:srgbClr val="254C45"/>
                </a:solidFill>
                <a:latin typeface="Arial"/>
                <a:ea typeface="Arial"/>
                <a:cs typeface="Arial"/>
              </a:rPr>
              <a:t>FRE-GY 7871</a:t>
            </a:r>
          </a:p>
        </p:txBody>
      </p:sp>
      <p:sp>
        <p:nvSpPr>
          <p:cNvPr id="7" name="Instructor">
            <a:extLst>
              <a:ext uri="{FF2B5EF4-FFF2-40B4-BE49-F238E27FC236}">
                <a16:creationId xmlns:a16="http://schemas.microsoft.com/office/drawing/2014/main" id="{B9FA8FB4-C0A9-4C2B-A48F-730A33E38E1C}"/>
              </a:ext>
            </a:extLst>
          </p:cNvPr>
          <p:cNvSpPr>
            <a:spLocks noGrp="1"/>
          </p:cNvSpPr>
          <p:nvPr/>
        </p:nvSpPr>
        <p:spPr>
          <a:xfrm>
            <a:off x="609600" y="5248275"/>
            <a:ext cx="10763250" cy="361950"/>
          </a:xfrm>
          <a:prstGeom prst="rect">
            <a:avLst/>
          </a:prstGeom>
          <a:noFill/>
          <a:ln w="0">
            <a:noFill/>
          </a:ln>
        </p:spPr>
        <p:txBody>
          <a:bodyPr/>
          <a:lstStyle>
            <a:defPPr>
              <a:defRPr sz="1800" b="0">
                <a:solidFill>
                  <a:srgbClr val="254C45"/>
                </a:solidFill>
                <a:latin typeface="Arial"/>
                <a:ea typeface="Arial"/>
                <a:cs typeface="Arial"/>
              </a:defRPr>
            </a:defPPr>
          </a:lstStyle>
          <a:p>
            <a:pPr>
              <a:defRPr sz="1800" b="0">
                <a:solidFill>
                  <a:srgbClr val="254C45"/>
                </a:solidFill>
                <a:latin typeface="Arial"/>
                <a:ea typeface="Arial"/>
                <a:cs typeface="Arial"/>
              </a:defRPr>
            </a:pPr>
            <a:r>
              <a:rPr sz="1800" b="0">
                <a:solidFill>
                  <a:srgbClr val="254C45"/>
                </a:solidFill>
                <a:latin typeface="Arial"/>
                <a:ea typeface="Arial"/>
                <a:cs typeface="Arial"/>
              </a:rPr>
              <a:t>Instructor: Dr. Daniel Rodriguez</a:t>
            </a:r>
          </a:p>
        </p:txBody>
      </p:sp>
      <p:sp>
        <p:nvSpPr>
          <p:cNvPr id="8" name="GitHub">
            <a:extLst>
              <a:ext uri="{FF2B5EF4-FFF2-40B4-BE49-F238E27FC236}">
                <a16:creationId xmlns:a16="http://schemas.microsoft.com/office/drawing/2014/main" id="{BC986F15-5DA8-4A91-9D12-6CB9E2B31E15}"/>
              </a:ext>
            </a:extLst>
          </p:cNvPr>
          <p:cNvSpPr>
            <a:spLocks noGrp="1"/>
          </p:cNvSpPr>
          <p:nvPr/>
        </p:nvSpPr>
        <p:spPr>
          <a:xfrm>
            <a:off x="609600" y="5753100"/>
            <a:ext cx="10763250" cy="361950"/>
          </a:xfrm>
          <a:prstGeom prst="rect">
            <a:avLst/>
          </a:prstGeom>
          <a:noFill/>
          <a:ln w="0">
            <a:noFill/>
          </a:ln>
        </p:spPr>
        <p:txBody>
          <a:bodyPr/>
          <a:lstStyle>
            <a:defPPr>
              <a:defRPr sz="1650" b="0">
                <a:solidFill>
                  <a:srgbClr val="254C45"/>
                </a:solidFill>
                <a:latin typeface="Arial"/>
                <a:ea typeface="Arial"/>
                <a:cs typeface="Arial"/>
              </a:defRPr>
            </a:defPPr>
          </a:lstStyle>
          <a:p>
            <a:pPr>
              <a:defRPr sz="1650" b="0">
                <a:solidFill>
                  <a:srgbClr val="254C45"/>
                </a:solidFill>
                <a:latin typeface="Arial"/>
                <a:ea typeface="Arial"/>
                <a:cs typeface="Arial"/>
              </a:defRPr>
            </a:pPr>
            <a:r>
              <a:t>GitHub: </a:t>
            </a:r>
            <a:r>
              <a:rPr u="sng">
                <a:hlinkClick r:id="rId3"/>
              </a:rPr>
              <a:t>github.com/victor4628/ai-media-consumer-sentiment</a:t>
            </a:r>
          </a:p>
        </p:txBody>
      </p:sp>
    </p:spTree>
    <p:extLst>
      <p:ext uri="{BB962C8B-B14F-4D97-AF65-F5344CB8AC3E}">
        <p14:creationId xmlns:p14="http://schemas.microsoft.com/office/powerpoint/2010/main" val="1716196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What does the Michigan index measure?">
            <a:extLst>
              <a:ext uri="{FF2B5EF4-FFF2-40B4-BE49-F238E27FC236}">
                <a16:creationId xmlns:a16="http://schemas.microsoft.com/office/drawing/2014/main" id="{FC195E47-8DFD-4C95-ADE5-17F57107C063}"/>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What does the Michigan index measure?</a:t>
            </a:r>
          </a:p>
        </p:txBody>
      </p:sp>
      <p:sp>
        <p:nvSpPr>
          <p:cNvPr id="2" name="Five survey answers combine current conditions and expectations">
            <a:extLst>
              <a:ext uri="{FF2B5EF4-FFF2-40B4-BE49-F238E27FC236}">
                <a16:creationId xmlns:a16="http://schemas.microsoft.com/office/drawing/2014/main" id="{13F1E627-BC75-4F4C-BCD5-8F821D70ED50}"/>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defRPr sz="2175" b="1">
                <a:solidFill>
                  <a:srgbClr val="252B29"/>
                </a:solidFill>
                <a:latin typeface="Arial"/>
                <a:ea typeface="Arial"/>
                <a:cs typeface="Arial"/>
              </a:defRPr>
            </a:pPr>
            <a:r>
              <a:rPr sz="2175" b="1">
                <a:solidFill>
                  <a:srgbClr val="252B29"/>
                </a:solidFill>
                <a:latin typeface="Arial"/>
                <a:ea typeface="Arial"/>
                <a:cs typeface="Arial"/>
              </a:rPr>
              <a:t>Five survey answers combine current conditions and expectations</a:t>
            </a:r>
          </a:p>
        </p:txBody>
      </p:sp>
      <p:sp>
        <p:nvSpPr>
          <p:cNvPr id="3" name="02">
            <a:extLst>
              <a:ext uri="{FF2B5EF4-FFF2-40B4-BE49-F238E27FC236}">
                <a16:creationId xmlns:a16="http://schemas.microsoft.com/office/drawing/2014/main" id="{74876D34-C79E-47AB-B4E2-C89770007071}"/>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02</a:t>
            </a:r>
          </a:p>
        </p:txBody>
      </p:sp>
      <p:sp>
        <p:nvSpPr>
          <p:cNvPr id="4" name="Current conditions">
            <a:extLst>
              <a:ext uri="{FF2B5EF4-FFF2-40B4-BE49-F238E27FC236}">
                <a16:creationId xmlns:a16="http://schemas.microsoft.com/office/drawing/2014/main" id="{5E791B5D-4E4A-4FCF-A1A8-2847C94BD7F4}"/>
              </a:ext>
            </a:extLst>
          </p:cNvPr>
          <p:cNvSpPr>
            <a:spLocks noGrp="1"/>
          </p:cNvSpPr>
          <p:nvPr/>
        </p:nvSpPr>
        <p:spPr>
          <a:xfrm>
            <a:off x="619125" y="2381250"/>
            <a:ext cx="4953000" cy="457200"/>
          </a:xfrm>
          <a:prstGeom prst="rect">
            <a:avLst/>
          </a:prstGeom>
          <a:noFill/>
          <a:ln w="0">
            <a:noFill/>
          </a:ln>
        </p:spPr>
        <p:txBody>
          <a:bodyPr/>
          <a:lstStyle>
            <a:defPPr>
              <a:defRPr sz="2175" b="1">
                <a:solidFill>
                  <a:srgbClr val="254C45"/>
                </a:solidFill>
                <a:latin typeface="Arial"/>
                <a:ea typeface="Arial"/>
                <a:cs typeface="Arial"/>
              </a:defRPr>
            </a:defPPr>
          </a:lstStyle>
          <a:p>
            <a:pPr>
              <a:defRPr sz="2175" b="1">
                <a:solidFill>
                  <a:srgbClr val="254C45"/>
                </a:solidFill>
                <a:latin typeface="Arial"/>
                <a:ea typeface="Arial"/>
                <a:cs typeface="Arial"/>
              </a:defRPr>
            </a:pPr>
            <a:r>
              <a:rPr sz="2175" b="1">
                <a:solidFill>
                  <a:srgbClr val="254C45"/>
                </a:solidFill>
                <a:latin typeface="Arial"/>
                <a:ea typeface="Arial"/>
                <a:cs typeface="Arial"/>
              </a:rPr>
              <a:t>Current conditions</a:t>
            </a:r>
          </a:p>
        </p:txBody>
      </p:sp>
      <p:sp>
        <p:nvSpPr>
          <p:cNvPr id="5" name="Family finances versus a year ago&#10;Buying major household items">
            <a:extLst>
              <a:ext uri="{FF2B5EF4-FFF2-40B4-BE49-F238E27FC236}">
                <a16:creationId xmlns:a16="http://schemas.microsoft.com/office/drawing/2014/main" id="{B139BD6D-6857-4523-A1BC-4B818397D988}"/>
              </a:ext>
            </a:extLst>
          </p:cNvPr>
          <p:cNvSpPr>
            <a:spLocks noGrp="1"/>
          </p:cNvSpPr>
          <p:nvPr/>
        </p:nvSpPr>
        <p:spPr>
          <a:xfrm>
            <a:off x="619125" y="2952750"/>
            <a:ext cx="5095875" cy="1009650"/>
          </a:xfrm>
          <a:prstGeom prst="rect">
            <a:avLst/>
          </a:prstGeom>
          <a:noFill/>
          <a:ln w="0">
            <a:noFill/>
          </a:ln>
        </p:spPr>
        <p:txBody>
          <a:bodyPr/>
          <a:lstStyle>
            <a:defPPr>
              <a:defRPr sz="2100" b="0">
                <a:solidFill>
                  <a:srgbClr val="252B29"/>
                </a:solidFill>
                <a:latin typeface="Arial"/>
                <a:ea typeface="Arial"/>
                <a:cs typeface="Arial"/>
              </a:defRPr>
            </a:defPPr>
          </a:lstStyle>
          <a:p>
            <a:pPr>
              <a:defRPr sz="2100" b="0">
                <a:solidFill>
                  <a:srgbClr val="252B29"/>
                </a:solidFill>
                <a:latin typeface="Arial"/>
                <a:ea typeface="Arial"/>
                <a:cs typeface="Arial"/>
              </a:defRPr>
            </a:pPr>
            <a:r>
              <a:rPr sz="2100" b="0">
                <a:solidFill>
                  <a:srgbClr val="252B29"/>
                </a:solidFill>
                <a:latin typeface="Arial"/>
                <a:ea typeface="Arial"/>
                <a:cs typeface="Arial"/>
              </a:rPr>
              <a:t>Family finances versus a year ago</a:t>
            </a:r>
          </a:p>
          <a:p>
            <a:pPr>
              <a:defRPr sz="2100" b="0">
                <a:solidFill>
                  <a:srgbClr val="252B29"/>
                </a:solidFill>
                <a:latin typeface="Arial"/>
                <a:ea typeface="Arial"/>
                <a:cs typeface="Arial"/>
              </a:defRPr>
            </a:pPr>
            <a:r>
              <a:rPr sz="2100" b="0">
                <a:solidFill>
                  <a:srgbClr val="252B29"/>
                </a:solidFill>
                <a:latin typeface="Arial"/>
                <a:ea typeface="Arial"/>
                <a:cs typeface="Arial"/>
              </a:rPr>
              <a:t>Buying major household items</a:t>
            </a:r>
          </a:p>
        </p:txBody>
      </p:sp>
      <p:sp>
        <p:nvSpPr>
          <p:cNvPr id="6" name="Expectations">
            <a:extLst>
              <a:ext uri="{FF2B5EF4-FFF2-40B4-BE49-F238E27FC236}">
                <a16:creationId xmlns:a16="http://schemas.microsoft.com/office/drawing/2014/main" id="{2F71486B-DF73-46CC-A04C-AFE6C3C5A6B7}"/>
              </a:ext>
            </a:extLst>
          </p:cNvPr>
          <p:cNvSpPr>
            <a:spLocks noGrp="1"/>
          </p:cNvSpPr>
          <p:nvPr/>
        </p:nvSpPr>
        <p:spPr>
          <a:xfrm>
            <a:off x="6429375" y="2381250"/>
            <a:ext cx="5095875" cy="457200"/>
          </a:xfrm>
          <a:prstGeom prst="rect">
            <a:avLst/>
          </a:prstGeom>
          <a:noFill/>
          <a:ln w="0">
            <a:noFill/>
          </a:ln>
        </p:spPr>
        <p:txBody>
          <a:bodyPr/>
          <a:lstStyle>
            <a:defPPr>
              <a:defRPr sz="2175" b="1">
                <a:solidFill>
                  <a:srgbClr val="254C45"/>
                </a:solidFill>
                <a:latin typeface="Arial"/>
                <a:ea typeface="Arial"/>
                <a:cs typeface="Arial"/>
              </a:defRPr>
            </a:defPPr>
          </a:lstStyle>
          <a:p>
            <a:pPr>
              <a:defRPr sz="2175" b="1">
                <a:solidFill>
                  <a:srgbClr val="254C45"/>
                </a:solidFill>
                <a:latin typeface="Arial"/>
                <a:ea typeface="Arial"/>
                <a:cs typeface="Arial"/>
              </a:defRPr>
            </a:pPr>
            <a:r>
              <a:rPr sz="2175" b="1">
                <a:solidFill>
                  <a:srgbClr val="254C45"/>
                </a:solidFill>
                <a:latin typeface="Arial"/>
                <a:ea typeface="Arial"/>
                <a:cs typeface="Arial"/>
              </a:rPr>
              <a:t>Expectations</a:t>
            </a:r>
          </a:p>
        </p:txBody>
      </p:sp>
      <p:sp>
        <p:nvSpPr>
          <p:cNvPr id="7" name="Family finances one year ahead&#10;National outlook over one and five year">
            <a:extLst>
              <a:ext uri="{FF2B5EF4-FFF2-40B4-BE49-F238E27FC236}">
                <a16:creationId xmlns:a16="http://schemas.microsoft.com/office/drawing/2014/main" id="{EB76E513-7193-4210-AE13-810012E94832}"/>
              </a:ext>
            </a:extLst>
          </p:cNvPr>
          <p:cNvSpPr>
            <a:spLocks noGrp="1"/>
          </p:cNvSpPr>
          <p:nvPr/>
        </p:nvSpPr>
        <p:spPr>
          <a:xfrm>
            <a:off x="6429375" y="2952750"/>
            <a:ext cx="5095875" cy="1009650"/>
          </a:xfrm>
          <a:prstGeom prst="rect">
            <a:avLst/>
          </a:prstGeom>
          <a:noFill/>
          <a:ln w="0">
            <a:noFill/>
          </a:ln>
        </p:spPr>
        <p:txBody>
          <a:bodyPr/>
          <a:lstStyle>
            <a:defPPr>
              <a:defRPr sz="2100" b="0">
                <a:solidFill>
                  <a:srgbClr val="252B29"/>
                </a:solidFill>
                <a:latin typeface="Arial"/>
                <a:ea typeface="Arial"/>
                <a:cs typeface="Arial"/>
              </a:defRPr>
            </a:defPPr>
          </a:lstStyle>
          <a:p>
            <a:pPr>
              <a:defRPr sz="2100" b="0">
                <a:solidFill>
                  <a:srgbClr val="252B29"/>
                </a:solidFill>
                <a:latin typeface="Arial"/>
                <a:ea typeface="Arial"/>
                <a:cs typeface="Arial"/>
              </a:defRPr>
            </a:pPr>
            <a:r>
              <a:rPr sz="2100" b="0">
                <a:solidFill>
                  <a:srgbClr val="252B29"/>
                </a:solidFill>
                <a:latin typeface="Arial"/>
                <a:ea typeface="Arial"/>
                <a:cs typeface="Arial"/>
              </a:rPr>
              <a:t>Family finances one year ahead</a:t>
            </a:r>
          </a:p>
          <a:p>
            <a:pPr>
              <a:defRPr sz="2100" b="0">
                <a:solidFill>
                  <a:srgbClr val="252B29"/>
                </a:solidFill>
                <a:latin typeface="Arial"/>
                <a:ea typeface="Arial"/>
                <a:cs typeface="Arial"/>
              </a:defRPr>
            </a:pPr>
            <a:r>
              <a:rPr sz="2100" b="0">
                <a:solidFill>
                  <a:srgbClr val="252B29"/>
                </a:solidFill>
                <a:latin typeface="Arial"/>
                <a:ea typeface="Arial"/>
                <a:cs typeface="Arial"/>
              </a:rPr>
              <a:t>National outlook over one and five years</a:t>
            </a:r>
          </a:p>
        </p:txBody>
      </p:sp>
      <p:sp>
        <p:nvSpPr>
          <p:cNvPr id="8" name="xᵢ = round(100 + favorable % − unfavorable %)">
            <a:extLst>
              <a:ext uri="{FF2B5EF4-FFF2-40B4-BE49-F238E27FC236}">
                <a16:creationId xmlns:a16="http://schemas.microsoft.com/office/drawing/2014/main" id="{39488885-342C-41EA-9FCF-2F184EA719DA}"/>
              </a:ext>
            </a:extLst>
          </p:cNvPr>
          <p:cNvSpPr>
            <a:spLocks noGrp="1"/>
          </p:cNvSpPr>
          <p:nvPr/>
        </p:nvSpPr>
        <p:spPr>
          <a:xfrm>
            <a:off x="628650" y="4324350"/>
            <a:ext cx="10858500" cy="466725"/>
          </a:xfrm>
          <a:prstGeom prst="rect">
            <a:avLst/>
          </a:prstGeom>
          <a:noFill/>
          <a:ln w="0">
            <a:noFill/>
          </a:ln>
        </p:spPr>
        <p:txBody>
          <a:bodyPr/>
          <a:lstStyle>
            <a:defPPr>
              <a:defRPr sz="2325" b="1">
                <a:solidFill>
                  <a:srgbClr val="254C45"/>
                </a:solidFill>
                <a:latin typeface="Arial"/>
                <a:ea typeface="Arial"/>
                <a:cs typeface="Arial"/>
              </a:defRPr>
            </a:defPPr>
          </a:lstStyle>
          <a:p>
            <a:pPr>
              <a:defRPr sz="2325" b="1">
                <a:solidFill>
                  <a:srgbClr val="254C45"/>
                </a:solidFill>
                <a:latin typeface="Arial"/>
                <a:ea typeface="Arial"/>
                <a:cs typeface="Arial"/>
              </a:defRPr>
            </a:pPr>
            <a:r>
              <a:rPr sz="2325" b="1">
                <a:solidFill>
                  <a:srgbClr val="254C45"/>
                </a:solidFill>
                <a:latin typeface="Arial"/>
                <a:ea typeface="Arial"/>
                <a:cs typeface="Arial"/>
              </a:rPr>
              <a:t>xᵢ = round(100 + favorable % − unfavorable %)</a:t>
            </a:r>
          </a:p>
        </p:txBody>
      </p:sp>
      <p:sp>
        <p:nvSpPr>
          <p:cNvPr id="9" name="ICS = (x₁ + x₂ + x₃ + x₄ + x₅) / 6.7558 + 2">
            <a:extLst>
              <a:ext uri="{FF2B5EF4-FFF2-40B4-BE49-F238E27FC236}">
                <a16:creationId xmlns:a16="http://schemas.microsoft.com/office/drawing/2014/main" id="{A592B77D-1E76-49BE-AFA4-4F6576286782}"/>
              </a:ext>
            </a:extLst>
          </p:cNvPr>
          <p:cNvSpPr>
            <a:spLocks noGrp="1"/>
          </p:cNvSpPr>
          <p:nvPr/>
        </p:nvSpPr>
        <p:spPr>
          <a:xfrm>
            <a:off x="628650" y="5029200"/>
            <a:ext cx="10858500" cy="552450"/>
          </a:xfrm>
          <a:prstGeom prst="rect">
            <a:avLst/>
          </a:prstGeom>
          <a:noFill/>
          <a:ln w="0">
            <a:noFill/>
          </a:ln>
        </p:spPr>
        <p:txBody>
          <a:bodyPr/>
          <a:lstStyle>
            <a:defPPr>
              <a:defRPr sz="2625" b="1">
                <a:solidFill>
                  <a:srgbClr val="254C45"/>
                </a:solidFill>
                <a:latin typeface="Arial"/>
                <a:ea typeface="Arial"/>
                <a:cs typeface="Arial"/>
              </a:defRPr>
            </a:defPPr>
          </a:lstStyle>
          <a:p>
            <a:pPr>
              <a:defRPr sz="2625" b="1">
                <a:solidFill>
                  <a:srgbClr val="254C45"/>
                </a:solidFill>
                <a:latin typeface="Arial"/>
                <a:ea typeface="Arial"/>
                <a:cs typeface="Arial"/>
              </a:defRPr>
            </a:pPr>
            <a:r>
              <a:rPr sz="2625" b="1">
                <a:solidFill>
                  <a:srgbClr val="254C45"/>
                </a:solidFill>
                <a:latin typeface="Arial"/>
                <a:ea typeface="Arial"/>
                <a:cs typeface="Arial"/>
              </a:rPr>
              <a:t>ICS = (x₁ + x₂ + x₃ + x₄ + x₅) / 6.7558 + 2</a:t>
            </a:r>
          </a:p>
        </p:txBody>
      </p:sp>
      <p:sp>
        <p:nvSpPr>
          <p:cNvPr id="10" name="The five relative scores describe survey responses. Source: University">
            <a:extLst>
              <a:ext uri="{FF2B5EF4-FFF2-40B4-BE49-F238E27FC236}">
                <a16:creationId xmlns:a16="http://schemas.microsoft.com/office/drawing/2014/main" id="{5C98432B-581F-4980-9575-F3C3A310F31D}"/>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defRPr sz="1350" b="0">
                <a:solidFill>
                  <a:srgbClr val="68766E"/>
                </a:solidFill>
                <a:latin typeface="Arial"/>
                <a:ea typeface="Arial"/>
                <a:cs typeface="Arial"/>
              </a:defRPr>
            </a:pPr>
            <a:r>
              <a:rPr sz="1350" b="0">
                <a:solidFill>
                  <a:srgbClr val="68766E"/>
                </a:solidFill>
                <a:latin typeface="Arial"/>
                <a:ea typeface="Arial"/>
                <a:cs typeface="Arial"/>
              </a:rPr>
              <a:t>The five relative scores describe survey responses. Source: University of Michigan, Index Calculations.</a:t>
            </a:r>
          </a:p>
        </p:txBody>
      </p:sp>
    </p:spTree>
    <p:extLst>
      <p:ext uri="{BB962C8B-B14F-4D97-AF65-F5344CB8AC3E}">
        <p14:creationId xmlns:p14="http://schemas.microsoft.com/office/powerpoint/2010/main" val="1858512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Q1. How can we measure bias in news and social media?">
            <a:extLst>
              <a:ext uri="{FF2B5EF4-FFF2-40B4-BE49-F238E27FC236}">
                <a16:creationId xmlns:a16="http://schemas.microsoft.com/office/drawing/2014/main" id="{95A22D7D-1867-4324-998D-DFF221E2B4BB}"/>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RQ1. How can we measure bias in news and social media?</a:t>
            </a:r>
          </a:p>
        </p:txBody>
      </p:sp>
      <p:sp>
        <p:nvSpPr>
          <p:cNvPr id="2" name="Emotional language differs much more than negative economic tone">
            <a:extLst>
              <a:ext uri="{FF2B5EF4-FFF2-40B4-BE49-F238E27FC236}">
                <a16:creationId xmlns:a16="http://schemas.microsoft.com/office/drawing/2014/main" id="{FC463838-FF08-4EED-9488-5FB360E1D698}"/>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defRPr sz="2175" b="1">
                <a:solidFill>
                  <a:srgbClr val="252B29"/>
                </a:solidFill>
                <a:latin typeface="Arial"/>
                <a:ea typeface="Arial"/>
                <a:cs typeface="Arial"/>
              </a:defRPr>
            </a:pPr>
            <a:r>
              <a:rPr sz="2175" b="1">
                <a:solidFill>
                  <a:srgbClr val="252B29"/>
                </a:solidFill>
                <a:latin typeface="Arial"/>
                <a:ea typeface="Arial"/>
                <a:cs typeface="Arial"/>
              </a:rPr>
              <a:t>Emotional language differs much more than negative economic tone</a:t>
            </a:r>
          </a:p>
        </p:txBody>
      </p:sp>
      <p:sp>
        <p:nvSpPr>
          <p:cNvPr id="3" name="03">
            <a:extLst>
              <a:ext uri="{FF2B5EF4-FFF2-40B4-BE49-F238E27FC236}">
                <a16:creationId xmlns:a16="http://schemas.microsoft.com/office/drawing/2014/main" id="{DBAC26D5-1C04-4857-87EA-60AE7D89B2B8}"/>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03</a:t>
            </a:r>
          </a:p>
        </p:txBody>
      </p:sp>
      <p:graphicFrame>
        <p:nvGraphicFramePr>
          <p:cNvPr id="4" name="Chart">
            <a:extLst>
              <a:ext uri="{FF2B5EF4-FFF2-40B4-BE49-F238E27FC236}">
                <a16:creationId xmlns:a16="http://schemas.microsoft.com/office/drawing/2014/main" id="{974A5DC6-58B6-463E-B6F2-3519D06ED315}"/>
              </a:ext>
            </a:extLst>
          </p:cNvPr>
          <p:cNvGraphicFramePr/>
          <p:nvPr/>
        </p:nvGraphicFramePr>
        <p:xfrm>
          <a:off x="552450" y="2276475"/>
          <a:ext cx="10953750" cy="3343275"/>
        </p:xfrm>
        <a:graphic>
          <a:graphicData uri="http://schemas.openxmlformats.org/drawingml/2006/chart">
            <c:chart xmlns:c="http://schemas.openxmlformats.org/drawingml/2006/chart" xmlns:r="http://schemas.openxmlformats.org/officeDocument/2006/relationships" r:id="rId3"/>
          </a:graphicData>
        </a:graphic>
      </p:graphicFrame>
      <p:sp>
        <p:nvSpPr>
          <p:cNvPr id="5" name="230 eligible headlines + 829 X posts from 1,473 coded texts. October 2">
            <a:extLst>
              <a:ext uri="{FF2B5EF4-FFF2-40B4-BE49-F238E27FC236}">
                <a16:creationId xmlns:a16="http://schemas.microsoft.com/office/drawing/2014/main" id="{F60435F9-2956-4608-9547-B91D53E37C1C}"/>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buNone/>
              <a:defRPr sz="1350" b="0">
                <a:solidFill>
                  <a:srgbClr val="68766E"/>
                </a:solidFill>
                <a:latin typeface="Arial"/>
                <a:ea typeface="Arial"/>
                <a:cs typeface="Arial"/>
              </a:defRPr>
            </a:pPr>
            <a:r>
              <a:rPr sz="1350" b="0">
                <a:solidFill>
                  <a:srgbClr val="68766E"/>
                </a:solidFill>
                <a:latin typeface="Arial"/>
                <a:ea typeface="Arial"/>
                <a:cs typeface="Arial"/>
              </a:rPr>
              <a:t>Corpus: 230 headlines + 829 X posts, October 2019–July 2026.</a:t>
            </a:r>
          </a:p>
          <a:p>
            <a:pPr>
              <a:buNone/>
              <a:defRPr sz="1350" b="0">
                <a:solidFill>
                  <a:srgbClr val="68766E"/>
                </a:solidFill>
                <a:latin typeface="Arial"/>
                <a:ea typeface="Arial"/>
                <a:cs typeface="Arial"/>
              </a:defRPr>
            </a:pPr>
            <a:r>
              <a:rPr sz="1350" b="0">
                <a:solidFill>
                  <a:srgbClr val="68766E"/>
                </a:solidFill>
                <a:latin typeface="Arial"/>
                <a:ea typeface="Arial"/>
                <a:cs typeface="Arial"/>
              </a:rPr>
              <a:t>One human reference. Held-out tone macro-F1: 0.602 (196 valid pairs).</a:t>
            </a:r>
          </a:p>
        </p:txBody>
      </p:sp>
    </p:spTree>
    <p:extLst>
      <p:ext uri="{BB962C8B-B14F-4D97-AF65-F5344CB8AC3E}">
        <p14:creationId xmlns:p14="http://schemas.microsoft.com/office/powerpoint/2010/main" val="1439771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Q2. Did media depress U.S. sentiment before the 2026 midterms?">
            <a:extLst>
              <a:ext uri="{FF2B5EF4-FFF2-40B4-BE49-F238E27FC236}">
                <a16:creationId xmlns:a16="http://schemas.microsoft.com/office/drawing/2014/main" id="{C4F1E1BF-5196-43B0-A19F-920F0A92F0FD}"/>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RQ2. Did media depress U.S. sentiment before the 2026 midterms?</a:t>
            </a:r>
          </a:p>
        </p:txBody>
      </p:sp>
      <p:sp>
        <p:nvSpPr>
          <p:cNvPr id="2" name="The estimated gap changes with the economic benchmark">
            <a:extLst>
              <a:ext uri="{FF2B5EF4-FFF2-40B4-BE49-F238E27FC236}">
                <a16:creationId xmlns:a16="http://schemas.microsoft.com/office/drawing/2014/main" id="{C366612A-0171-4E5C-AA76-065300ECA800}"/>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defRPr sz="2175" b="1">
                <a:solidFill>
                  <a:srgbClr val="252B29"/>
                </a:solidFill>
                <a:latin typeface="Arial"/>
                <a:ea typeface="Arial"/>
                <a:cs typeface="Arial"/>
              </a:defRPr>
            </a:pPr>
            <a:r>
              <a:rPr sz="2175" b="1">
                <a:solidFill>
                  <a:srgbClr val="252B29"/>
                </a:solidFill>
                <a:latin typeface="Arial"/>
                <a:ea typeface="Arial"/>
                <a:cs typeface="Arial"/>
              </a:rPr>
              <a:t>The estimated gap changes with the economic benchmark</a:t>
            </a:r>
          </a:p>
        </p:txBody>
      </p:sp>
      <p:sp>
        <p:nvSpPr>
          <p:cNvPr id="3" name="04">
            <a:extLst>
              <a:ext uri="{FF2B5EF4-FFF2-40B4-BE49-F238E27FC236}">
                <a16:creationId xmlns:a16="http://schemas.microsoft.com/office/drawing/2014/main" id="{9B0C015C-F2A1-4E1F-BADD-5F86837273F2}"/>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04</a:t>
            </a:r>
          </a:p>
        </p:txBody>
      </p:sp>
      <p:graphicFrame>
        <p:nvGraphicFramePr>
          <p:cNvPr id="4" name="Chart">
            <a:extLst>
              <a:ext uri="{FF2B5EF4-FFF2-40B4-BE49-F238E27FC236}">
                <a16:creationId xmlns:a16="http://schemas.microsoft.com/office/drawing/2014/main" id="{5CEBB902-D694-472D-BADD-948032D764BB}"/>
              </a:ext>
            </a:extLst>
          </p:cNvPr>
          <p:cNvGraphicFramePr/>
          <p:nvPr/>
        </p:nvGraphicFramePr>
        <p:xfrm>
          <a:off x="552450" y="2324100"/>
          <a:ext cx="10744200" cy="3067050"/>
        </p:xfrm>
        <a:graphic>
          <a:graphicData uri="http://schemas.openxmlformats.org/drawingml/2006/chart">
            <c:chart xmlns:c="http://schemas.openxmlformats.org/drawingml/2006/chart" xmlns:r="http://schemas.openxmlformats.org/officeDocument/2006/relationships" r:id="rId3"/>
          </a:graphicData>
        </a:graphic>
      </p:graphicFrame>
      <p:sp>
        <p:nvSpPr>
          <p:cNvPr id="5" name="Actual respondent exposure is missing, so a causal media effect remain">
            <a:extLst>
              <a:ext uri="{FF2B5EF4-FFF2-40B4-BE49-F238E27FC236}">
                <a16:creationId xmlns:a16="http://schemas.microsoft.com/office/drawing/2014/main" id="{A7F7FF21-DDBE-4551-9DDD-B42B6E52C2BA}"/>
              </a:ext>
            </a:extLst>
          </p:cNvPr>
          <p:cNvSpPr>
            <a:spLocks noGrp="1"/>
          </p:cNvSpPr>
          <p:nvPr/>
        </p:nvSpPr>
        <p:spPr>
          <a:xfrm>
            <a:off x="609600" y="5543550"/>
            <a:ext cx="10858500" cy="514350"/>
          </a:xfrm>
          <a:prstGeom prst="rect">
            <a:avLst/>
          </a:prstGeom>
          <a:noFill/>
          <a:ln w="0">
            <a:noFill/>
          </a:ln>
        </p:spPr>
        <p:txBody>
          <a:bodyPr/>
          <a:lstStyle>
            <a:defPPr>
              <a:defRPr sz="1875" b="1">
                <a:solidFill>
                  <a:srgbClr val="254C45"/>
                </a:solidFill>
                <a:latin typeface="Arial"/>
                <a:ea typeface="Arial"/>
                <a:cs typeface="Arial"/>
              </a:defRPr>
            </a:defPPr>
          </a:lstStyle>
          <a:p>
            <a:pPr>
              <a:defRPr sz="1875" b="1">
                <a:solidFill>
                  <a:srgbClr val="254C45"/>
                </a:solidFill>
                <a:latin typeface="Arial"/>
                <a:ea typeface="Arial"/>
                <a:cs typeface="Arial"/>
              </a:defRPr>
            </a:pPr>
            <a:r>
              <a:rPr sz="1875" b="1">
                <a:solidFill>
                  <a:srgbClr val="254C45"/>
                </a:solidFill>
                <a:latin typeface="Arial"/>
                <a:ea typeface="Arial"/>
                <a:cs typeface="Arial"/>
              </a:rPr>
              <a:t>Actual respondent exposure is missing, so a causal media effect remains unidentified.</a:t>
            </a:r>
          </a:p>
        </p:txBody>
      </p:sp>
      <p:sp>
        <p:nvSpPr>
          <p:cNvPr id="6" name="July media forecasts August sentiment. The final weeks before the Nove">
            <a:extLst>
              <a:ext uri="{FF2B5EF4-FFF2-40B4-BE49-F238E27FC236}">
                <a16:creationId xmlns:a16="http://schemas.microsoft.com/office/drawing/2014/main" id="{8C5304A4-F227-4DC6-BDBD-95CDB7DAE5F3}"/>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defRPr sz="1350" b="0">
                <a:solidFill>
                  <a:srgbClr val="68766E"/>
                </a:solidFill>
                <a:latin typeface="Arial"/>
                <a:ea typeface="Arial"/>
                <a:cs typeface="Arial"/>
              </a:defRPr>
            </a:pPr>
            <a:r>
              <a:rPr sz="1350" b="0">
                <a:solidFill>
                  <a:srgbClr val="68766E"/>
                </a:solidFill>
                <a:latin typeface="Arial"/>
                <a:ea typeface="Arial"/>
                <a:cs typeface="Arial"/>
              </a:rPr>
              <a:t>July media forecasts August sentiment. The final weeks before the November election are outside this sample.</a:t>
            </a:r>
          </a:p>
        </p:txBody>
      </p:sp>
    </p:spTree>
    <p:extLst>
      <p:ext uri="{BB962C8B-B14F-4D97-AF65-F5344CB8AC3E}">
        <p14:creationId xmlns:p14="http://schemas.microsoft.com/office/powerpoint/2010/main" val="18393501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Q3. How much can unemployment, inflation and GDP growth explain?">
            <a:extLst>
              <a:ext uri="{FF2B5EF4-FFF2-40B4-BE49-F238E27FC236}">
                <a16:creationId xmlns:a16="http://schemas.microsoft.com/office/drawing/2014/main" id="{96175861-BEBA-4B9D-B579-211F85780185}"/>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RQ3. How much can unemployment, inflation and GDP growth explain?</a:t>
            </a:r>
          </a:p>
        </p:txBody>
      </p:sp>
      <p:sp>
        <p:nvSpPr>
          <p:cNvPr id="2" name="Accumulated prices substantially reduce the model’s residual gap">
            <a:extLst>
              <a:ext uri="{FF2B5EF4-FFF2-40B4-BE49-F238E27FC236}">
                <a16:creationId xmlns:a16="http://schemas.microsoft.com/office/drawing/2014/main" id="{256BD0C1-5323-4EBC-9F16-587841210488}"/>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defRPr sz="2175" b="1">
                <a:solidFill>
                  <a:srgbClr val="252B29"/>
                </a:solidFill>
                <a:latin typeface="Arial"/>
                <a:ea typeface="Arial"/>
                <a:cs typeface="Arial"/>
              </a:defRPr>
            </a:pPr>
            <a:r>
              <a:rPr sz="2175" b="1">
                <a:solidFill>
                  <a:srgbClr val="252B29"/>
                </a:solidFill>
                <a:latin typeface="Arial"/>
                <a:ea typeface="Arial"/>
                <a:cs typeface="Arial"/>
              </a:rPr>
              <a:t>Accumulated prices substantially reduce the model’s residual gap</a:t>
            </a:r>
          </a:p>
        </p:txBody>
      </p:sp>
      <p:sp>
        <p:nvSpPr>
          <p:cNvPr id="3" name="05">
            <a:extLst>
              <a:ext uri="{FF2B5EF4-FFF2-40B4-BE49-F238E27FC236}">
                <a16:creationId xmlns:a16="http://schemas.microsoft.com/office/drawing/2014/main" id="{D0DCCE9D-3120-4EB4-B840-B8BF4C088E97}"/>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05</a:t>
            </a:r>
          </a:p>
        </p:txBody>
      </p:sp>
      <p:graphicFrame>
        <p:nvGraphicFramePr>
          <p:cNvPr id="4" name="Chart">
            <a:extLst>
              <a:ext uri="{FF2B5EF4-FFF2-40B4-BE49-F238E27FC236}">
                <a16:creationId xmlns:a16="http://schemas.microsoft.com/office/drawing/2014/main" id="{1E03B006-3C20-46CB-A125-8617533054C7}"/>
              </a:ext>
            </a:extLst>
          </p:cNvPr>
          <p:cNvGraphicFramePr/>
          <p:nvPr/>
        </p:nvGraphicFramePr>
        <p:xfrm>
          <a:off x="523875" y="2286000"/>
          <a:ext cx="7667625"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5" name="44.9-point decline">
            <a:extLst>
              <a:ext uri="{FF2B5EF4-FFF2-40B4-BE49-F238E27FC236}">
                <a16:creationId xmlns:a16="http://schemas.microsoft.com/office/drawing/2014/main" id="{CDE315FE-0BBD-4BEA-AFD1-824274552098}"/>
              </a:ext>
            </a:extLst>
          </p:cNvPr>
          <p:cNvSpPr>
            <a:spLocks noGrp="1"/>
          </p:cNvSpPr>
          <p:nvPr/>
        </p:nvSpPr>
        <p:spPr>
          <a:xfrm>
            <a:off x="8572500" y="2419350"/>
            <a:ext cx="2905125" cy="428625"/>
          </a:xfrm>
          <a:prstGeom prst="rect">
            <a:avLst/>
          </a:prstGeom>
          <a:noFill/>
          <a:ln w="0">
            <a:noFill/>
          </a:ln>
        </p:spPr>
        <p:txBody>
          <a:bodyPr/>
          <a:lstStyle>
            <a:defPPr>
              <a:defRPr sz="2250" b="1">
                <a:solidFill>
                  <a:srgbClr val="254C45"/>
                </a:solidFill>
                <a:latin typeface="Arial"/>
                <a:ea typeface="Arial"/>
                <a:cs typeface="Arial"/>
              </a:defRPr>
            </a:defPPr>
          </a:lstStyle>
          <a:p>
            <a:pPr>
              <a:defRPr sz="2250" b="1">
                <a:solidFill>
                  <a:srgbClr val="254C45"/>
                </a:solidFill>
                <a:latin typeface="Arial"/>
                <a:ea typeface="Arial"/>
                <a:cs typeface="Arial"/>
              </a:defRPr>
            </a:pPr>
            <a:r>
              <a:rPr sz="2250" b="1">
                <a:solidFill>
                  <a:srgbClr val="254C45"/>
                </a:solidFill>
                <a:latin typeface="Arial"/>
                <a:ea typeface="Arial"/>
                <a:cs typeface="Arial"/>
              </a:rPr>
              <a:t>44.9-point decline</a:t>
            </a:r>
          </a:p>
        </p:txBody>
      </p:sp>
      <p:sp>
        <p:nvSpPr>
          <p:cNvPr id="6" name="2017–2019 mean: 97.0&#10;June–August 2026: 52.1">
            <a:extLst>
              <a:ext uri="{FF2B5EF4-FFF2-40B4-BE49-F238E27FC236}">
                <a16:creationId xmlns:a16="http://schemas.microsoft.com/office/drawing/2014/main" id="{626146C7-80E3-404E-B970-8BE9E2690922}"/>
              </a:ext>
            </a:extLst>
          </p:cNvPr>
          <p:cNvSpPr>
            <a:spLocks noGrp="1"/>
          </p:cNvSpPr>
          <p:nvPr/>
        </p:nvSpPr>
        <p:spPr>
          <a:xfrm>
            <a:off x="8572500" y="2924175"/>
            <a:ext cx="2952750" cy="809625"/>
          </a:xfrm>
          <a:prstGeom prst="rect">
            <a:avLst/>
          </a:prstGeom>
          <a:noFill/>
          <a:ln w="0">
            <a:noFill/>
          </a:ln>
        </p:spPr>
        <p:txBody>
          <a:bodyPr/>
          <a:lstStyle>
            <a:defPPr>
              <a:defRPr sz="1875" b="0">
                <a:solidFill>
                  <a:srgbClr val="252B29"/>
                </a:solidFill>
                <a:latin typeface="Arial"/>
                <a:ea typeface="Arial"/>
                <a:cs typeface="Arial"/>
              </a:defRPr>
            </a:defPPr>
          </a:lstStyle>
          <a:p>
            <a:pPr>
              <a:defRPr sz="1875" b="0">
                <a:solidFill>
                  <a:srgbClr val="252B29"/>
                </a:solidFill>
                <a:latin typeface="Arial"/>
                <a:ea typeface="Arial"/>
                <a:cs typeface="Arial"/>
              </a:defRPr>
            </a:pPr>
            <a:r>
              <a:rPr sz="1875" b="0">
                <a:solidFill>
                  <a:srgbClr val="252B29"/>
                </a:solidFill>
                <a:latin typeface="Arial"/>
                <a:ea typeface="Arial"/>
                <a:cs typeface="Arial"/>
              </a:rPr>
              <a:t>2017–2019 mean: 97.0</a:t>
            </a:r>
          </a:p>
          <a:p>
            <a:pPr>
              <a:defRPr sz="1875" b="0">
                <a:solidFill>
                  <a:srgbClr val="252B29"/>
                </a:solidFill>
                <a:latin typeface="Arial"/>
                <a:ea typeface="Arial"/>
                <a:cs typeface="Arial"/>
              </a:defRPr>
            </a:pPr>
            <a:r>
              <a:rPr sz="1875" b="0">
                <a:solidFill>
                  <a:srgbClr val="252B29"/>
                </a:solidFill>
                <a:latin typeface="Arial"/>
                <a:ea typeface="Arial"/>
                <a:cs typeface="Arial"/>
              </a:rPr>
              <a:t>June–August 2026: 52.1</a:t>
            </a:r>
          </a:p>
        </p:txBody>
      </p:sp>
      <p:sp>
        <p:nvSpPr>
          <p:cNvPr id="7" name="Residual gap">
            <a:extLst>
              <a:ext uri="{FF2B5EF4-FFF2-40B4-BE49-F238E27FC236}">
                <a16:creationId xmlns:a16="http://schemas.microsoft.com/office/drawing/2014/main" id="{7FDF1CC2-4B12-4602-B08F-10045C6F77D0}"/>
              </a:ext>
            </a:extLst>
          </p:cNvPr>
          <p:cNvSpPr>
            <a:spLocks noGrp="1"/>
          </p:cNvSpPr>
          <p:nvPr/>
        </p:nvSpPr>
        <p:spPr>
          <a:xfrm>
            <a:off x="8572500" y="4048125"/>
            <a:ext cx="2857500" cy="333375"/>
          </a:xfrm>
          <a:prstGeom prst="rect">
            <a:avLst/>
          </a:prstGeom>
          <a:noFill/>
          <a:ln w="0">
            <a:noFill/>
          </a:ln>
        </p:spPr>
        <p:txBody>
          <a:bodyPr/>
          <a:lstStyle>
            <a:defPPr>
              <a:defRPr sz="1950" b="1">
                <a:solidFill>
                  <a:srgbClr val="254C45"/>
                </a:solidFill>
                <a:latin typeface="Arial"/>
                <a:ea typeface="Arial"/>
                <a:cs typeface="Arial"/>
              </a:defRPr>
            </a:defPPr>
          </a:lstStyle>
          <a:p>
            <a:pPr>
              <a:defRPr sz="1950" b="1">
                <a:solidFill>
                  <a:srgbClr val="254C45"/>
                </a:solidFill>
                <a:latin typeface="Arial"/>
                <a:ea typeface="Arial"/>
                <a:cs typeface="Arial"/>
              </a:defRPr>
            </a:pPr>
            <a:r>
              <a:rPr sz="1950" b="1">
                <a:solidFill>
                  <a:srgbClr val="254C45"/>
                </a:solidFill>
                <a:latin typeface="Arial"/>
                <a:ea typeface="Arial"/>
                <a:cs typeface="Arial"/>
              </a:rPr>
              <a:t>Residual gap</a:t>
            </a:r>
          </a:p>
        </p:txBody>
      </p:sp>
      <p:sp>
        <p:nvSpPr>
          <p:cNvPr id="8" name="Three indicators: 28.3&#10;Add price levels: 7.1">
            <a:extLst>
              <a:ext uri="{FF2B5EF4-FFF2-40B4-BE49-F238E27FC236}">
                <a16:creationId xmlns:a16="http://schemas.microsoft.com/office/drawing/2014/main" id="{9A0405E8-78D4-45D6-87C1-400DE411C23F}"/>
              </a:ext>
            </a:extLst>
          </p:cNvPr>
          <p:cNvSpPr>
            <a:spLocks noGrp="1"/>
          </p:cNvSpPr>
          <p:nvPr/>
        </p:nvSpPr>
        <p:spPr>
          <a:xfrm>
            <a:off x="8572500" y="4476750"/>
            <a:ext cx="3048000" cy="857250"/>
          </a:xfrm>
          <a:prstGeom prst="rect">
            <a:avLst/>
          </a:prstGeom>
          <a:noFill/>
          <a:ln w="0">
            <a:noFill/>
          </a:ln>
        </p:spPr>
        <p:txBody>
          <a:bodyPr/>
          <a:lstStyle>
            <a:defPPr>
              <a:defRPr sz="2100" b="1">
                <a:solidFill>
                  <a:srgbClr val="252B29"/>
                </a:solidFill>
                <a:latin typeface="Arial"/>
                <a:ea typeface="Arial"/>
                <a:cs typeface="Arial"/>
              </a:defRPr>
            </a:defPPr>
          </a:lstStyle>
          <a:p>
            <a:pPr>
              <a:defRPr sz="2100" b="1">
                <a:solidFill>
                  <a:srgbClr val="252B29"/>
                </a:solidFill>
                <a:latin typeface="Arial"/>
                <a:ea typeface="Arial"/>
                <a:cs typeface="Arial"/>
              </a:defRPr>
            </a:pPr>
            <a:r>
              <a:rPr sz="2100" b="1">
                <a:solidFill>
                  <a:srgbClr val="252B29"/>
                </a:solidFill>
                <a:latin typeface="Arial"/>
                <a:ea typeface="Arial"/>
                <a:cs typeface="Arial"/>
              </a:rPr>
              <a:t>Three indicators: 28.3</a:t>
            </a:r>
          </a:p>
          <a:p>
            <a:pPr>
              <a:defRPr sz="2100" b="1">
                <a:solidFill>
                  <a:srgbClr val="252B29"/>
                </a:solidFill>
                <a:latin typeface="Arial"/>
                <a:ea typeface="Arial"/>
                <a:cs typeface="Arial"/>
              </a:defRPr>
            </a:pPr>
            <a:r>
              <a:rPr sz="2100" b="1">
                <a:solidFill>
                  <a:srgbClr val="252B29"/>
                </a:solidFill>
                <a:latin typeface="Arial"/>
                <a:ea typeface="Arial"/>
                <a:cs typeface="Arial"/>
              </a:rPr>
              <a:t>Add price levels: 7.1</a:t>
            </a:r>
          </a:p>
        </p:txBody>
      </p:sp>
      <p:sp>
        <p:nvSpPr>
          <p:cNvPr id="9" name="Descriptive OLS on 200 months. Chart shows annual means (*2026: Jan–Au">
            <a:extLst>
              <a:ext uri="{FF2B5EF4-FFF2-40B4-BE49-F238E27FC236}">
                <a16:creationId xmlns:a16="http://schemas.microsoft.com/office/drawing/2014/main" id="{66F278FD-E4F1-403B-ACBC-32497AC1BB08}"/>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defRPr sz="1350" b="0">
                <a:solidFill>
                  <a:srgbClr val="68766E"/>
                </a:solidFill>
                <a:latin typeface="Arial"/>
                <a:ea typeface="Arial"/>
                <a:cs typeface="Arial"/>
              </a:defRPr>
            </a:pPr>
            <a:r>
              <a:rPr sz="1350" b="0">
                <a:solidFill>
                  <a:srgbClr val="68766E"/>
                </a:solidFill>
                <a:latin typeface="Arial"/>
                <a:ea typeface="Arial"/>
                <a:cs typeface="Arial"/>
              </a:rPr>
              <a:t>Descriptive OLS on 200 months. Chart shows annual means (*2026: Jan–Aug). Residuals are not causal effects.</a:t>
            </a:r>
          </a:p>
        </p:txBody>
      </p:sp>
    </p:spTree>
    <p:extLst>
      <p:ext uri="{BB962C8B-B14F-4D97-AF65-F5344CB8AC3E}">
        <p14:creationId xmlns:p14="http://schemas.microsoft.com/office/powerpoint/2010/main" val="877821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Q3. Why can slower inflation still leave consumers squeezed?">
            <a:extLst>
              <a:ext uri="{FF2B5EF4-FFF2-40B4-BE49-F238E27FC236}">
                <a16:creationId xmlns:a16="http://schemas.microsoft.com/office/drawing/2014/main" id="{BB04DCE7-0FA5-4C14-8C8A-951360656E57}"/>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RQ3. Why can slower inflation still leave consumers squeezed?</a:t>
            </a:r>
          </a:p>
        </p:txBody>
      </p:sp>
      <p:sp>
        <p:nvSpPr>
          <p:cNvPr id="2" name="The speed of price increases differs from the accumulated bill">
            <a:extLst>
              <a:ext uri="{FF2B5EF4-FFF2-40B4-BE49-F238E27FC236}">
                <a16:creationId xmlns:a16="http://schemas.microsoft.com/office/drawing/2014/main" id="{4704DFE4-85A2-4B83-8D65-AA4AB3E256EB}"/>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defRPr sz="2175" b="1">
                <a:solidFill>
                  <a:srgbClr val="252B29"/>
                </a:solidFill>
                <a:latin typeface="Arial"/>
                <a:ea typeface="Arial"/>
                <a:cs typeface="Arial"/>
              </a:defRPr>
            </a:pPr>
            <a:r>
              <a:rPr sz="2175" b="1">
                <a:solidFill>
                  <a:srgbClr val="252B29"/>
                </a:solidFill>
                <a:latin typeface="Arial"/>
                <a:ea typeface="Arial"/>
                <a:cs typeface="Arial"/>
              </a:rPr>
              <a:t>The speed of price increases differs from the accumulated bill</a:t>
            </a:r>
          </a:p>
        </p:txBody>
      </p:sp>
      <p:sp>
        <p:nvSpPr>
          <p:cNvPr id="3" name="06">
            <a:extLst>
              <a:ext uri="{FF2B5EF4-FFF2-40B4-BE49-F238E27FC236}">
                <a16:creationId xmlns:a16="http://schemas.microsoft.com/office/drawing/2014/main" id="{FD8D6B5C-669A-4E92-BDAE-08EB1D66BB71}"/>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06</a:t>
            </a:r>
          </a:p>
        </p:txBody>
      </p:sp>
      <p:sp>
        <p:nvSpPr>
          <p:cNvPr id="4" name="Price level (December 2018 = 100)">
            <a:extLst>
              <a:ext uri="{FF2B5EF4-FFF2-40B4-BE49-F238E27FC236}">
                <a16:creationId xmlns:a16="http://schemas.microsoft.com/office/drawing/2014/main" id="{EFF8DF06-7FE2-4A43-9ED6-22432ABB2A3E}"/>
              </a:ext>
            </a:extLst>
          </p:cNvPr>
          <p:cNvSpPr>
            <a:spLocks noGrp="1"/>
          </p:cNvSpPr>
          <p:nvPr/>
        </p:nvSpPr>
        <p:spPr>
          <a:xfrm>
            <a:off x="666750" y="2247900"/>
            <a:ext cx="7429500" cy="304800"/>
          </a:xfrm>
          <a:prstGeom prst="rect">
            <a:avLst/>
          </a:prstGeom>
          <a:noFill/>
          <a:ln w="0">
            <a:noFill/>
          </a:ln>
        </p:spPr>
        <p:txBody>
          <a:bodyPr/>
          <a:lstStyle>
            <a:defPPr>
              <a:defRPr sz="1800" b="1">
                <a:solidFill>
                  <a:srgbClr val="254C45"/>
                </a:solidFill>
                <a:latin typeface="Arial"/>
                <a:ea typeface="Arial"/>
                <a:cs typeface="Arial"/>
              </a:defRPr>
            </a:defPPr>
          </a:lstStyle>
          <a:p>
            <a:pPr>
              <a:defRPr sz="1800" b="1">
                <a:solidFill>
                  <a:srgbClr val="254C45"/>
                </a:solidFill>
                <a:latin typeface="Arial"/>
                <a:ea typeface="Arial"/>
                <a:cs typeface="Arial"/>
              </a:defRPr>
            </a:pPr>
            <a:r>
              <a:rPr sz="1800" b="1">
                <a:solidFill>
                  <a:srgbClr val="254C45"/>
                </a:solidFill>
                <a:latin typeface="Arial"/>
                <a:ea typeface="Arial"/>
                <a:cs typeface="Arial"/>
              </a:rPr>
              <a:t>Price level (December 2018 = 100)</a:t>
            </a:r>
          </a:p>
        </p:txBody>
      </p:sp>
      <p:graphicFrame>
        <p:nvGraphicFramePr>
          <p:cNvPr id="5" name="Chart">
            <a:extLst>
              <a:ext uri="{FF2B5EF4-FFF2-40B4-BE49-F238E27FC236}">
                <a16:creationId xmlns:a16="http://schemas.microsoft.com/office/drawing/2014/main" id="{FB7E7DC6-6249-4267-81EF-0D7E75A50F32}"/>
              </a:ext>
            </a:extLst>
          </p:cNvPr>
          <p:cNvGraphicFramePr/>
          <p:nvPr/>
        </p:nvGraphicFramePr>
        <p:xfrm>
          <a:off x="523875" y="2581275"/>
          <a:ext cx="7429500" cy="1466850"/>
        </p:xfrm>
        <a:graphic>
          <a:graphicData uri="http://schemas.openxmlformats.org/drawingml/2006/chart">
            <c:chart xmlns:c="http://schemas.openxmlformats.org/drawingml/2006/chart" xmlns:r="http://schemas.openxmlformats.org/officeDocument/2006/relationships" r:id="rId3"/>
          </a:graphicData>
        </a:graphic>
      </p:graphicFrame>
      <p:sp>
        <p:nvSpPr>
          <p:cNvPr id="6" name="PCE inflation (year over year, %)">
            <a:extLst>
              <a:ext uri="{FF2B5EF4-FFF2-40B4-BE49-F238E27FC236}">
                <a16:creationId xmlns:a16="http://schemas.microsoft.com/office/drawing/2014/main" id="{7FDBC039-E01C-4801-89E8-AD8B7E2A7668}"/>
              </a:ext>
            </a:extLst>
          </p:cNvPr>
          <p:cNvSpPr>
            <a:spLocks noGrp="1"/>
          </p:cNvSpPr>
          <p:nvPr/>
        </p:nvSpPr>
        <p:spPr>
          <a:xfrm>
            <a:off x="666750" y="4267200"/>
            <a:ext cx="7429500" cy="304800"/>
          </a:xfrm>
          <a:prstGeom prst="rect">
            <a:avLst/>
          </a:prstGeom>
          <a:noFill/>
          <a:ln w="0">
            <a:noFill/>
          </a:ln>
        </p:spPr>
        <p:txBody>
          <a:bodyPr/>
          <a:lstStyle>
            <a:defPPr>
              <a:defRPr sz="1800" b="1">
                <a:solidFill>
                  <a:srgbClr val="A37D46"/>
                </a:solidFill>
                <a:latin typeface="Arial"/>
                <a:ea typeface="Arial"/>
                <a:cs typeface="Arial"/>
              </a:defRPr>
            </a:defPPr>
          </a:lstStyle>
          <a:p>
            <a:pPr>
              <a:defRPr sz="1800" b="1">
                <a:solidFill>
                  <a:srgbClr val="A37D46"/>
                </a:solidFill>
                <a:latin typeface="Arial"/>
                <a:ea typeface="Arial"/>
                <a:cs typeface="Arial"/>
              </a:defRPr>
            </a:pPr>
            <a:r>
              <a:rPr sz="1800" b="1">
                <a:solidFill>
                  <a:srgbClr val="A37D46"/>
                </a:solidFill>
                <a:latin typeface="Arial"/>
                <a:ea typeface="Arial"/>
                <a:cs typeface="Arial"/>
              </a:rPr>
              <a:t>PCE inflation (year over year, %)</a:t>
            </a:r>
          </a:p>
        </p:txBody>
      </p:sp>
      <p:graphicFrame>
        <p:nvGraphicFramePr>
          <p:cNvPr id="7" name="Chart">
            <a:extLst>
              <a:ext uri="{FF2B5EF4-FFF2-40B4-BE49-F238E27FC236}">
                <a16:creationId xmlns:a16="http://schemas.microsoft.com/office/drawing/2014/main" id="{1BDF8282-251D-4D4D-A791-23408D67AB95}"/>
              </a:ext>
            </a:extLst>
          </p:cNvPr>
          <p:cNvGraphicFramePr/>
          <p:nvPr/>
        </p:nvGraphicFramePr>
        <p:xfrm>
          <a:off x="523875" y="4600575"/>
          <a:ext cx="7429500" cy="1285875"/>
        </p:xfrm>
        <a:graphic>
          <a:graphicData uri="http://schemas.openxmlformats.org/drawingml/2006/chart">
            <c:chart xmlns:c="http://schemas.openxmlformats.org/drawingml/2006/chart" xmlns:r="http://schemas.openxmlformats.org/officeDocument/2006/relationships" r:id="rId4"/>
          </a:graphicData>
        </a:graphic>
      </p:graphicFrame>
      <p:sp>
        <p:nvSpPr>
          <p:cNvPr id="8" name="+27.9%">
            <a:extLst>
              <a:ext uri="{FF2B5EF4-FFF2-40B4-BE49-F238E27FC236}">
                <a16:creationId xmlns:a16="http://schemas.microsoft.com/office/drawing/2014/main" id="{813F1548-ED68-4652-8278-ACE62575396F}"/>
              </a:ext>
            </a:extLst>
          </p:cNvPr>
          <p:cNvSpPr>
            <a:spLocks noGrp="1"/>
          </p:cNvSpPr>
          <p:nvPr/>
        </p:nvSpPr>
        <p:spPr>
          <a:xfrm>
            <a:off x="8620125" y="2409825"/>
            <a:ext cx="2762250" cy="657225"/>
          </a:xfrm>
          <a:prstGeom prst="rect">
            <a:avLst/>
          </a:prstGeom>
          <a:noFill/>
          <a:ln w="0">
            <a:noFill/>
          </a:ln>
        </p:spPr>
        <p:txBody>
          <a:bodyPr/>
          <a:lstStyle>
            <a:defPPr>
              <a:defRPr sz="3825" b="1">
                <a:solidFill>
                  <a:srgbClr val="254C45"/>
                </a:solidFill>
                <a:latin typeface="Arial"/>
                <a:ea typeface="Arial"/>
                <a:cs typeface="Arial"/>
              </a:defRPr>
            </a:defPPr>
          </a:lstStyle>
          <a:p>
            <a:pPr>
              <a:defRPr sz="3825" b="1">
                <a:solidFill>
                  <a:srgbClr val="254C45"/>
                </a:solidFill>
                <a:latin typeface="Arial"/>
                <a:ea typeface="Arial"/>
                <a:cs typeface="Arial"/>
              </a:defRPr>
            </a:pPr>
            <a:r>
              <a:rPr sz="3825" b="1">
                <a:solidFill>
                  <a:srgbClr val="254C45"/>
                </a:solidFill>
                <a:latin typeface="Arial"/>
                <a:ea typeface="Arial"/>
                <a:cs typeface="Arial"/>
              </a:rPr>
              <a:t>+27.9%</a:t>
            </a:r>
          </a:p>
        </p:txBody>
      </p:sp>
      <p:sp>
        <p:nvSpPr>
          <p:cNvPr id="9" name="Accumulated price increase">
            <a:extLst>
              <a:ext uri="{FF2B5EF4-FFF2-40B4-BE49-F238E27FC236}">
                <a16:creationId xmlns:a16="http://schemas.microsoft.com/office/drawing/2014/main" id="{27EF3474-86D5-4F8F-A505-C62C3737B5FD}"/>
              </a:ext>
            </a:extLst>
          </p:cNvPr>
          <p:cNvSpPr>
            <a:spLocks noGrp="1"/>
          </p:cNvSpPr>
          <p:nvPr/>
        </p:nvSpPr>
        <p:spPr>
          <a:xfrm>
            <a:off x="8620125" y="3095625"/>
            <a:ext cx="2857500" cy="590550"/>
          </a:xfrm>
          <a:prstGeom prst="rect">
            <a:avLst/>
          </a:prstGeom>
          <a:noFill/>
          <a:ln w="0">
            <a:noFill/>
          </a:ln>
        </p:spPr>
        <p:txBody>
          <a:bodyPr/>
          <a:lstStyle>
            <a:defPPr>
              <a:defRPr sz="1950" b="0">
                <a:solidFill>
                  <a:srgbClr val="252B29"/>
                </a:solidFill>
                <a:latin typeface="Arial"/>
                <a:ea typeface="Arial"/>
                <a:cs typeface="Arial"/>
              </a:defRPr>
            </a:defPPr>
          </a:lstStyle>
          <a:p>
            <a:pPr>
              <a:defRPr sz="1950" b="0">
                <a:solidFill>
                  <a:srgbClr val="252B29"/>
                </a:solidFill>
                <a:latin typeface="Arial"/>
                <a:ea typeface="Arial"/>
                <a:cs typeface="Arial"/>
              </a:defRPr>
            </a:pPr>
            <a:r>
              <a:rPr sz="1950" b="0">
                <a:solidFill>
                  <a:srgbClr val="252B29"/>
                </a:solidFill>
                <a:latin typeface="Arial"/>
                <a:ea typeface="Arial"/>
                <a:cs typeface="Arial"/>
              </a:rPr>
              <a:t>Accumulated price increase</a:t>
            </a:r>
          </a:p>
        </p:txBody>
      </p:sp>
      <p:sp>
        <p:nvSpPr>
          <p:cNvPr id="10" name="3.7%">
            <a:extLst>
              <a:ext uri="{FF2B5EF4-FFF2-40B4-BE49-F238E27FC236}">
                <a16:creationId xmlns:a16="http://schemas.microsoft.com/office/drawing/2014/main" id="{0130174B-8E0D-4157-9447-4E1EBED3AEBD}"/>
              </a:ext>
            </a:extLst>
          </p:cNvPr>
          <p:cNvSpPr>
            <a:spLocks noGrp="1"/>
          </p:cNvSpPr>
          <p:nvPr/>
        </p:nvSpPr>
        <p:spPr>
          <a:xfrm>
            <a:off x="8620125" y="4048125"/>
            <a:ext cx="2762250" cy="609600"/>
          </a:xfrm>
          <a:prstGeom prst="rect">
            <a:avLst/>
          </a:prstGeom>
          <a:noFill/>
          <a:ln w="0">
            <a:noFill/>
          </a:ln>
        </p:spPr>
        <p:txBody>
          <a:bodyPr/>
          <a:lstStyle>
            <a:defPPr>
              <a:defRPr sz="3525" b="1">
                <a:solidFill>
                  <a:srgbClr val="A37D46"/>
                </a:solidFill>
                <a:latin typeface="Arial"/>
                <a:ea typeface="Arial"/>
                <a:cs typeface="Arial"/>
              </a:defRPr>
            </a:defPPr>
          </a:lstStyle>
          <a:p>
            <a:pPr>
              <a:defRPr sz="3525" b="1">
                <a:solidFill>
                  <a:srgbClr val="A37D46"/>
                </a:solidFill>
                <a:latin typeface="Arial"/>
                <a:ea typeface="Arial"/>
                <a:cs typeface="Arial"/>
              </a:defRPr>
            </a:pPr>
            <a:r>
              <a:rPr sz="3525" b="1">
                <a:solidFill>
                  <a:srgbClr val="A37D46"/>
                </a:solidFill>
                <a:latin typeface="Arial"/>
                <a:ea typeface="Arial"/>
                <a:cs typeface="Arial"/>
              </a:rPr>
              <a:t>3.7%</a:t>
            </a:r>
          </a:p>
        </p:txBody>
      </p:sp>
      <p:sp>
        <p:nvSpPr>
          <p:cNvPr id="11" name="Annual inflation&#10;Real income growth: 0.5%">
            <a:extLst>
              <a:ext uri="{FF2B5EF4-FFF2-40B4-BE49-F238E27FC236}">
                <a16:creationId xmlns:a16="http://schemas.microsoft.com/office/drawing/2014/main" id="{6AD3AAEA-C1EE-4DDC-BD73-488125A56888}"/>
              </a:ext>
            </a:extLst>
          </p:cNvPr>
          <p:cNvSpPr>
            <a:spLocks noGrp="1"/>
          </p:cNvSpPr>
          <p:nvPr/>
        </p:nvSpPr>
        <p:spPr>
          <a:xfrm>
            <a:off x="8620125" y="4714875"/>
            <a:ext cx="2857500" cy="838200"/>
          </a:xfrm>
          <a:prstGeom prst="rect">
            <a:avLst/>
          </a:prstGeom>
          <a:noFill/>
          <a:ln w="0">
            <a:noFill/>
          </a:ln>
        </p:spPr>
        <p:txBody>
          <a:bodyPr/>
          <a:lstStyle>
            <a:defPPr>
              <a:defRPr sz="1875" b="0">
                <a:solidFill>
                  <a:srgbClr val="252B29"/>
                </a:solidFill>
                <a:latin typeface="Arial"/>
                <a:ea typeface="Arial"/>
                <a:cs typeface="Arial"/>
              </a:defRPr>
            </a:defPPr>
          </a:lstStyle>
          <a:p>
            <a:pPr>
              <a:defRPr sz="1875" b="0">
                <a:solidFill>
                  <a:srgbClr val="252B29"/>
                </a:solidFill>
                <a:latin typeface="Arial"/>
                <a:ea typeface="Arial"/>
                <a:cs typeface="Arial"/>
              </a:defRPr>
            </a:pPr>
            <a:r>
              <a:rPr sz="1875" b="0">
                <a:solidFill>
                  <a:srgbClr val="252B29"/>
                </a:solidFill>
                <a:latin typeface="Arial"/>
                <a:ea typeface="Arial"/>
                <a:cs typeface="Arial"/>
              </a:rPr>
              <a:t>Annual inflation</a:t>
            </a:r>
          </a:p>
          <a:p>
            <a:pPr>
              <a:defRPr sz="1875" b="0">
                <a:solidFill>
                  <a:srgbClr val="252B29"/>
                </a:solidFill>
                <a:latin typeface="Arial"/>
                <a:ea typeface="Arial"/>
                <a:cs typeface="Arial"/>
              </a:defRPr>
            </a:pPr>
            <a:r>
              <a:rPr sz="1875" b="0">
                <a:solidFill>
                  <a:srgbClr val="252B29"/>
                </a:solidFill>
                <a:latin typeface="Arial"/>
                <a:ea typeface="Arial"/>
                <a:cs typeface="Arial"/>
              </a:rPr>
              <a:t>Real income growth: 0.5%</a:t>
            </a:r>
          </a:p>
        </p:txBody>
      </p:sp>
      <p:sp>
        <p:nvSpPr>
          <p:cNvPr id="12" name="Latest origin-available releases before August 2026. Selected monthly ">
            <a:extLst>
              <a:ext uri="{FF2B5EF4-FFF2-40B4-BE49-F238E27FC236}">
                <a16:creationId xmlns:a16="http://schemas.microsoft.com/office/drawing/2014/main" id="{A8CEB048-7391-4BE3-AACB-467995A681C8}"/>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defRPr sz="1350" b="0">
                <a:solidFill>
                  <a:srgbClr val="68766E"/>
                </a:solidFill>
                <a:latin typeface="Arial"/>
                <a:ea typeface="Arial"/>
                <a:cs typeface="Arial"/>
              </a:defRPr>
            </a:pPr>
            <a:r>
              <a:rPr sz="1350" b="0">
                <a:solidFill>
                  <a:srgbClr val="68766E"/>
                </a:solidFill>
                <a:latin typeface="Arial"/>
                <a:ea typeface="Arial"/>
                <a:cs typeface="Arial"/>
              </a:rPr>
              <a:t>Latest origin-available releases before August 2026. Selected monthly readings shown. All 82 months enter analysis.</a:t>
            </a:r>
          </a:p>
        </p:txBody>
      </p:sp>
    </p:spTree>
    <p:extLst>
      <p:ext uri="{BB962C8B-B14F-4D97-AF65-F5344CB8AC3E}">
        <p14:creationId xmlns:p14="http://schemas.microsoft.com/office/powerpoint/2010/main" val="1236260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Q4. Which perceptual mechanisms can our data actually measure?">
            <a:extLst>
              <a:ext uri="{FF2B5EF4-FFF2-40B4-BE49-F238E27FC236}">
                <a16:creationId xmlns:a16="http://schemas.microsoft.com/office/drawing/2014/main" id="{48A4C8D1-611E-4C1C-9B77-6703CEDB9B37}"/>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RQ4. Which perceptual mechanisms can our data actually measure?</a:t>
            </a:r>
          </a:p>
        </p:txBody>
      </p:sp>
      <p:sp>
        <p:nvSpPr>
          <p:cNvPr id="2" name="Our measurements describe content proxies for the mechanisms">
            <a:extLst>
              <a:ext uri="{FF2B5EF4-FFF2-40B4-BE49-F238E27FC236}">
                <a16:creationId xmlns:a16="http://schemas.microsoft.com/office/drawing/2014/main" id="{610E6065-8B0D-4C6B-BE25-2BE4AB720B19}"/>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defRPr sz="2175" b="1">
                <a:solidFill>
                  <a:srgbClr val="252B29"/>
                </a:solidFill>
                <a:latin typeface="Arial"/>
                <a:ea typeface="Arial"/>
                <a:cs typeface="Arial"/>
              </a:defRPr>
            </a:pPr>
            <a:r>
              <a:rPr sz="2175" b="1">
                <a:solidFill>
                  <a:srgbClr val="252B29"/>
                </a:solidFill>
                <a:latin typeface="Arial"/>
                <a:ea typeface="Arial"/>
                <a:cs typeface="Arial"/>
              </a:rPr>
              <a:t>Our measurements describe content proxies for the mechanisms</a:t>
            </a:r>
          </a:p>
        </p:txBody>
      </p:sp>
      <p:sp>
        <p:nvSpPr>
          <p:cNvPr id="3" name="07">
            <a:extLst>
              <a:ext uri="{FF2B5EF4-FFF2-40B4-BE49-F238E27FC236}">
                <a16:creationId xmlns:a16="http://schemas.microsoft.com/office/drawing/2014/main" id="{C61B285E-A2CF-49CC-BC5B-9D8AE2ED73F0}"/>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07</a:t>
            </a:r>
          </a:p>
        </p:txBody>
      </p:sp>
      <p:graphicFrame>
        <p:nvGraphicFramePr>
          <p:cNvPr id="4" name="Chart">
            <a:extLst>
              <a:ext uri="{FF2B5EF4-FFF2-40B4-BE49-F238E27FC236}">
                <a16:creationId xmlns:a16="http://schemas.microsoft.com/office/drawing/2014/main" id="{4E06878D-9A3F-49F5-854B-1C278EA21FA1}"/>
              </a:ext>
            </a:extLst>
          </p:cNvPr>
          <p:cNvGraphicFramePr/>
          <p:nvPr/>
        </p:nvGraphicFramePr>
        <p:xfrm>
          <a:off x="552450" y="2238375"/>
          <a:ext cx="10906125"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5" name="Measuring consumer mechanisms also requires exposure, recall, prior be">
            <a:extLst>
              <a:ext uri="{FF2B5EF4-FFF2-40B4-BE49-F238E27FC236}">
                <a16:creationId xmlns:a16="http://schemas.microsoft.com/office/drawing/2014/main" id="{563C0015-FF50-4276-9487-CF24FAC6B391}"/>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defRPr sz="1350" b="0">
                <a:solidFill>
                  <a:srgbClr val="68766E"/>
                </a:solidFill>
                <a:latin typeface="Arial"/>
                <a:ea typeface="Arial"/>
                <a:cs typeface="Arial"/>
              </a:defRPr>
            </a:pPr>
            <a:r>
              <a:rPr sz="1350" b="0">
                <a:solidFill>
                  <a:srgbClr val="68766E"/>
                </a:solidFill>
                <a:latin typeface="Arial"/>
                <a:ea typeface="Arial"/>
                <a:cs typeface="Arial"/>
              </a:rPr>
              <a:t>Measuring consumer mechanisms also requires exposure, recall, prior beliefs, responses and individual reference prices.</a:t>
            </a:r>
          </a:p>
        </p:txBody>
      </p:sp>
    </p:spTree>
    <p:extLst>
      <p:ext uri="{BB962C8B-B14F-4D97-AF65-F5344CB8AC3E}">
        <p14:creationId xmlns:p14="http://schemas.microsoft.com/office/powerpoint/2010/main" val="14866402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Q5. Does media improve predictions beyond economic indicators alone?">
            <a:extLst>
              <a:ext uri="{FF2B5EF4-FFF2-40B4-BE49-F238E27FC236}">
                <a16:creationId xmlns:a16="http://schemas.microsoft.com/office/drawing/2014/main" id="{18F1AB45-D569-4695-961B-9FEF85B84DD7}"/>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RQ5. Does media improve predictions beyond economic indicators alone?</a:t>
            </a:r>
          </a:p>
        </p:txBody>
      </p:sp>
      <p:sp>
        <p:nvSpPr>
          <p:cNvPr id="2" name="Media helps in one controlled specification, with limited stability">
            <a:extLst>
              <a:ext uri="{FF2B5EF4-FFF2-40B4-BE49-F238E27FC236}">
                <a16:creationId xmlns:a16="http://schemas.microsoft.com/office/drawing/2014/main" id="{59138C61-FC68-4FC9-AA31-B1712C0ACEF5}"/>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buNone/>
              <a:defRPr sz="2175" b="1">
                <a:solidFill>
                  <a:srgbClr val="252B29"/>
                </a:solidFill>
                <a:latin typeface="Arial"/>
                <a:ea typeface="Arial"/>
                <a:cs typeface="Arial"/>
              </a:defRPr>
            </a:pPr>
            <a:r>
              <a:rPr sz="2175" b="1">
                <a:solidFill>
                  <a:srgbClr val="252B29"/>
                </a:solidFill>
                <a:latin typeface="Arial"/>
                <a:ea typeface="Arial"/>
                <a:cs typeface="Arial"/>
              </a:rPr>
              <a:t>Media gains remain uncertain after robustness checks</a:t>
            </a:r>
          </a:p>
        </p:txBody>
      </p:sp>
      <p:sp>
        <p:nvSpPr>
          <p:cNvPr id="3" name="08">
            <a:extLst>
              <a:ext uri="{FF2B5EF4-FFF2-40B4-BE49-F238E27FC236}">
                <a16:creationId xmlns:a16="http://schemas.microsoft.com/office/drawing/2014/main" id="{4CFDB553-D413-4B73-BF44-A8C50D4DEACB}"/>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08</a:t>
            </a:r>
          </a:p>
        </p:txBody>
      </p:sp>
      <p:graphicFrame>
        <p:nvGraphicFramePr>
          <p:cNvPr id="4" name="Chart">
            <a:extLst>
              <a:ext uri="{FF2B5EF4-FFF2-40B4-BE49-F238E27FC236}">
                <a16:creationId xmlns:a16="http://schemas.microsoft.com/office/drawing/2014/main" id="{2E03D054-76D6-49AB-821A-D06CEA5BCDA8}"/>
              </a:ext>
            </a:extLst>
          </p:cNvPr>
          <p:cNvGraphicFramePr/>
          <p:nvPr/>
        </p:nvGraphicFramePr>
        <p:xfrm>
          <a:off x="523875" y="2276475"/>
          <a:ext cx="1100137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 name="Carry forward prior sentiment: 3.725     All content features together">
            <a:extLst>
              <a:ext uri="{FF2B5EF4-FFF2-40B4-BE49-F238E27FC236}">
                <a16:creationId xmlns:a16="http://schemas.microsoft.com/office/drawing/2014/main" id="{56BF08A2-662E-40EE-814D-F83BED312FEE}"/>
              </a:ext>
            </a:extLst>
          </p:cNvPr>
          <p:cNvSpPr>
            <a:spLocks noGrp="1"/>
          </p:cNvSpPr>
          <p:nvPr/>
        </p:nvSpPr>
        <p:spPr>
          <a:xfrm>
            <a:off x="609600" y="5610225"/>
            <a:ext cx="10810875" cy="428625"/>
          </a:xfrm>
          <a:prstGeom prst="rect">
            <a:avLst/>
          </a:prstGeom>
          <a:noFill/>
          <a:ln w="0">
            <a:noFill/>
          </a:ln>
        </p:spPr>
        <p:txBody>
          <a:bodyPr/>
          <a:lstStyle>
            <a:defPPr>
              <a:defRPr sz="1950" b="1">
                <a:solidFill>
                  <a:srgbClr val="254C45"/>
                </a:solidFill>
                <a:latin typeface="Arial"/>
                <a:ea typeface="Arial"/>
                <a:cs typeface="Arial"/>
              </a:defRPr>
            </a:defPPr>
          </a:lstStyle>
          <a:p>
            <a:pPr>
              <a:defRPr sz="1950" b="1">
                <a:solidFill>
                  <a:srgbClr val="254C45"/>
                </a:solidFill>
                <a:latin typeface="Arial"/>
                <a:ea typeface="Arial"/>
                <a:cs typeface="Arial"/>
              </a:defRPr>
            </a:pPr>
            <a:r>
              <a:rPr sz="1950" b="1">
                <a:solidFill>
                  <a:srgbClr val="254C45"/>
                </a:solidFill>
                <a:latin typeface="Arial"/>
                <a:ea typeface="Arial"/>
                <a:cs typeface="Arial"/>
              </a:rPr>
              <a:t>Carry forward prior sentiment: 3.725     All content features together: 4.737</a:t>
            </a:r>
          </a:p>
        </p:txBody>
      </p:sp>
      <p:sp>
        <p:nvSpPr>
          <p:cNvPr id="6" name="Same 40 test months, January 2023–August 2026. Expanding ridge regress">
            <a:extLst>
              <a:ext uri="{FF2B5EF4-FFF2-40B4-BE49-F238E27FC236}">
                <a16:creationId xmlns:a16="http://schemas.microsoft.com/office/drawing/2014/main" id="{BAA816C2-77D9-4EB1-BE6C-55AECC48A448}"/>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buNone/>
              <a:defRPr sz="1350" b="0">
                <a:solidFill>
                  <a:srgbClr val="68766E"/>
                </a:solidFill>
                <a:latin typeface="Arial"/>
                <a:ea typeface="Arial"/>
                <a:cs typeface="Arial"/>
              </a:defRPr>
            </a:pPr>
            <a:r>
              <a:rPr sz="1350" b="0">
                <a:solidFill>
                  <a:srgbClr val="68766E"/>
                </a:solidFill>
                <a:latin typeface="Arial"/>
                <a:ea typeface="Arial"/>
                <a:cs typeface="Arial"/>
              </a:rPr>
              <a:t>Same 40 test months, January 2023–August 2026.</a:t>
            </a:r>
          </a:p>
          <a:p>
            <a:pPr>
              <a:buNone/>
              <a:defRPr sz="1350" b="0">
                <a:solidFill>
                  <a:srgbClr val="68766E"/>
                </a:solidFill>
                <a:latin typeface="Arial"/>
                <a:ea typeface="Arial"/>
                <a:cs typeface="Arial"/>
              </a:defRPr>
            </a:pPr>
            <a:r>
              <a:rPr sz="1350" b="0">
                <a:solidFill>
                  <a:srgbClr val="68766E"/>
                </a:solidFill>
                <a:latin typeface="Arial"/>
                <a:ea typeface="Arial"/>
                <a:cs typeface="Arial"/>
              </a:rPr>
              <a:t>Holm-adjusted p = 0.147 across 14 original comparisons.</a:t>
            </a:r>
          </a:p>
        </p:txBody>
      </p:sp>
    </p:spTree>
    <p:extLst>
      <p:ext uri="{BB962C8B-B14F-4D97-AF65-F5344CB8AC3E}">
        <p14:creationId xmlns:p14="http://schemas.microsoft.com/office/powerpoint/2010/main" val="18050823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Q6. What evidence challenges a media-bias explanation?">
            <a:extLst>
              <a:ext uri="{FF2B5EF4-FFF2-40B4-BE49-F238E27FC236}">
                <a16:creationId xmlns:a16="http://schemas.microsoft.com/office/drawing/2014/main" id="{7C78F0A3-BE74-4A47-87BF-0B12B22E308C}"/>
              </a:ext>
            </a:extLst>
          </p:cNvPr>
          <p:cNvSpPr>
            <a:spLocks noGrp="1"/>
          </p:cNvSpPr>
          <p:nvPr/>
        </p:nvSpPr>
        <p:spPr>
          <a:xfrm>
            <a:off x="533400" y="342900"/>
            <a:ext cx="11096625" cy="1028700"/>
          </a:xfrm>
          <a:prstGeom prst="rect">
            <a:avLst/>
          </a:prstGeom>
          <a:noFill/>
          <a:ln w="0">
            <a:noFill/>
          </a:ln>
        </p:spPr>
        <p:txBody>
          <a:bodyPr/>
          <a:lstStyle>
            <a:defPPr>
              <a:defRPr sz="2700" b="1">
                <a:solidFill>
                  <a:srgbClr val="254C45"/>
                </a:solidFill>
                <a:latin typeface="Arial"/>
                <a:ea typeface="Arial"/>
                <a:cs typeface="Arial"/>
              </a:defRPr>
            </a:defPPr>
          </a:lstStyle>
          <a:p>
            <a:pPr>
              <a:buNone/>
              <a:defRPr sz="2700" b="1">
                <a:solidFill>
                  <a:srgbClr val="254C45"/>
                </a:solidFill>
                <a:latin typeface="Arial"/>
                <a:ea typeface="Arial"/>
                <a:cs typeface="Arial"/>
              </a:defRPr>
            </a:pPr>
            <a:r>
              <a:rPr sz="2700" b="1">
                <a:solidFill>
                  <a:srgbClr val="254C45"/>
                </a:solidFill>
                <a:latin typeface="Arial"/>
                <a:ea typeface="Arial"/>
                <a:cs typeface="Arial"/>
              </a:rPr>
              <a:t>RQ6. What evidence challenges a media-bias explanation?</a:t>
            </a:r>
          </a:p>
        </p:txBody>
      </p:sp>
      <p:sp>
        <p:nvSpPr>
          <p:cNvPr id="2" name="The media gain reverses under the strictest coverage rule">
            <a:extLst>
              <a:ext uri="{FF2B5EF4-FFF2-40B4-BE49-F238E27FC236}">
                <a16:creationId xmlns:a16="http://schemas.microsoft.com/office/drawing/2014/main" id="{A90D5144-0494-44E6-A65A-E38488259665}"/>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buNone/>
              <a:defRPr sz="2175" b="1">
                <a:solidFill>
                  <a:srgbClr val="252B29"/>
                </a:solidFill>
                <a:latin typeface="Arial"/>
                <a:ea typeface="Arial"/>
                <a:cs typeface="Arial"/>
              </a:defRPr>
            </a:pPr>
            <a:r>
              <a:rPr sz="2175" b="1">
                <a:solidFill>
                  <a:srgbClr val="252B29"/>
                </a:solidFill>
                <a:latin typeface="Arial"/>
                <a:ea typeface="Arial"/>
                <a:cs typeface="Arial"/>
              </a:rPr>
              <a:t>The media gain reverses under the strictest coverage rule</a:t>
            </a:r>
          </a:p>
        </p:txBody>
      </p:sp>
      <p:sp>
        <p:nvSpPr>
          <p:cNvPr id="3" name="09">
            <a:extLst>
              <a:ext uri="{FF2B5EF4-FFF2-40B4-BE49-F238E27FC236}">
                <a16:creationId xmlns:a16="http://schemas.microsoft.com/office/drawing/2014/main" id="{9B9A74A8-35AF-4332-9167-91386F902A6E}"/>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buNone/>
              <a:defRPr sz="1275" b="0">
                <a:solidFill>
                  <a:srgbClr val="68766E"/>
                </a:solidFill>
                <a:latin typeface="Arial"/>
                <a:ea typeface="Arial"/>
                <a:cs typeface="Arial"/>
              </a:defRPr>
            </a:pPr>
            <a:r>
              <a:rPr sz="1275" b="0">
                <a:solidFill>
                  <a:srgbClr val="68766E"/>
                </a:solidFill>
                <a:latin typeface="Arial"/>
                <a:ea typeface="Arial"/>
                <a:cs typeface="Arial"/>
              </a:rPr>
              <a:t>09</a:t>
            </a:r>
          </a:p>
        </p:txBody>
      </p:sp>
      <p:graphicFrame>
        <p:nvGraphicFramePr>
          <p:cNvPr id="4" name="Chart">
            <a:extLst>
              <a:ext uri="{FF2B5EF4-FFF2-40B4-BE49-F238E27FC236}">
                <a16:creationId xmlns:a16="http://schemas.microsoft.com/office/drawing/2014/main" id="{C673B99F-0DC9-49E8-AE8F-E5DEF7F34758}"/>
              </a:ext>
            </a:extLst>
          </p:cNvPr>
          <p:cNvGraphicFramePr/>
          <p:nvPr/>
        </p:nvGraphicFramePr>
        <p:xfrm>
          <a:off x="571500" y="2209800"/>
          <a:ext cx="10763250" cy="3000375"/>
        </p:xfrm>
        <a:graphic>
          <a:graphicData uri="http://schemas.openxmlformats.org/drawingml/2006/chart">
            <c:chart xmlns:c="http://schemas.openxmlformats.org/drawingml/2006/chart" xmlns:r="http://schemas.openxmlformats.org/officeDocument/2006/relationships" r:id="rId3"/>
          </a:graphicData>
        </a:graphic>
      </p:graphicFrame>
      <p:sp>
        <p:nvSpPr>
          <p:cNvPr id="5" name="Price levels shrink the residual gap; stricter coverage reverses the m">
            <a:extLst>
              <a:ext uri="{FF2B5EF4-FFF2-40B4-BE49-F238E27FC236}">
                <a16:creationId xmlns:a16="http://schemas.microsoft.com/office/drawing/2014/main" id="{A716A2B5-08EE-4692-A489-77C95F361674}"/>
              </a:ext>
            </a:extLst>
          </p:cNvPr>
          <p:cNvSpPr>
            <a:spLocks noGrp="1"/>
          </p:cNvSpPr>
          <p:nvPr/>
        </p:nvSpPr>
        <p:spPr>
          <a:xfrm>
            <a:off x="571500" y="5476875"/>
            <a:ext cx="10810875" cy="647700"/>
          </a:xfrm>
          <a:prstGeom prst="rect">
            <a:avLst/>
          </a:prstGeom>
          <a:noFill/>
          <a:ln w="0">
            <a:noFill/>
          </a:ln>
        </p:spPr>
        <p:txBody>
          <a:bodyPr/>
          <a:lstStyle>
            <a:defPPr>
              <a:defRPr sz="2025" b="1">
                <a:solidFill>
                  <a:srgbClr val="254C45"/>
                </a:solidFill>
                <a:latin typeface="Arial"/>
                <a:ea typeface="Arial"/>
                <a:cs typeface="Arial"/>
              </a:defRPr>
            </a:defPPr>
          </a:lstStyle>
          <a:p>
            <a:pPr>
              <a:buNone/>
              <a:defRPr sz="2025" b="1">
                <a:solidFill>
                  <a:srgbClr val="254C45"/>
                </a:solidFill>
                <a:latin typeface="Arial"/>
                <a:ea typeface="Arial"/>
                <a:cs typeface="Arial"/>
              </a:defRPr>
            </a:pPr>
            <a:r>
              <a:rPr sz="2025" b="1">
                <a:solidFill>
                  <a:srgbClr val="254C45"/>
                </a:solidFill>
                <a:latin typeface="Arial"/>
                <a:ea typeface="Arial"/>
                <a:cs typeface="Arial"/>
              </a:rPr>
              <a:t>Price levels shrink the residual gap.</a:t>
            </a:r>
          </a:p>
          <a:p>
            <a:pPr>
              <a:buNone/>
              <a:defRPr sz="2025" b="1">
                <a:solidFill>
                  <a:srgbClr val="254C45"/>
                </a:solidFill>
                <a:latin typeface="Arial"/>
                <a:ea typeface="Arial"/>
                <a:cs typeface="Arial"/>
              </a:defRPr>
            </a:pPr>
            <a:r>
              <a:rPr sz="2025" b="1">
                <a:solidFill>
                  <a:srgbClr val="254C45"/>
                </a:solidFill>
                <a:latin typeface="Arial"/>
                <a:ea typeface="Arial"/>
                <a:cs typeface="Arial"/>
              </a:rPr>
              <a:t>Stricter coverage reverses the media gain.</a:t>
            </a:r>
          </a:p>
        </p:txBody>
      </p:sp>
      <p:sp>
        <p:nvSpPr>
          <p:cNvPr id="6" name="Seasonality/survey-mode comparison. Higher coverage thresholds change ">
            <a:extLst>
              <a:ext uri="{FF2B5EF4-FFF2-40B4-BE49-F238E27FC236}">
                <a16:creationId xmlns:a16="http://schemas.microsoft.com/office/drawing/2014/main" id="{CFB8144B-4E65-458D-80BE-0A2B46B37871}"/>
              </a:ext>
            </a:extLst>
          </p:cNvPr>
          <p:cNvSpPr>
            <a:spLocks noGrp="1"/>
          </p:cNvSpPr>
          <p:nvPr/>
        </p:nvSpPr>
        <p:spPr>
          <a:xfrm>
            <a:off x="571500" y="6172200"/>
            <a:ext cx="10429875" cy="476250"/>
          </a:xfrm>
          <a:prstGeom prst="rect">
            <a:avLst/>
          </a:prstGeom>
          <a:noFill/>
          <a:ln w="0">
            <a:noFill/>
          </a:ln>
        </p:spPr>
        <p:txBody>
          <a:bodyPr/>
          <a:lstStyle>
            <a:defPPr>
              <a:defRPr sz="1275" b="0">
                <a:solidFill>
                  <a:srgbClr val="68766E"/>
                </a:solidFill>
                <a:latin typeface="Arial"/>
                <a:ea typeface="Arial"/>
                <a:cs typeface="Arial"/>
              </a:defRPr>
            </a:defPPr>
          </a:lstStyle>
          <a:p>
            <a:pPr>
              <a:buNone/>
              <a:defRPr sz="1275" b="0">
                <a:solidFill>
                  <a:srgbClr val="68766E"/>
                </a:solidFill>
                <a:latin typeface="Arial"/>
                <a:ea typeface="Arial"/>
                <a:cs typeface="Arial"/>
              </a:defRPr>
            </a:pPr>
            <a:r>
              <a:rPr sz="1275" b="0">
                <a:solidFill>
                  <a:srgbClr val="68766E"/>
                </a:solidFill>
                <a:latin typeface="Arial"/>
                <a:ea typeface="Arial"/>
                <a:cs typeface="Arial"/>
              </a:rPr>
              <a:t>Coverage filters change training and test months. Seasonality/survey-mode controls.</a:t>
            </a:r>
          </a:p>
          <a:p>
            <a:pPr>
              <a:buNone/>
              <a:defRPr sz="1275" b="0">
                <a:solidFill>
                  <a:srgbClr val="68766E"/>
                </a:solidFill>
                <a:latin typeface="Arial"/>
                <a:ea typeface="Arial"/>
                <a:cs typeface="Arial"/>
              </a:defRPr>
            </a:pPr>
            <a:r>
              <a:rPr sz="1275" b="0">
                <a:solidFill>
                  <a:srgbClr val="68766E"/>
                </a:solidFill>
                <a:latin typeface="Arial"/>
                <a:ea typeface="Arial"/>
                <a:cs typeface="Arial"/>
              </a:rPr>
              <a:t>Longer-lag checks use a separate 30-month sample.</a:t>
            </a:r>
          </a:p>
        </p:txBody>
      </p:sp>
    </p:spTree>
    <p:extLst>
      <p:ext uri="{BB962C8B-B14F-4D97-AF65-F5344CB8AC3E}">
        <p14:creationId xmlns:p14="http://schemas.microsoft.com/office/powerpoint/2010/main" val="3988045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Key Takeaways">
            <a:extLst>
              <a:ext uri="{FF2B5EF4-FFF2-40B4-BE49-F238E27FC236}">
                <a16:creationId xmlns:a16="http://schemas.microsoft.com/office/drawing/2014/main" id="{3DED7172-8B88-488C-A10B-5BB5B18D2BB3}"/>
              </a:ext>
            </a:extLst>
          </p:cNvPr>
          <p:cNvSpPr>
            <a:spLocks noGrp="1"/>
          </p:cNvSpPr>
          <p:nvPr/>
        </p:nvSpPr>
        <p:spPr>
          <a:xfrm>
            <a:off x="533400" y="342900"/>
            <a:ext cx="11096625" cy="1028700"/>
          </a:xfrm>
          <a:prstGeom prst="rect">
            <a:avLst/>
          </a:prstGeom>
          <a:noFill/>
          <a:ln w="0">
            <a:noFill/>
          </a:ln>
        </p:spPr>
        <p:txBody>
          <a:bodyPr/>
          <a:lstStyle>
            <a:defPPr>
              <a:defRPr sz="2850" b="1">
                <a:solidFill>
                  <a:srgbClr val="254C45"/>
                </a:solidFill>
                <a:latin typeface="Arial"/>
                <a:ea typeface="Arial"/>
                <a:cs typeface="Arial"/>
              </a:defRPr>
            </a:defPPr>
          </a:lstStyle>
          <a:p>
            <a:pPr>
              <a:defRPr sz="2850" b="1">
                <a:solidFill>
                  <a:srgbClr val="254C45"/>
                </a:solidFill>
                <a:latin typeface="Arial"/>
                <a:ea typeface="Arial"/>
                <a:cs typeface="Arial"/>
              </a:defRPr>
            </a:pPr>
            <a:r>
              <a:rPr sz="2850" b="1">
                <a:solidFill>
                  <a:srgbClr val="254C45"/>
                </a:solidFill>
                <a:latin typeface="Arial"/>
                <a:ea typeface="Arial"/>
                <a:cs typeface="Arial"/>
              </a:rPr>
              <a:t>Key Takeaways</a:t>
            </a:r>
          </a:p>
        </p:txBody>
      </p:sp>
      <p:sp>
        <p:nvSpPr>
          <p:cNvPr id="2" name="Prices and benchmark choice change the interpretation">
            <a:extLst>
              <a:ext uri="{FF2B5EF4-FFF2-40B4-BE49-F238E27FC236}">
                <a16:creationId xmlns:a16="http://schemas.microsoft.com/office/drawing/2014/main" id="{2DA65F2C-2B80-44A6-9C9D-491C0F7F8DDE}"/>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buNone/>
              <a:defRPr sz="2175" b="1">
                <a:solidFill>
                  <a:srgbClr val="252B29"/>
                </a:solidFill>
                <a:latin typeface="Arial"/>
                <a:ea typeface="Arial"/>
                <a:cs typeface="Arial"/>
              </a:defRPr>
            </a:pPr>
            <a:r>
              <a:rPr sz="2175" b="1">
                <a:solidFill>
                  <a:srgbClr val="252B29"/>
                </a:solidFill>
                <a:latin typeface="Arial"/>
                <a:ea typeface="Arial"/>
                <a:cs typeface="Arial"/>
              </a:rPr>
              <a:t>Implications for financial forecasting and risk monitoring</a:t>
            </a:r>
          </a:p>
        </p:txBody>
      </p:sp>
      <p:sp>
        <p:nvSpPr>
          <p:cNvPr id="3" name="10">
            <a:extLst>
              <a:ext uri="{FF2B5EF4-FFF2-40B4-BE49-F238E27FC236}">
                <a16:creationId xmlns:a16="http://schemas.microsoft.com/office/drawing/2014/main" id="{630DB181-DBAF-4861-AC31-B3F598DDE99E}"/>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defRPr sz="1275" b="0">
                <a:solidFill>
                  <a:srgbClr val="68766E"/>
                </a:solidFill>
                <a:latin typeface="Arial"/>
                <a:ea typeface="Arial"/>
                <a:cs typeface="Arial"/>
              </a:defRPr>
            </a:pPr>
            <a:r>
              <a:rPr sz="1275" b="0">
                <a:solidFill>
                  <a:srgbClr val="68766E"/>
                </a:solidFill>
                <a:latin typeface="Arial"/>
                <a:ea typeface="Arial"/>
                <a:cs typeface="Arial"/>
              </a:rPr>
              <a:t>10</a:t>
            </a:r>
          </a:p>
        </p:txBody>
      </p:sp>
      <p:sp>
        <p:nvSpPr>
          <p:cNvPr id="4" name="1">
            <a:extLst>
              <a:ext uri="{FF2B5EF4-FFF2-40B4-BE49-F238E27FC236}">
                <a16:creationId xmlns:a16="http://schemas.microsoft.com/office/drawing/2014/main" id="{D0F2EE3E-B025-4BF9-8D4A-ABC8DA2E6E01}"/>
              </a:ext>
            </a:extLst>
          </p:cNvPr>
          <p:cNvSpPr>
            <a:spLocks noGrp="1"/>
          </p:cNvSpPr>
          <p:nvPr/>
        </p:nvSpPr>
        <p:spPr>
          <a:xfrm>
            <a:off x="619125" y="2447925"/>
            <a:ext cx="457200" cy="457200"/>
          </a:xfrm>
          <a:prstGeom prst="rect">
            <a:avLst/>
          </a:prstGeom>
          <a:noFill/>
          <a:ln w="0">
            <a:noFill/>
          </a:ln>
        </p:spPr>
        <p:txBody>
          <a:bodyPr/>
          <a:lstStyle>
            <a:defPPr>
              <a:defRPr sz="2550" b="1">
                <a:solidFill>
                  <a:srgbClr val="254C45"/>
                </a:solidFill>
                <a:latin typeface="Arial"/>
                <a:ea typeface="Arial"/>
                <a:cs typeface="Arial"/>
              </a:defRPr>
            </a:defPPr>
          </a:lstStyle>
          <a:p>
            <a:pPr>
              <a:defRPr sz="2550" b="1">
                <a:solidFill>
                  <a:srgbClr val="254C45"/>
                </a:solidFill>
                <a:latin typeface="Arial"/>
                <a:ea typeface="Arial"/>
                <a:cs typeface="Arial"/>
              </a:defRPr>
            </a:pPr>
            <a:r>
              <a:rPr sz="2550" b="1">
                <a:solidFill>
                  <a:srgbClr val="254C45"/>
                </a:solidFill>
                <a:latin typeface="Arial"/>
                <a:ea typeface="Arial"/>
                <a:cs typeface="Arial"/>
              </a:rPr>
              <a:t>1</a:t>
            </a:r>
          </a:p>
        </p:txBody>
      </p:sp>
      <p:sp>
        <p:nvSpPr>
          <p:cNvPr id="5" name="X shows more emotional language and political blame">
            <a:extLst>
              <a:ext uri="{FF2B5EF4-FFF2-40B4-BE49-F238E27FC236}">
                <a16:creationId xmlns:a16="http://schemas.microsoft.com/office/drawing/2014/main" id="{E9F79DD5-5093-4FB9-9E86-0558BFC0CA24}"/>
              </a:ext>
            </a:extLst>
          </p:cNvPr>
          <p:cNvSpPr>
            <a:spLocks noGrp="1"/>
          </p:cNvSpPr>
          <p:nvPr/>
        </p:nvSpPr>
        <p:spPr>
          <a:xfrm>
            <a:off x="1247775" y="2447925"/>
            <a:ext cx="10096500" cy="685800"/>
          </a:xfrm>
          <a:prstGeom prst="rect">
            <a:avLst/>
          </a:prstGeom>
          <a:noFill/>
          <a:ln w="0">
            <a:noFill/>
          </a:ln>
        </p:spPr>
        <p:txBody>
          <a:bodyPr/>
          <a:lstStyle>
            <a:defPPr>
              <a:defRPr sz="2550" b="1">
                <a:solidFill>
                  <a:srgbClr val="252B29"/>
                </a:solidFill>
                <a:latin typeface="Arial"/>
                <a:ea typeface="Arial"/>
                <a:cs typeface="Arial"/>
              </a:defRPr>
            </a:defPPr>
          </a:lstStyle>
          <a:p>
            <a:pPr>
              <a:defRPr sz="2550" b="1">
                <a:solidFill>
                  <a:srgbClr val="252B29"/>
                </a:solidFill>
                <a:latin typeface="Arial"/>
                <a:ea typeface="Arial"/>
                <a:cs typeface="Arial"/>
              </a:defRPr>
            </a:pPr>
            <a:r>
              <a:rPr sz="2550" b="1">
                <a:solidFill>
                  <a:srgbClr val="252B29"/>
                </a:solidFill>
                <a:latin typeface="Arial"/>
                <a:ea typeface="Arial"/>
                <a:cs typeface="Arial"/>
              </a:rPr>
              <a:t>X shows more emotional language and political blame</a:t>
            </a:r>
          </a:p>
        </p:txBody>
      </p:sp>
      <p:sp>
        <p:nvSpPr>
          <p:cNvPr id="6" name="2">
            <a:extLst>
              <a:ext uri="{FF2B5EF4-FFF2-40B4-BE49-F238E27FC236}">
                <a16:creationId xmlns:a16="http://schemas.microsoft.com/office/drawing/2014/main" id="{A9F69832-6880-4CFD-9C26-030D8D013CA7}"/>
              </a:ext>
            </a:extLst>
          </p:cNvPr>
          <p:cNvSpPr>
            <a:spLocks noGrp="1"/>
          </p:cNvSpPr>
          <p:nvPr/>
        </p:nvSpPr>
        <p:spPr>
          <a:xfrm>
            <a:off x="619125" y="3543300"/>
            <a:ext cx="457200" cy="457200"/>
          </a:xfrm>
          <a:prstGeom prst="rect">
            <a:avLst/>
          </a:prstGeom>
          <a:noFill/>
          <a:ln w="0">
            <a:noFill/>
          </a:ln>
        </p:spPr>
        <p:txBody>
          <a:bodyPr/>
          <a:lstStyle>
            <a:defPPr>
              <a:defRPr sz="2550" b="1">
                <a:solidFill>
                  <a:srgbClr val="254C45"/>
                </a:solidFill>
                <a:latin typeface="Arial"/>
                <a:ea typeface="Arial"/>
                <a:cs typeface="Arial"/>
              </a:defRPr>
            </a:defPPr>
          </a:lstStyle>
          <a:p>
            <a:pPr>
              <a:defRPr sz="2550" b="1">
                <a:solidFill>
                  <a:srgbClr val="254C45"/>
                </a:solidFill>
                <a:latin typeface="Arial"/>
                <a:ea typeface="Arial"/>
                <a:cs typeface="Arial"/>
              </a:defRPr>
            </a:pPr>
            <a:r>
              <a:rPr sz="2550" b="1">
                <a:solidFill>
                  <a:srgbClr val="254C45"/>
                </a:solidFill>
                <a:latin typeface="Arial"/>
                <a:ea typeface="Arial"/>
                <a:cs typeface="Arial"/>
              </a:rPr>
              <a:t>2</a:t>
            </a:r>
          </a:p>
        </p:txBody>
      </p:sp>
      <p:sp>
        <p:nvSpPr>
          <p:cNvPr id="7" name="Accumulated price pressure reduces the unexplained gap">
            <a:extLst>
              <a:ext uri="{FF2B5EF4-FFF2-40B4-BE49-F238E27FC236}">
                <a16:creationId xmlns:a16="http://schemas.microsoft.com/office/drawing/2014/main" id="{04A08DD8-A823-488A-9EEA-AB98ECB53C0D}"/>
              </a:ext>
            </a:extLst>
          </p:cNvPr>
          <p:cNvSpPr>
            <a:spLocks noGrp="1"/>
          </p:cNvSpPr>
          <p:nvPr/>
        </p:nvSpPr>
        <p:spPr>
          <a:xfrm>
            <a:off x="1247775" y="3543300"/>
            <a:ext cx="10096500" cy="685800"/>
          </a:xfrm>
          <a:prstGeom prst="rect">
            <a:avLst/>
          </a:prstGeom>
          <a:noFill/>
          <a:ln w="0">
            <a:noFill/>
          </a:ln>
        </p:spPr>
        <p:txBody>
          <a:bodyPr/>
          <a:lstStyle>
            <a:defPPr>
              <a:defRPr sz="2550" b="1">
                <a:solidFill>
                  <a:srgbClr val="252B29"/>
                </a:solidFill>
                <a:latin typeface="Arial"/>
                <a:ea typeface="Arial"/>
                <a:cs typeface="Arial"/>
              </a:defRPr>
            </a:defPPr>
          </a:lstStyle>
          <a:p>
            <a:pPr>
              <a:defRPr sz="2550" b="1">
                <a:solidFill>
                  <a:srgbClr val="252B29"/>
                </a:solidFill>
                <a:latin typeface="Arial"/>
                <a:ea typeface="Arial"/>
                <a:cs typeface="Arial"/>
              </a:defRPr>
            </a:pPr>
            <a:r>
              <a:rPr sz="2550" b="1" dirty="0">
                <a:solidFill>
                  <a:srgbClr val="252B29"/>
                </a:solidFill>
                <a:latin typeface="Arial"/>
                <a:ea typeface="Arial"/>
                <a:cs typeface="Arial"/>
              </a:rPr>
              <a:t>Accumulated price pressure reduces the unexplained gap</a:t>
            </a:r>
          </a:p>
        </p:txBody>
      </p:sp>
      <p:sp>
        <p:nvSpPr>
          <p:cNvPr id="8" name="3">
            <a:extLst>
              <a:ext uri="{FF2B5EF4-FFF2-40B4-BE49-F238E27FC236}">
                <a16:creationId xmlns:a16="http://schemas.microsoft.com/office/drawing/2014/main" id="{1CFDA4D1-2BA9-478D-9B7D-96E0D5CF1085}"/>
              </a:ext>
            </a:extLst>
          </p:cNvPr>
          <p:cNvSpPr>
            <a:spLocks noGrp="1"/>
          </p:cNvSpPr>
          <p:nvPr/>
        </p:nvSpPr>
        <p:spPr>
          <a:xfrm>
            <a:off x="619125" y="4638675"/>
            <a:ext cx="457200" cy="457200"/>
          </a:xfrm>
          <a:prstGeom prst="rect">
            <a:avLst/>
          </a:prstGeom>
          <a:noFill/>
          <a:ln w="0">
            <a:noFill/>
          </a:ln>
        </p:spPr>
        <p:txBody>
          <a:bodyPr/>
          <a:lstStyle>
            <a:defPPr>
              <a:defRPr sz="2550" b="1">
                <a:solidFill>
                  <a:srgbClr val="254C45"/>
                </a:solidFill>
                <a:latin typeface="Arial"/>
                <a:ea typeface="Arial"/>
                <a:cs typeface="Arial"/>
              </a:defRPr>
            </a:defPPr>
          </a:lstStyle>
          <a:p>
            <a:pPr>
              <a:defRPr sz="2550" b="1">
                <a:solidFill>
                  <a:srgbClr val="254C45"/>
                </a:solidFill>
                <a:latin typeface="Arial"/>
                <a:ea typeface="Arial"/>
                <a:cs typeface="Arial"/>
              </a:defRPr>
            </a:pPr>
            <a:r>
              <a:rPr sz="2550" b="1">
                <a:solidFill>
                  <a:srgbClr val="254C45"/>
                </a:solidFill>
                <a:latin typeface="Arial"/>
                <a:ea typeface="Arial"/>
                <a:cs typeface="Arial"/>
              </a:rPr>
              <a:t>3</a:t>
            </a:r>
          </a:p>
        </p:txBody>
      </p:sp>
      <p:sp>
        <p:nvSpPr>
          <p:cNvPr id="9" name="Media forecasting gains depend on controls and coverage">
            <a:extLst>
              <a:ext uri="{FF2B5EF4-FFF2-40B4-BE49-F238E27FC236}">
                <a16:creationId xmlns:a16="http://schemas.microsoft.com/office/drawing/2014/main" id="{7F540D83-9178-4895-B721-49FF1043F61B}"/>
              </a:ext>
            </a:extLst>
          </p:cNvPr>
          <p:cNvSpPr>
            <a:spLocks noGrp="1"/>
          </p:cNvSpPr>
          <p:nvPr/>
        </p:nvSpPr>
        <p:spPr>
          <a:xfrm>
            <a:off x="1247775" y="4638675"/>
            <a:ext cx="10096500" cy="685800"/>
          </a:xfrm>
          <a:prstGeom prst="rect">
            <a:avLst/>
          </a:prstGeom>
          <a:noFill/>
          <a:ln w="0">
            <a:noFill/>
          </a:ln>
        </p:spPr>
        <p:txBody>
          <a:bodyPr/>
          <a:lstStyle>
            <a:defPPr>
              <a:defRPr sz="2550" b="1">
                <a:solidFill>
                  <a:srgbClr val="252B29"/>
                </a:solidFill>
                <a:latin typeface="Arial"/>
                <a:ea typeface="Arial"/>
                <a:cs typeface="Arial"/>
              </a:defRPr>
            </a:defPPr>
          </a:lstStyle>
          <a:p>
            <a:pPr>
              <a:buNone/>
              <a:defRPr sz="2550" b="1">
                <a:solidFill>
                  <a:srgbClr val="252B29"/>
                </a:solidFill>
                <a:latin typeface="Arial"/>
                <a:ea typeface="Arial"/>
                <a:cs typeface="Arial"/>
              </a:defRPr>
            </a:pPr>
            <a:r>
              <a:rPr sz="2550" b="1">
                <a:solidFill>
                  <a:srgbClr val="252B29"/>
                </a:solidFill>
                <a:latin typeface="Arial"/>
                <a:ea typeface="Arial"/>
                <a:cs typeface="Arial"/>
              </a:rPr>
              <a:t>Media gains remain uncertain after additional checks</a:t>
            </a:r>
          </a:p>
        </p:txBody>
      </p:sp>
      <p:sp>
        <p:nvSpPr>
          <p:cNvPr id="10" name="Forecasting implication: purchasing power and recent sentiment deserve">
            <a:extLst>
              <a:ext uri="{FF2B5EF4-FFF2-40B4-BE49-F238E27FC236}">
                <a16:creationId xmlns:a16="http://schemas.microsoft.com/office/drawing/2014/main" id="{292D667D-6D3C-4A0E-B972-4CA7E49E1C5C}"/>
              </a:ext>
            </a:extLst>
          </p:cNvPr>
          <p:cNvSpPr>
            <a:spLocks noGrp="1"/>
          </p:cNvSpPr>
          <p:nvPr/>
        </p:nvSpPr>
        <p:spPr>
          <a:xfrm>
            <a:off x="571500" y="6124575"/>
            <a:ext cx="10858500" cy="457200"/>
          </a:xfrm>
          <a:prstGeom prst="rect">
            <a:avLst/>
          </a:prstGeom>
          <a:noFill/>
          <a:ln w="0">
            <a:noFill/>
          </a:ln>
        </p:spPr>
        <p:txBody>
          <a:bodyPr/>
          <a:lstStyle>
            <a:defPPr>
              <a:defRPr sz="1350" b="0">
                <a:solidFill>
                  <a:srgbClr val="68766E"/>
                </a:solidFill>
                <a:latin typeface="Arial"/>
                <a:ea typeface="Arial"/>
                <a:cs typeface="Arial"/>
              </a:defRPr>
            </a:defPPr>
          </a:lstStyle>
          <a:p>
            <a:pPr>
              <a:buNone/>
              <a:defRPr sz="1350" b="0">
                <a:solidFill>
                  <a:srgbClr val="68766E"/>
                </a:solidFill>
                <a:latin typeface="Arial"/>
                <a:ea typeface="Arial"/>
                <a:cs typeface="Arial"/>
              </a:defRPr>
            </a:pPr>
            <a:r>
              <a:rPr sz="1350" b="0">
                <a:solidFill>
                  <a:srgbClr val="68766E"/>
                </a:solidFill>
                <a:latin typeface="Arial"/>
                <a:ea typeface="Arial"/>
                <a:cs typeface="Arial"/>
              </a:rPr>
              <a:t>Check the benchmark before interpreting a sentiment gap as risk information.</a:t>
            </a:r>
          </a:p>
          <a:p>
            <a:pPr>
              <a:buNone/>
              <a:defRPr sz="1350" b="0">
                <a:solidFill>
                  <a:srgbClr val="68766E"/>
                </a:solidFill>
                <a:latin typeface="Arial"/>
                <a:ea typeface="Arial"/>
                <a:cs typeface="Arial"/>
              </a:defRPr>
            </a:pPr>
            <a:r>
              <a:rPr sz="1350" b="0">
                <a:solidFill>
                  <a:srgbClr val="68766E"/>
                </a:solidFill>
                <a:latin typeface="Arial"/>
                <a:ea typeface="Arial"/>
                <a:cs typeface="Arial"/>
              </a:rPr>
              <a:t>August gap: −14.4 versus economy-only; −3.5 versus prior sentiment.</a:t>
            </a:r>
          </a:p>
        </p:txBody>
      </p:sp>
    </p:spTree>
    <p:extLst>
      <p:ext uri="{BB962C8B-B14F-4D97-AF65-F5344CB8AC3E}">
        <p14:creationId xmlns:p14="http://schemas.microsoft.com/office/powerpoint/2010/main" val="179342826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TotalTime>
  <Words>1948</Words>
  <Application>Microsoft Office PowerPoint</Application>
  <DocSecurity>0</DocSecurity>
  <PresentationFormat>Widescreen</PresentationFormat>
  <Paragraphs>189</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Victor Chen</cp:lastModifiedBy>
  <cp:revision>6</cp:revision>
  <dcterms:created xsi:type="dcterms:W3CDTF">2026-10-17T04:06:11Z</dcterms:created>
  <dcterms:modified xsi:type="dcterms:W3CDTF">2026-10-17T05:37:19Z</dcterms:modified>
</cp:coreProperties>
</file>